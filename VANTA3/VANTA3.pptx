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0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4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6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7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8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33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34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35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36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37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38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39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40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41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42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43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9a77da9-77d6-84c5-2ad0-d3530741c564}">
          <p14:sldIdLst>
            <p14:sldId id="256"/>
            <p14:sldId id="257"/>
            <p14:sldId id="258"/>
            <p14:sldId id="259"/>
          </p14:sldIdLst>
        </p14:section>
        <p14:section name="01 Performance" id="{d44cca6d-1300-993b-838a-5f5e3168dbf4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02 Market" id="{c09f2f37-286d-05cb-12e2-1bfd328f9f71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3 Customers &amp; Sales" id="{f6a5b8b5-3072-3e3e-574c-f5d28bd0bb25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04 Operations" id="{db492231-d867-0332-36b8-97ce826db351}">
          <p14:sldIdLst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05 Growth" id="{f3611624-2db0-5097-2dea-4545ebe17964}">
          <p14:sldIdLst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06 Outlook" id="{053f0ca6-168f-8447-4460-331ae71f5d36}">
          <p14:sldIdLst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07 Plan" id="{733b915a-73c7-82d1-5088-44d6ee2e97a6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Close" id="{a2b4c5af-8a17-3fed-e5fc-9e89eb713a80}">
          <p14:sldIdLst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A797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3D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412</c:v>
                </c:pt>
                <c:pt idx="1">
                  <c:v>486</c:v>
                </c:pt>
                <c:pt idx="2">
                  <c:v>571</c:v>
                </c:pt>
                <c:pt idx="3">
                  <c:v>664</c:v>
                </c:pt>
                <c:pt idx="4">
                  <c:v>772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4A45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151</c:v>
                </c:pt>
                <c:pt idx="1">
                  <c:v>160</c:v>
                </c:pt>
                <c:pt idx="2">
                  <c:v>169</c:v>
                </c:pt>
                <c:pt idx="3">
                  <c:v>184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176</c:v>
                </c:pt>
                <c:pt idx="1">
                  <c:v>186</c:v>
                </c:pt>
                <c:pt idx="2">
                  <c:v>197</c:v>
                </c:pt>
                <c:pt idx="3">
                  <c:v>213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4A457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1E4A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3DF5">
                <a:alpha val="8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Q1 FY22</c:v>
                  </c:pt>
                  <c:pt idx="1">
                    <c:v>Q2 FY22</c:v>
                  </c:pt>
                  <c:pt idx="2">
                    <c:v>Q3 FY22</c:v>
                  </c:pt>
                  <c:pt idx="3">
                    <c:v>Q4 FY22</c:v>
                  </c:pt>
                  <c:pt idx="4">
                    <c:v>Q1 FY23</c:v>
                  </c:pt>
                  <c:pt idx="5">
                    <c:v>Q2 FY23</c:v>
                  </c:pt>
                  <c:pt idx="6">
                    <c:v>Q3 FY23</c:v>
                  </c:pt>
                  <c:pt idx="7">
                    <c:v>Q4 FY23</c:v>
                  </c:pt>
                  <c:pt idx="8">
                    <c:v>Q1 FY24</c:v>
                  </c:pt>
                  <c:pt idx="9">
                    <c:v>Q2 FY24</c:v>
                  </c:pt>
                  <c:pt idx="10">
                    <c:v>Q3 FY24</c:v>
                  </c:pt>
                  <c:pt idx="11">
                    <c:v>Q4 FY24</c:v>
                  </c:pt>
                  <c:pt idx="12">
                    <c:v>Q1 FY25</c:v>
                  </c:pt>
                  <c:pt idx="13">
                    <c:v>Q2 FY25</c:v>
                  </c:pt>
                  <c:pt idx="14">
                    <c:v>Q3 FY25</c:v>
                  </c:pt>
                  <c:pt idx="15">
                    <c:v>Q4 FY25</c:v>
                  </c:pt>
                  <c:pt idx="16">
                    <c:v>Q1 FY26</c:v>
                  </c:pt>
                  <c:pt idx="17">
                    <c:v>Q2 FY26</c:v>
                  </c:pt>
                  <c:pt idx="18">
                    <c:v>Q3 FY26</c:v>
                  </c:pt>
                  <c:pt idx="19">
                    <c:v>Q4 FY26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94</c:v>
                </c:pt>
                <c:pt idx="1">
                  <c:v>100</c:v>
                </c:pt>
                <c:pt idx="2">
                  <c:v>105</c:v>
                </c:pt>
                <c:pt idx="3">
                  <c:v>113</c:v>
                </c:pt>
                <c:pt idx="4">
                  <c:v>111</c:v>
                </c:pt>
                <c:pt idx="5">
                  <c:v>117</c:v>
                </c:pt>
                <c:pt idx="6">
                  <c:v>123</c:v>
                </c:pt>
                <c:pt idx="7">
                  <c:v>135</c:v>
                </c:pt>
                <c:pt idx="8">
                  <c:v>130</c:v>
                </c:pt>
                <c:pt idx="9">
                  <c:v>138</c:v>
                </c:pt>
                <c:pt idx="10">
                  <c:v>146</c:v>
                </c:pt>
                <c:pt idx="11">
                  <c:v>157</c:v>
                </c:pt>
                <c:pt idx="12">
                  <c:v>151</c:v>
                </c:pt>
                <c:pt idx="13">
                  <c:v>160</c:v>
                </c:pt>
                <c:pt idx="14">
                  <c:v>169</c:v>
                </c:pt>
                <c:pt idx="15">
                  <c:v>184</c:v>
                </c:pt>
                <c:pt idx="16">
                  <c:v>176</c:v>
                </c:pt>
                <c:pt idx="17">
                  <c:v>186</c:v>
                </c:pt>
                <c:pt idx="18">
                  <c:v>197</c:v>
                </c:pt>
                <c:pt idx="19">
                  <c:v>213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multiLvlStrRef>
              <c:f>Sheet1!$A$2:$A$8</c:f>
              <c:multiLvlStrCache>
                <c:ptCount val="7"/>
                <c:lvl>
                  <c:pt idx="0">
                    <c:v>FY25 revenue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Pricing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FY26 revenue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664</c:v>
                </c:pt>
                <c:pt idx="2">
                  <c:v>718</c:v>
                </c:pt>
                <c:pt idx="3">
                  <c:v>764</c:v>
                </c:pt>
                <c:pt idx="4">
                  <c:v>770</c:v>
                </c:pt>
                <c:pt idx="5">
                  <c:v>770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FY25 revenue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Pricing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FY26 revenue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664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772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FY25 revenue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Pricing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FY26 revenue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54</c:v>
                </c:pt>
                <c:pt idx="2">
                  <c:v>46</c:v>
                </c:pt>
                <c:pt idx="3">
                  <c:v>21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FY25 revenue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Pricing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FY26 revenue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15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60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Software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</c:v>
                </c:pt>
                <c:pt idx="1">
                  <c:v>193</c:v>
                </c:pt>
                <c:pt idx="2">
                  <c:v>239</c:v>
                </c:pt>
                <c:pt idx="3">
                  <c:v>286</c:v>
                </c:pt>
                <c:pt idx="4">
                  <c:v>348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Managed Services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156</c:v>
                </c:pt>
                <c:pt idx="1">
                  <c:v>172</c:v>
                </c:pt>
                <c:pt idx="2">
                  <c:v>191</c:v>
                </c:pt>
                <c:pt idx="3">
                  <c:v>210</c:v>
                </c:pt>
                <c:pt idx="4">
                  <c:v>231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&amp; Analytics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46</c:v>
                </c:pt>
                <c:pt idx="1">
                  <c:v>58</c:v>
                </c:pt>
                <c:pt idx="2">
                  <c:v>76</c:v>
                </c:pt>
                <c:pt idx="3">
                  <c:v>98</c:v>
                </c:pt>
                <c:pt idx="4">
                  <c:v>124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Advisory</c:v>
                </c:pt>
              </c:strCache>
            </c:strRef>
          </c:tx>
          <c:spPr>
            <a:solidFill>
              <a:srgbClr val="FFB2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58</c:v>
                </c:pt>
                <c:pt idx="1">
                  <c:v>63</c:v>
                </c:pt>
                <c:pt idx="2">
                  <c:v>65</c:v>
                </c:pt>
                <c:pt idx="3">
                  <c:v>70</c:v>
                </c:pt>
                <c:pt idx="4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FY26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3DF5"/>
              </a:solidFill>
              <a:effectLst/>
            </c:spPr>
          </c:dPt>
          <c:dPt>
            <c:idx val="1"/>
            <c:bubble3D val="0"/>
            <c:spPr>
              <a:solidFill>
                <a:srgbClr val="0FB5A5"/>
              </a:solidFill>
              <a:effectLst/>
            </c:spPr>
          </c:dPt>
          <c:dPt>
            <c:idx val="2"/>
            <c:bubble3D val="0"/>
            <c:spPr>
              <a:solidFill>
                <a:srgbClr val="FF5A4E"/>
              </a:solidFill>
              <a:effectLst/>
            </c:spPr>
          </c:dPt>
          <c:dPt>
            <c:idx val="3"/>
            <c:bubble3D val="0"/>
            <c:spPr>
              <a:solidFill>
                <a:srgbClr val="FFB22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Platform Software</c:v>
                </c:pt>
                <c:pt idx="1">
                  <c:v>Managed Services</c:v>
                </c:pt>
                <c:pt idx="2">
                  <c:v>Data &amp; Analytics</c:v>
                </c:pt>
                <c:pt idx="3">
                  <c:v>Advisory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348</c:v>
                </c:pt>
                <c:pt idx="1">
                  <c:v>231</c:v>
                </c:pt>
                <c:pt idx="2">
                  <c:v>124</c:v>
                </c:pt>
                <c:pt idx="3">
                  <c:v>69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$M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73.3</c:v>
                </c:pt>
                <c:pt idx="1">
                  <c:v>92.8</c:v>
                </c:pt>
                <c:pt idx="2">
                  <c:v>117.6</c:v>
                </c:pt>
                <c:pt idx="3">
                  <c:v>145.4</c:v>
                </c:pt>
                <c:pt idx="4">
                  <c:v>180.6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margin %</c:v>
                </c:pt>
              </c:strCache>
            </c:strRef>
          </c:tx>
          <c:spPr>
            <a:solidFill>
              <a:srgbClr val="FF5A4E"/>
            </a:solidFill>
            <a:ln w="38100" cap="flat">
              <a:solidFill>
                <a:srgbClr val="FF5A4E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F5A4E"/>
              </a:solidFill>
              <a:ln w="9525" cap="flat">
                <a:solidFill>
                  <a:srgbClr val="FF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17.8</c:v>
                </c:pt>
                <c:pt idx="1">
                  <c:v>19.1</c:v>
                </c:pt>
                <c:pt idx="2">
                  <c:v>20.6</c:v>
                </c:pt>
                <c:pt idx="3">
                  <c:v>21.9</c:v>
                </c:pt>
                <c:pt idx="4">
                  <c:v>23.4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0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A797F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Gross</c:v>
                  </c:pt>
                  <c:pt idx="1">
                    <c:v>EBITDA</c:v>
                  </c:pt>
                  <c:pt idx="2">
                    <c:v>EBIT</c:v>
                  </c:pt>
                  <c:pt idx="3">
                    <c:v>Net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59.8</c:v>
                </c:pt>
                <c:pt idx="1">
                  <c:v>21.9</c:v>
                </c:pt>
                <c:pt idx="2">
                  <c:v>17.6</c:v>
                </c:pt>
                <c:pt idx="3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Gross</c:v>
                  </c:pt>
                  <c:pt idx="1">
                    <c:v>EBITDA</c:v>
                  </c:pt>
                  <c:pt idx="2">
                    <c:v>EBIT</c:v>
                  </c:pt>
                  <c:pt idx="3">
                    <c:v>Net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61.2</c:v>
                </c:pt>
                <c:pt idx="1">
                  <c:v>23.4</c:v>
                </c:pt>
                <c:pt idx="2">
                  <c:v>19.3</c:v>
                </c:pt>
                <c:pt idx="3">
                  <c:v>14.4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9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&amp; marketing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18.4</c:v>
                </c:pt>
                <c:pt idx="1">
                  <c:v>17.9</c:v>
                </c:pt>
                <c:pt idx="2">
                  <c:v>17.2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Research &amp; development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13.2</c:v>
                </c:pt>
                <c:pt idx="1">
                  <c:v>13.6</c:v>
                </c:pt>
                <c:pt idx="2">
                  <c:v>14.1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General &amp; administrative</c:v>
                </c:pt>
              </c:strCache>
            </c:strRef>
          </c:tx>
          <c:spPr>
            <a:solidFill>
              <a:srgbClr val="FFB2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6.7</c:v>
                </c:pt>
                <c:pt idx="1">
                  <c:v>6.4</c:v>
                </c:pt>
                <c:pt idx="2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cash flow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</c:v>
                </c:pt>
                <c:pt idx="1">
                  <c:v>79</c:v>
                </c:pt>
                <c:pt idx="2">
                  <c:v>102</c:v>
                </c:pt>
                <c:pt idx="3">
                  <c:v>128</c:v>
                </c:pt>
                <c:pt idx="4">
                  <c:v>159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A797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26</c:v>
                </c:pt>
                <c:pt idx="2">
                  <c:v>31</c:v>
                </c:pt>
                <c:pt idx="3">
                  <c:v>35</c:v>
                </c:pt>
                <c:pt idx="4">
                  <c:v>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39</c:v>
                </c:pt>
                <c:pt idx="1">
                  <c:v>53</c:v>
                </c:pt>
                <c:pt idx="2">
                  <c:v>71</c:v>
                </c:pt>
                <c:pt idx="3">
                  <c:v>93</c:v>
                </c:pt>
                <c:pt idx="4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Asia-Pacific</c:v>
                  </c:pt>
                  <c:pt idx="3">
                    <c:v>Latin America</c:v>
                  </c:pt>
                  <c:pt idx="4">
                    <c:v>Middle East &amp; Africa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341</c:v>
                </c:pt>
                <c:pt idx="1">
                  <c:v>228</c:v>
                </c:pt>
                <c:pt idx="2">
                  <c:v>139</c:v>
                </c:pt>
                <c:pt idx="3">
                  <c:v>41</c:v>
                </c:pt>
                <c:pt idx="4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B5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B5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5A4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B5A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B5A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Asia-Pacific</c:v>
                  </c:pt>
                  <c:pt idx="3">
                    <c:v>Latin America</c:v>
                  </c:pt>
                  <c:pt idx="4">
                    <c:v>Middle East &amp; Africa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15</c:v>
                </c:pt>
                <c:pt idx="2">
                  <c:v>24</c:v>
                </c:pt>
                <c:pt idx="3">
                  <c:v>19</c:v>
                </c:pt>
                <c:pt idx="4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revenue</c:v>
                </c:pt>
              </c:strCache>
            </c:strRef>
          </c:tx>
          <c:spPr>
            <a:solidFill>
              <a:srgbClr val="5B3DF5"/>
            </a:solidFill>
            <a:ln w="4445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118</c:v>
                </c:pt>
                <c:pt idx="2">
                  <c:v>139</c:v>
                </c:pt>
                <c:pt idx="3">
                  <c:v>161</c:v>
                </c:pt>
                <c:pt idx="4">
                  <c:v>187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0FB5A5"/>
            </a:solidFill>
            <a:ln w="44450" cap="flat">
              <a:solidFill>
                <a:srgbClr val="0FB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0FB5A5"/>
              </a:solidFill>
              <a:ln w="9525" cap="flat">
                <a:solidFill>
                  <a:srgbClr val="0FB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109</c:v>
                </c:pt>
                <c:pt idx="2">
                  <c:v>119</c:v>
                </c:pt>
                <c:pt idx="3">
                  <c:v>130</c:v>
                </c:pt>
                <c:pt idx="4">
                  <c:v>141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8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5B3DF5"/>
            </a:solidFill>
            <a:ln>
              <a:noFill/>
            </a:ln>
            <a:effectLst/>
          </c:spPr>
          <c:marker>
            <c:symbol val="circle"/>
            <c:size val="16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Us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18-68aa-9fd7-d7c3de190852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Competitor 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a18-68aa-9fd7-d7c3de190852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Competitor B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18-68aa-9fd7-d7c3de190852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Competitor C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a18-68aa-9fd7-d7c3de190852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Competitor D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18-68aa-9fd7-d7c3de190852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Competitor E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a18-68aa-9fd7-d7c3de190852}"/>
                </c:ext>
              </c:extLst>
            </c:dLbl>
          </c:dLbls>
          <c:xVal>
            <c:numRef>
              <c:f>Sheet1!$A$2:$A$7</c:f>
              <c:numCache>
                <c:formatCode>General</c:formatCode>
                <c:ptCount val="6"/>
                <c:pt idx="0">
                  <c:v>5.4</c:v>
                </c:pt>
                <c:pt idx="1">
                  <c:v>9.8</c:v>
                </c:pt>
                <c:pt idx="2">
                  <c:v>7.2</c:v>
                </c:pt>
                <c:pt idx="3">
                  <c:v>4.1</c:v>
                </c:pt>
                <c:pt idx="4">
                  <c:v>3</c:v>
                </c:pt>
                <c:pt idx="5">
                  <c:v>2.2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16.3</c:v>
                </c:pt>
                <c:pt idx="1">
                  <c:v>6.1</c:v>
                </c:pt>
                <c:pt idx="2">
                  <c:v>8.4</c:v>
                </c:pt>
                <c:pt idx="3">
                  <c:v>12.7</c:v>
                </c:pt>
                <c:pt idx="4">
                  <c:v>21.5</c:v>
                </c:pt>
                <c:pt idx="5">
                  <c:v>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2"/>
          <c:min val="0"/>
        </c:scaling>
        <c:delete val="0"/>
        <c:axPos val="b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"/>
      </c:val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SAM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797FA"/>
              </a:solidFill>
              <a:effectLst/>
            </c:spPr>
          </c:dPt>
          <c:dPt>
            <c:idx val="1"/>
            <c:bubble3D val="0"/>
            <c:spPr>
              <a:solidFill>
                <a:srgbClr val="C9C0FC"/>
              </a:solidFill>
              <a:effectLst/>
            </c:spPr>
          </c:dPt>
          <c:dPt>
            <c:idx val="2"/>
            <c:bubble3D val="0"/>
            <c:spPr>
              <a:solidFill>
                <a:srgbClr val="5B3DF5"/>
              </a:solidFill>
              <a:effectLst/>
            </c:spPr>
          </c:dPt>
          <c:dPt>
            <c:idx val="3"/>
            <c:bubble3D val="0"/>
            <c:spPr>
              <a:solidFill>
                <a:srgbClr val="0FB5A5"/>
              </a:solidFill>
              <a:effectLst/>
            </c:spPr>
          </c:dPt>
          <c:dPt>
            <c:idx val="4"/>
            <c:bubble3D val="0"/>
            <c:spPr>
              <a:solidFill>
                <a:srgbClr val="FFB224"/>
              </a:solidFill>
              <a:effectLst/>
            </c:spPr>
          </c:dPt>
          <c:dPt>
            <c:idx val="5"/>
            <c:bubble3D val="0"/>
            <c:spPr>
              <a:solidFill>
                <a:srgbClr val="ECEAF6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Competitor A</c:v>
                </c:pt>
                <c:pt idx="1">
                  <c:v>Competitor B</c:v>
                </c:pt>
                <c:pt idx="2">
                  <c:v>Us</c:v>
                </c:pt>
                <c:pt idx="3">
                  <c:v>Competitor C</c:v>
                </c:pt>
                <c:pt idx="4">
                  <c:v>Competitor D</c:v>
                </c:pt>
                <c:pt idx="5">
                  <c:v>Long tail (40+ vendors)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9.8</c:v>
                </c:pt>
                <c:pt idx="1">
                  <c:v>7.2</c:v>
                </c:pt>
                <c:pt idx="2">
                  <c:v>5.4</c:v>
                </c:pt>
                <c:pt idx="3">
                  <c:v>4.1</c:v>
                </c:pt>
                <c:pt idx="4">
                  <c:v>3</c:v>
                </c:pt>
                <c:pt idx="5">
                  <c:v>70.5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buyers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3D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3D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Automation &amp; efficiency</c:v>
                  </c:pt>
                  <c:pt idx="1">
                    <c:v>Data security &amp; compliance</c:v>
                  </c:pt>
                  <c:pt idx="2">
                    <c:v>Integration with existing stack</c:v>
                  </c:pt>
                  <c:pt idx="3">
                    <c:v>Total cost of ownership</c:v>
                  </c:pt>
                  <c:pt idx="4">
                    <c:v>Real-time analytics</c:v>
                  </c:pt>
                  <c:pt idx="5">
                    <c:v>Vendor support quality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61</c:v>
                </c:pt>
                <c:pt idx="2">
                  <c:v>54</c:v>
                </c:pt>
                <c:pt idx="3">
                  <c:v>47</c:v>
                </c:pt>
                <c:pt idx="4">
                  <c:v>42</c:v>
                </c:pt>
                <c:pt idx="5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Adoption, %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28</c:v>
                </c:pt>
                <c:pt idx="3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contracts, %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21</c:v>
                </c:pt>
                <c:pt idx="2">
                  <c:v>29</c:v>
                </c:pt>
                <c:pt idx="3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Vendors per stack, index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94</c:v>
                </c:pt>
                <c:pt idx="2">
                  <c:v>86</c:v>
                </c:pt>
                <c:pt idx="3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price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Essential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78</c:v>
                </c:pt>
                <c:pt idx="2">
                  <c:v>132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C9C6DE"/>
            </a:solidFill>
            <a:effectLst/>
          </c:spPr>
          <c:invertIfNegative val="0"/>
          <c:dLbls>
            <c:numFmt formatCode="&quot;$&quot;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Essential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</c:v>
                </c:pt>
                <c:pt idx="1">
                  <c:v>74</c:v>
                </c:pt>
                <c:pt idx="2">
                  <c:v>141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multiLvlStrRef>
              <c:f>Sheet1!$A$2:$A$6</c:f>
              <c:multiLvlStrCache>
                <c:ptCount val="5"/>
                <c:lvl>
                  <c:pt idx="0">
                    <c:v>Leads</c:v>
                  </c:pt>
                  <c:pt idx="1">
                    <c:v>Marketing-qualified</c:v>
                  </c:pt>
                  <c:pt idx="2">
                    <c:v>Sales-qualified</c:v>
                  </c:pt>
                  <c:pt idx="3">
                    <c:v>Opportunities</c:v>
                  </c:pt>
                  <c:pt idx="4">
                    <c:v>Won customers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24.9</c:v>
                </c:pt>
                <c:pt idx="2">
                  <c:v>40.7</c:v>
                </c:pt>
                <c:pt idx="3">
                  <c:v>50.7</c:v>
                </c:pt>
                <c:pt idx="4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Leads</c:v>
                  </c:pt>
                  <c:pt idx="1">
                    <c:v>Marketing-qualified</c:v>
                  </c:pt>
                  <c:pt idx="2">
                    <c:v>Sales-qualified</c:v>
                  </c:pt>
                  <c:pt idx="3">
                    <c:v>Opportunities</c:v>
                  </c:pt>
                  <c:pt idx="4">
                    <c:v>Won customers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135.6</c:v>
                </c:pt>
                <c:pt idx="1">
                  <c:v>85.8</c:v>
                </c:pt>
                <c:pt idx="2">
                  <c:v>54.3</c:v>
                </c:pt>
                <c:pt idx="3">
                  <c:v>34.3</c:v>
                </c:pt>
                <c:pt idx="4">
                  <c:v>19.7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8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.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sales</c:v>
                </c:pt>
              </c:strCache>
            </c:strRef>
          </c:tx>
          <c:spPr>
            <a:solidFill>
              <a:srgbClr val="5B3DF5"/>
            </a:solidFill>
            <a:ln w="3810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33.1</c:v>
                </c:pt>
                <c:pt idx="1">
                  <c:v>33.3</c:v>
                </c:pt>
                <c:pt idx="2">
                  <c:v>34.6</c:v>
                </c:pt>
                <c:pt idx="3">
                  <c:v>33.7</c:v>
                </c:pt>
                <c:pt idx="4">
                  <c:v>34.5</c:v>
                </c:pt>
                <c:pt idx="5">
                  <c:v>35.2</c:v>
                </c:pt>
                <c:pt idx="6">
                  <c:v>34.8</c:v>
                </c:pt>
                <c:pt idx="7">
                  <c:v>35</c:v>
                </c:pt>
                <c:pt idx="8">
                  <c:v>36.2</c:v>
                </c:pt>
                <c:pt idx="9">
                  <c:v>35.8</c:v>
                </c:pt>
                <c:pt idx="10">
                  <c:v>36.4</c:v>
                </c:pt>
                <c:pt idx="11">
                  <c:v>38.5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Partners</c:v>
                </c:pt>
              </c:strCache>
            </c:strRef>
          </c:tx>
          <c:spPr>
            <a:solidFill>
              <a:srgbClr val="0FB5A5"/>
            </a:solidFill>
            <a:ln w="38100" cap="flat">
              <a:solidFill>
                <a:srgbClr val="0FB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B5A5"/>
              </a:solidFill>
              <a:ln w="9525" cap="flat">
                <a:solidFill>
                  <a:srgbClr val="0FB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17.1</c:v>
                </c:pt>
                <c:pt idx="1">
                  <c:v>17.4</c:v>
                </c:pt>
                <c:pt idx="2">
                  <c:v>18.3</c:v>
                </c:pt>
                <c:pt idx="3">
                  <c:v>18</c:v>
                </c:pt>
                <c:pt idx="4">
                  <c:v>18.6</c:v>
                </c:pt>
                <c:pt idx="5">
                  <c:v>19.2</c:v>
                </c:pt>
                <c:pt idx="6">
                  <c:v>19.2</c:v>
                </c:pt>
                <c:pt idx="7">
                  <c:v>19.5</c:v>
                </c:pt>
                <c:pt idx="8">
                  <c:v>20.4</c:v>
                </c:pt>
                <c:pt idx="9">
                  <c:v>20.4</c:v>
                </c:pt>
                <c:pt idx="10">
                  <c:v>21</c:v>
                </c:pt>
                <c:pt idx="11">
                  <c:v>22.5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Digital self-serve</c:v>
                </c:pt>
              </c:strCache>
            </c:strRef>
          </c:tx>
          <c:spPr>
            <a:solidFill>
              <a:srgbClr val="FF5A4E"/>
            </a:solidFill>
            <a:ln w="38100" cap="flat">
              <a:solidFill>
                <a:srgbClr val="FF5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5A4E"/>
              </a:solidFill>
              <a:ln w="9525" cap="flat">
                <a:solidFill>
                  <a:srgbClr val="FF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6.8</c:v>
                </c:pt>
                <c:pt idx="1">
                  <c:v>7.3</c:v>
                </c:pt>
                <c:pt idx="2">
                  <c:v>8.1</c:v>
                </c:pt>
                <c:pt idx="3">
                  <c:v>8.3</c:v>
                </c:pt>
                <c:pt idx="4">
                  <c:v>8.9</c:v>
                </c:pt>
                <c:pt idx="5">
                  <c:v>9.6</c:v>
                </c:pt>
                <c:pt idx="6">
                  <c:v>10</c:v>
                </c:pt>
                <c:pt idx="7">
                  <c:v>10.5</c:v>
                </c:pt>
                <c:pt idx="8">
                  <c:v>11.4</c:v>
                </c:pt>
                <c:pt idx="9">
                  <c:v>11.8</c:v>
                </c:pt>
                <c:pt idx="10">
                  <c:v>12.6</c:v>
                </c:pt>
                <c:pt idx="11">
                  <c:v>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deal size $k</c:v>
                </c:pt>
              </c:strCache>
            </c:strRef>
          </c:tx>
          <c:spPr>
            <a:solidFill>
              <a:srgbClr val="A797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118</c:v>
                </c:pt>
                <c:pt idx="1">
                  <c:v>121</c:v>
                </c:pt>
                <c:pt idx="2">
                  <c:v>124</c:v>
                </c:pt>
                <c:pt idx="3">
                  <c:v>128</c:v>
                </c:pt>
                <c:pt idx="4">
                  <c:v>131</c:v>
                </c:pt>
                <c:pt idx="5">
                  <c:v>135</c:v>
                </c:pt>
                <c:pt idx="6">
                  <c:v>139</c:v>
                </c:pt>
                <c:pt idx="7">
                  <c:v>144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Win rate %</c:v>
                </c:pt>
              </c:strCache>
            </c:strRef>
          </c:tx>
          <c:spPr>
            <a:solidFill>
              <a:srgbClr val="5B3DF5"/>
            </a:solidFill>
            <a:ln w="3810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</c:v>
                </c:pt>
                <c:pt idx="1">
                  <c:v>28</c:v>
                </c:pt>
                <c:pt idx="2">
                  <c:v>29</c:v>
                </c:pt>
                <c:pt idx="3">
                  <c:v>30</c:v>
                </c:pt>
                <c:pt idx="4">
                  <c:v>30</c:v>
                </c:pt>
                <c:pt idx="5">
                  <c:v>31</c:v>
                </c:pt>
                <c:pt idx="6">
                  <c:v>33</c:v>
                </c:pt>
                <c:pt idx="7">
                  <c:v>34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40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retention</c:v>
                </c:pt>
              </c:strCache>
            </c:strRef>
          </c:tx>
          <c:spPr>
            <a:solidFill>
              <a:srgbClr val="5B3DF5"/>
            </a:solidFill>
            <a:ln w="4445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</c:v>
                </c:pt>
                <c:pt idx="1">
                  <c:v>113</c:v>
                </c:pt>
                <c:pt idx="2">
                  <c:v>114</c:v>
                </c:pt>
                <c:pt idx="3">
                  <c:v>115</c:v>
                </c:pt>
                <c:pt idx="4">
                  <c:v>116</c:v>
                </c:pt>
                <c:pt idx="5">
                  <c:v>117</c:v>
                </c:pt>
                <c:pt idx="6">
                  <c:v>118</c:v>
                </c:pt>
                <c:pt idx="7">
                  <c:v>119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revenue retention</c:v>
                </c:pt>
              </c:strCache>
            </c:strRef>
          </c:tx>
          <c:spPr>
            <a:solidFill>
              <a:srgbClr val="0FB5A5"/>
            </a:solidFill>
            <a:ln w="44450" cap="flat">
              <a:solidFill>
                <a:srgbClr val="0FB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FB5A5"/>
              </a:solidFill>
              <a:ln w="9525" cap="flat">
                <a:solidFill>
                  <a:srgbClr val="0FB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90</c:v>
                </c:pt>
                <c:pt idx="1">
                  <c:v>91</c:v>
                </c:pt>
                <c:pt idx="2">
                  <c:v>91</c:v>
                </c:pt>
                <c:pt idx="3">
                  <c:v>92</c:v>
                </c:pt>
                <c:pt idx="4">
                  <c:v>92</c:v>
                </c:pt>
                <c:pt idx="5">
                  <c:v>93</c:v>
                </c:pt>
                <c:pt idx="6">
                  <c:v>93</c:v>
                </c:pt>
                <c:pt idx="7">
                  <c:v>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8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score</c:v>
                </c:pt>
              </c:strCache>
            </c:strRef>
          </c:tx>
          <c:spPr>
            <a:solidFill>
              <a:srgbClr val="5B3DF5"/>
            </a:solidFill>
            <a:ln w="3175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Product quality</c:v>
                  </c:pt>
                  <c:pt idx="1">
                    <c:v>Ease of use</c:v>
                  </c:pt>
                  <c:pt idx="2">
                    <c:v>Support</c:v>
                  </c:pt>
                  <c:pt idx="3">
                    <c:v>Value for money</c:v>
                  </c:pt>
                  <c:pt idx="4">
                    <c:v>Onboarding</c:v>
                  </c:pt>
                  <c:pt idx="5">
                    <c:v>Innovation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8.7</c:v>
                </c:pt>
                <c:pt idx="1">
                  <c:v>8.1</c:v>
                </c:pt>
                <c:pt idx="2">
                  <c:v>8.9</c:v>
                </c:pt>
                <c:pt idx="3">
                  <c:v>7.6</c:v>
                </c:pt>
                <c:pt idx="4">
                  <c:v>7.9</c:v>
                </c:pt>
                <c:pt idx="5">
                  <c:v>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benchmark</c:v>
                </c:pt>
              </c:strCache>
            </c:strRef>
          </c:tx>
          <c:spPr>
            <a:solidFill>
              <a:srgbClr val="FFB224"/>
            </a:solidFill>
            <a:ln w="31750" cap="flat">
              <a:solidFill>
                <a:srgbClr val="FFB224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7"/>
            <c:spPr>
              <a:solidFill>
                <a:srgbClr val="FFB224"/>
              </a:solidFill>
              <a:ln w="9525" cap="flat">
                <a:solidFill>
                  <a:srgbClr val="FFB2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Product quality</c:v>
                  </c:pt>
                  <c:pt idx="1">
                    <c:v>Ease of use</c:v>
                  </c:pt>
                  <c:pt idx="2">
                    <c:v>Support</c:v>
                  </c:pt>
                  <c:pt idx="3">
                    <c:v>Value for money</c:v>
                  </c:pt>
                  <c:pt idx="4">
                    <c:v>Onboarding</c:v>
                  </c:pt>
                  <c:pt idx="5">
                    <c:v>Innovation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7.9</c:v>
                </c:pt>
                <c:pt idx="1">
                  <c:v>7.6</c:v>
                </c:pt>
                <c:pt idx="2">
                  <c:v>7.4</c:v>
                </c:pt>
                <c:pt idx="3">
                  <c:v>7.8</c:v>
                </c:pt>
                <c:pt idx="4">
                  <c:v>7.1</c:v>
                </c:pt>
                <c:pt idx="5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8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5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customers</c:v>
                </c:pt>
              </c:strCache>
            </c:strRef>
          </c:tx>
          <c:spPr>
            <a:solidFill>
              <a:srgbClr val="A797F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28</c:v>
                </c:pt>
                <c:pt idx="2">
                  <c:v>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revenue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</c:v>
                </c:pt>
                <c:pt idx="1">
                  <c:v>37</c:v>
                </c:pt>
                <c:pt idx="2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 %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</c:v>
                </c:pt>
                <c:pt idx="1">
                  <c:v>18</c:v>
                </c:pt>
                <c:pt idx="2">
                  <c:v>11</c:v>
                </c:pt>
                <c:pt idx="3">
                  <c:v>8</c:v>
                </c:pt>
                <c:pt idx="4">
                  <c:v>6</c:v>
                </c:pt>
                <c:pt idx="5">
                  <c:v>4</c:v>
                </c:pt>
                <c:pt idx="6">
                  <c:v>3</c:v>
                </c:pt>
                <c:pt idx="7">
                  <c:v>2</c:v>
                </c:pt>
                <c:pt idx="8">
                  <c:v>1.2</c:v>
                </c:pt>
                <c:pt idx="9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solidFill>
              <a:srgbClr val="FF5A4E"/>
            </a:solidFill>
            <a:ln w="38100" cap="flat">
              <a:solidFill>
                <a:srgbClr val="FF5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5A4E"/>
              </a:solidFill>
              <a:ln w="9525" cap="flat">
                <a:solidFill>
                  <a:srgbClr val="FF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46</c:v>
                </c:pt>
                <c:pt idx="1">
                  <c:v>64</c:v>
                </c:pt>
                <c:pt idx="2">
                  <c:v>75</c:v>
                </c:pt>
                <c:pt idx="3">
                  <c:v>83</c:v>
                </c:pt>
                <c:pt idx="4">
                  <c:v>89</c:v>
                </c:pt>
                <c:pt idx="5">
                  <c:v>93</c:v>
                </c:pt>
                <c:pt idx="6">
                  <c:v>96</c:v>
                </c:pt>
                <c:pt idx="7">
                  <c:v>98</c:v>
                </c:pt>
                <c:pt idx="8">
                  <c:v>99.2</c:v>
                </c:pt>
                <c:pt idx="9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valAx>
        <c:axId val="2094734553"/>
        <c:scaling>
          <c:orientation val="minMax"/>
          <c:max val="100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  <c:majorUnit val="20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Attainment %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3D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3D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B5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5A4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3DF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Asia-Pacific</c:v>
                  </c:pt>
                  <c:pt idx="3">
                    <c:v>Latin America</c:v>
                  </c:pt>
                  <c:pt idx="4">
                    <c:v>Middle East &amp; Africa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103</c:v>
                </c:pt>
                <c:pt idx="2">
                  <c:v>117</c:v>
                </c:pt>
                <c:pt idx="3">
                  <c:v>96</c:v>
                </c:pt>
                <c:pt idx="4">
                  <c:v>112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 %</c:v>
                </c:pt>
              </c:strCache>
            </c:strRef>
          </c:tx>
          <c:spPr>
            <a:solidFill>
              <a:srgbClr val="1B1838"/>
            </a:solidFill>
            <a:ln w="19050" cap="flat">
              <a:solidFill>
                <a:srgbClr val="1B1838"/>
              </a:solidFill>
              <a:prstDash val="dash"/>
              <a:round/>
            </a:ln>
            <a:effectLst/>
          </c:spPr>
          <c:invertIfNegative val="0"/>
          <c:dLbls>
            <c:delete val="1"/>
          </c:dLbls>
          <c:marker>
            <c:symbol val="none"/>
          </c:marker>
          <c:cat>
            <c:multiLvlStrRef>
              <c:f>Sheet1!$A$2:$A$6</c:f>
              <c:multiLvlStrCache>
                <c:ptCount val="5"/>
                <c:lvl>
                  <c:pt idx="0">
                    <c:v>North America</c:v>
                  </c:pt>
                  <c:pt idx="1">
                    <c:v>Europe</c:v>
                  </c:pt>
                  <c:pt idx="2">
                    <c:v>Asia-Pacific</c:v>
                  </c:pt>
                  <c:pt idx="3">
                    <c:v>Latin America</c:v>
                  </c:pt>
                  <c:pt idx="4">
                    <c:v>Middle East &amp; Africa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delivery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3DF5"/>
              </a:solidFill>
              <a:effectLst/>
            </c:spPr>
          </c:dPt>
          <c:dPt>
            <c:idx val="1"/>
            <c:bubble3D val="0"/>
            <c:spPr>
              <a:solidFill>
                <a:srgbClr val="ECEA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Achieved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96.5</c:v>
                </c:pt>
                <c:pt idx="1">
                  <c:v>3.5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Capacity utilisation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A4E"/>
              </a:solidFill>
              <a:effectLst/>
            </c:spPr>
          </c:dPt>
          <c:dPt>
            <c:idx val="1"/>
            <c:bubble3D val="0"/>
            <c:spPr>
              <a:solidFill>
                <a:srgbClr val="ECEA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Achieved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First-contact resolution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B5A5"/>
              </a:solidFill>
              <a:effectLst/>
            </c:spPr>
          </c:dPt>
          <c:dPt>
            <c:idx val="1"/>
            <c:bubble3D val="0"/>
            <c:spPr>
              <a:solidFill>
                <a:srgbClr val="ECEA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Achieved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84</c:v>
                </c:pt>
                <c:pt idx="1">
                  <c:v>16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Process automation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224"/>
              </a:solidFill>
              <a:effectLst/>
            </c:spPr>
          </c:dPt>
          <c:dPt>
            <c:idx val="1"/>
            <c:bubble3D val="0"/>
            <c:spPr>
              <a:solidFill>
                <a:srgbClr val="ECEA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Achieved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63</c:v>
                </c:pt>
                <c:pt idx="1">
                  <c:v>37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delivery %</c:v>
                </c:pt>
              </c:strCache>
            </c:strRef>
          </c:tx>
          <c:spPr>
            <a:solidFill>
              <a:srgbClr val="5B3DF5"/>
            </a:solidFill>
            <a:ln w="3810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93.1</c:v>
                </c:pt>
                <c:pt idx="1">
                  <c:v>93.8</c:v>
                </c:pt>
                <c:pt idx="2">
                  <c:v>94.2</c:v>
                </c:pt>
                <c:pt idx="3">
                  <c:v>94</c:v>
                </c:pt>
                <c:pt idx="4">
                  <c:v>94.9</c:v>
                </c:pt>
                <c:pt idx="5">
                  <c:v>95.3</c:v>
                </c:pt>
                <c:pt idx="6">
                  <c:v>95.8</c:v>
                </c:pt>
                <c:pt idx="7">
                  <c:v>95.6</c:v>
                </c:pt>
                <c:pt idx="8">
                  <c:v>96.2</c:v>
                </c:pt>
                <c:pt idx="9">
                  <c:v>96.8</c:v>
                </c:pt>
                <c:pt idx="10">
                  <c:v>97.1</c:v>
                </c:pt>
                <c:pt idx="11">
                  <c:v>97.4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%</c:v>
                </c:pt>
              </c:strCache>
            </c:strRef>
          </c:tx>
          <c:spPr>
            <a:solidFill>
              <a:srgbClr val="FF5A4E"/>
            </a:solidFill>
            <a:ln w="38100" cap="flat">
              <a:solidFill>
                <a:srgbClr val="FF5A4E"/>
              </a:solidFill>
              <a:prstDash val="dash"/>
              <a:round/>
            </a:ln>
            <a:effectLst/>
          </c:spPr>
          <c:invertIfNegative val="0"/>
          <c:dLbls>
            <c:delete val="1"/>
          </c:dLbls>
          <c:marker>
            <c:symbol val="none"/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Quote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Target FY27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2.1</c:v>
                </c:pt>
                <c:pt idx="1">
                  <c:v>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</c:v>
                </c:pt>
              </c:strCache>
            </c:strRef>
          </c:tx>
          <c:spPr>
            <a:solidFill>
              <a:srgbClr val="6E54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Target FY27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6.4</c:v>
                </c:pt>
                <c:pt idx="1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Provision</c:v>
                </c:pt>
              </c:strCache>
            </c:strRef>
          </c:tx>
          <c:spPr>
            <a:solidFill>
              <a:srgbClr val="8169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Target FY27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3.2</c:v>
                </c:pt>
                <c:pt idx="1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Invoice</c:v>
                </c:pt>
              </c:strCache>
            </c:strRef>
          </c:tx>
          <c:spPr>
            <a:solidFill>
              <a:srgbClr val="947F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Target FY27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</c:v>
                </c:pt>
                <c:pt idx="1">
                  <c:v>0.5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Collect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Today</c:v>
                  </c:pt>
                  <c:pt idx="1">
                    <c:v>Target FY27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38</c:v>
                </c:pt>
                <c:pt idx="1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</c:v>
                </c:pt>
                <c:pt idx="1">
                  <c:v>2199</c:v>
                </c:pt>
                <c:pt idx="2">
                  <c:v>2419</c:v>
                </c:pt>
                <c:pt idx="3">
                  <c:v>2645</c:v>
                </c:pt>
                <c:pt idx="4">
                  <c:v>2881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per employee $k</c:v>
                </c:pt>
              </c:strCache>
            </c:strRef>
          </c:tx>
          <c:spPr>
            <a:solidFill>
              <a:srgbClr val="5B3DF5"/>
            </a:solidFill>
            <a:ln w="4445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206</c:v>
                </c:pt>
                <c:pt idx="1">
                  <c:v>221</c:v>
                </c:pt>
                <c:pt idx="2">
                  <c:v>236</c:v>
                </c:pt>
                <c:pt idx="3">
                  <c:v>251</c:v>
                </c:pt>
                <c:pt idx="4">
                  <c:v>268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valAx>
        <c:axId val="2094734553"/>
        <c:scaling>
          <c:orientation val="minMax"/>
          <c:max val="300"/>
          <c:min val="0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  <c:majorUnit val="100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 per 1,000 deployments</c:v>
                </c:pt>
              </c:strCache>
            </c:strRef>
          </c:tx>
          <c:spPr>
            <a:solidFill>
              <a:srgbClr val="0FB5A5">
                <a:alpha val="7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4.8</c:v>
                </c:pt>
                <c:pt idx="1">
                  <c:v>4.4</c:v>
                </c:pt>
                <c:pt idx="2">
                  <c:v>4.1</c:v>
                </c:pt>
                <c:pt idx="3">
                  <c:v>3.6</c:v>
                </c:pt>
                <c:pt idx="4">
                  <c:v>3.3</c:v>
                </c:pt>
                <c:pt idx="5">
                  <c:v>2.9</c:v>
                </c:pt>
                <c:pt idx="6">
                  <c:v>2.6</c:v>
                </c:pt>
                <c:pt idx="7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Opportunities</c:v>
                </c:pt>
              </c:strCache>
            </c:strRef>
          </c:tx>
          <c:spPr>
            <a:solidFill>
              <a:srgbClr val="5B3DF5">
                <a:alpha val="70000"/>
              </a:srgbClr>
            </a:solidFill>
            <a:ln w="25400" cap="flat">
              <a:solidFill>
                <a:srgbClr val="5B3DF5"/>
              </a:solidFill>
              <a:prstDash val="solid"/>
              <a:round/>
            </a:ln>
            <a:effectLst/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B1838"/>
                        </a:solidFill>
                        <a:latin typeface="Calibri"/>
                      </a:rPr>
                      <a:t>AI analytics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B1838"/>
                        </a:solidFill>
                        <a:latin typeface="Calibri"/>
                      </a:rPr>
                      <a:t>Mid-market bundle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B1838"/>
                        </a:solidFill>
                        <a:latin typeface="Calibri"/>
                      </a:rPr>
                      <a:t>APAC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B1838"/>
                        </a:solidFill>
                        <a:latin typeface="Calibri"/>
                      </a:rPr>
                      <a:t>Healthcare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B1838"/>
                        </a:solidFill>
                        <a:latin typeface="Calibri"/>
                      </a:rPr>
                      <a:t>Marketplace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1">
                        <a:solidFill>
                          <a:srgbClr val="1B1838"/>
                        </a:solidFill>
                        <a:latin typeface="Calibri"/>
                      </a:rPr>
                      <a:t>Usage pricing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r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Sheet1!$A$2:$A$7</c:f>
              <c:numCache>
                <c:formatCode>General</c:formatCode>
                <c:ptCount val="6"/>
                <c:pt idx="0">
                  <c:v>8.6</c:v>
                </c:pt>
                <c:pt idx="1">
                  <c:v>7.1</c:v>
                </c:pt>
                <c:pt idx="2">
                  <c:v>8</c:v>
                </c:pt>
                <c:pt idx="3">
                  <c:v>7.4</c:v>
                </c:pt>
                <c:pt idx="4">
                  <c:v>6.2</c:v>
                </c:pt>
                <c:pt idx="5">
                  <c:v>6.8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7.9</c:v>
                </c:pt>
                <c:pt idx="1">
                  <c:v>8.4</c:v>
                </c:pt>
                <c:pt idx="2">
                  <c:v>6.2</c:v>
                </c:pt>
                <c:pt idx="3">
                  <c:v>5.1</c:v>
                </c:pt>
                <c:pt idx="4">
                  <c:v>7.2</c:v>
                </c:pt>
                <c:pt idx="5">
                  <c:v>6.6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75</c:v>
                </c:pt>
                <c:pt idx="2">
                  <c:v>95</c:v>
                </c:pt>
                <c:pt idx="3">
                  <c:v>60</c:v>
                </c:pt>
                <c:pt idx="4">
                  <c:v>40</c:v>
                </c:pt>
                <c:pt idx="5">
                  <c:v>55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  <c:max val="10"/>
          <c:min val="5"/>
        </c:scaling>
        <c:delete val="0"/>
        <c:axPos val="b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1"/>
      </c:valAx>
      <c:valAx>
        <c:axId val="2094734552"/>
        <c:scaling>
          <c:orientation val="minMax"/>
          <c:max val="10"/>
          <c:min val="4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potential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AI-assisted analytics</c:v>
                  </c:pt>
                  <c:pt idx="1">
                    <c:v>APAC expansion</c:v>
                  </c:pt>
                  <c:pt idx="2">
                    <c:v>Mid-market bundle</c:v>
                  </c:pt>
                  <c:pt idx="3">
                    <c:v>Healthcare vertical</c:v>
                  </c:pt>
                  <c:pt idx="4">
                    <c:v>Usage-based pricing</c:v>
                  </c:pt>
                  <c:pt idx="5">
                    <c:v>Partner marketplace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95</c:v>
                </c:pt>
                <c:pt idx="2">
                  <c:v>75</c:v>
                </c:pt>
                <c:pt idx="3">
                  <c:v>60</c:v>
                </c:pt>
                <c:pt idx="4">
                  <c:v>55</c:v>
                </c:pt>
                <c:pt idx="5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FFB2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AI-assisted analytics</c:v>
                  </c:pt>
                  <c:pt idx="1">
                    <c:v>APAC expansion</c:v>
                  </c:pt>
                  <c:pt idx="2">
                    <c:v>Mid-market bundle</c:v>
                  </c:pt>
                  <c:pt idx="3">
                    <c:v>Healthcare vertical</c:v>
                  </c:pt>
                  <c:pt idx="4">
                    <c:v>Usage-based pricing</c:v>
                  </c:pt>
                  <c:pt idx="5">
                    <c:v>Partner marketplace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31</c:v>
                </c:pt>
                <c:pt idx="2">
                  <c:v>14</c:v>
                </c:pt>
                <c:pt idx="3">
                  <c:v>24</c:v>
                </c:pt>
                <c:pt idx="4">
                  <c:v>9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Japan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22</c:v>
                </c:pt>
                <c:pt idx="2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13</c:v>
                </c:pt>
                <c:pt idx="2">
                  <c:v>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Saudi Arabia &amp; UAE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9</c:v>
                </c:pt>
                <c:pt idx="2">
                  <c:v>25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FY27 growth investment $M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3DF5"/>
              </a:solidFill>
              <a:effectLst/>
            </c:spPr>
          </c:dPt>
          <c:dPt>
            <c:idx val="1"/>
            <c:bubble3D val="0"/>
            <c:spPr>
              <a:solidFill>
                <a:srgbClr val="0FB5A5"/>
              </a:solidFill>
              <a:effectLst/>
            </c:spPr>
          </c:dPt>
          <c:dPt>
            <c:idx val="2"/>
            <c:bubble3D val="0"/>
            <c:spPr>
              <a:solidFill>
                <a:srgbClr val="FF5A4E"/>
              </a:solidFill>
              <a:effectLst/>
            </c:spPr>
          </c:dPt>
          <c:dPt>
            <c:idx val="3"/>
            <c:bubble3D val="0"/>
            <c:spPr>
              <a:solidFill>
                <a:srgbClr val="FFB224"/>
              </a:solidFill>
              <a:effectLst/>
            </c:spPr>
          </c:dPt>
          <c:dPt>
            <c:idx val="4"/>
            <c:bubble3D val="0"/>
            <c:spPr>
              <a:solidFill>
                <a:srgbClr val="A797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Product &amp; AI</c:v>
                </c:pt>
                <c:pt idx="1">
                  <c:v>Go-to-market</c:v>
                </c:pt>
                <c:pt idx="2">
                  <c:v>Geographic expansion</c:v>
                </c:pt>
                <c:pt idx="3">
                  <c:v>Operations &amp; automation</c:v>
                </c:pt>
                <c:pt idx="4">
                  <c:v>Talent &amp; capabilities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46</c:v>
                </c:pt>
                <c:pt idx="1">
                  <c:v>34</c:v>
                </c:pt>
                <c:pt idx="2">
                  <c:v>22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elete val="1"/>
          </c:dLbls>
          <c:cat>
            <c:multiLvlStrRef>
              <c:f>Sheet1!$A$2:$A$9</c:f>
              <c:multiLvlStrCache>
                <c:ptCount val="8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FY27F</c:v>
                  </c:pt>
                  <c:pt idx="6">
                    <c:v>FY28F</c:v>
                  </c:pt>
                  <c:pt idx="7">
                    <c:v>FY29F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412</c:v>
                </c:pt>
                <c:pt idx="1">
                  <c:v>486</c:v>
                </c:pt>
                <c:pt idx="2">
                  <c:v>571</c:v>
                </c:pt>
                <c:pt idx="3">
                  <c:v>664</c:v>
                </c:pt>
                <c:pt idx="4">
                  <c:v>772</c:v>
                </c:pt>
                <c:pt idx="5">
                  <c:v>860</c:v>
                </c:pt>
                <c:pt idx="6">
                  <c:v>952</c:v>
                </c:pt>
                <c:pt idx="7">
                  <c:v>1045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Scenario range</c:v>
                </c:pt>
              </c:strCache>
            </c:strRef>
          </c:tx>
          <c:spPr>
            <a:solidFill>
              <a:srgbClr val="ECE8FE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FY27F</c:v>
                  </c:pt>
                  <c:pt idx="6">
                    <c:v>FY28F</c:v>
                  </c:pt>
                  <c:pt idx="7">
                    <c:v>FY29F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58</c:v>
                </c:pt>
                <c:pt idx="6">
                  <c:v>133</c:v>
                </c:pt>
                <c:pt idx="7">
                  <c:v>231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5B3DF5"/>
            </a:solidFill>
            <a:ln w="3810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FY27F</c:v>
                  </c:pt>
                  <c:pt idx="6">
                    <c:v>FY28F</c:v>
                  </c:pt>
                  <c:pt idx="7">
                    <c:v>FY29F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412</c:v>
                </c:pt>
                <c:pt idx="1">
                  <c:v>486</c:v>
                </c:pt>
                <c:pt idx="2">
                  <c:v>571</c:v>
                </c:pt>
                <c:pt idx="3">
                  <c:v>664</c:v>
                </c:pt>
                <c:pt idx="4">
                  <c:v>772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Base-case forecast</c:v>
                </c:pt>
              </c:strCache>
            </c:strRef>
          </c:tx>
          <c:spPr>
            <a:solidFill>
              <a:srgbClr val="FF5A4E"/>
            </a:solidFill>
            <a:ln w="38100" cap="flat">
              <a:solidFill>
                <a:srgbClr val="FF5A4E"/>
              </a:solidFill>
              <a:prstDash val="solid"/>
              <a:round/>
            </a:ln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3DF5"/>
              </a:solidFill>
              <a:ln w="9525" cap="flat">
                <a:solidFill>
                  <a:srgbClr val="FF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  <c:pt idx="5">
                    <c:v>FY27F</c:v>
                  </c:pt>
                  <c:pt idx="6">
                    <c:v>FY28F</c:v>
                  </c:pt>
                  <c:pt idx="7">
                    <c:v>FY29F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4">
                  <c:v>772</c:v>
                </c:pt>
                <c:pt idx="5">
                  <c:v>892</c:v>
                </c:pt>
                <c:pt idx="6">
                  <c:v>1027</c:v>
                </c:pt>
                <c:pt idx="7">
                  <c:v>1176</c:v>
                </c:pt>
              </c:numCache>
            </c:numRef>
          </c:val>
          <c:smooth val="0"/>
        </c:ser>
        <c:dLbls>
          <c:numFmt formatCode="#,##0;-#,##0;;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#,##0;-#,##0;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  <c:majorUnit val="20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delete val="1"/>
      </c:legendEntry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solidFill>
              <a:srgbClr val="A797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860</c:v>
                </c:pt>
                <c:pt idx="1">
                  <c:v>952</c:v>
                </c:pt>
                <c:pt idx="2">
                  <c:v>1045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892</c:v>
                </c:pt>
                <c:pt idx="1">
                  <c:v>1027</c:v>
                </c:pt>
                <c:pt idx="2">
                  <c:v>1176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FY27</c:v>
                  </c:pt>
                  <c:pt idx="1">
                    <c:v>FY28</c:v>
                  </c:pt>
                  <c:pt idx="2">
                    <c:v>FY29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918</c:v>
                </c:pt>
                <c:pt idx="1">
                  <c:v>1085</c:v>
                </c:pt>
                <c:pt idx="2">
                  <c:v>1276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5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rgbClr val="FF5A4E"/>
            </a:solidFill>
            <a:effectLst/>
          </c:spPr>
          <c:invertIfNegative val="0"/>
          <c:dLbls>
            <c:numFmt formatCode="+#,##0;−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Net revenue retention ±5 pts</c:v>
                  </c:pt>
                  <c:pt idx="1">
                    <c:v>New-logo growth ±10%</c:v>
                  </c:pt>
                  <c:pt idx="2">
                    <c:v>Price realisation ±3%</c:v>
                  </c:pt>
                  <c:pt idx="3">
                    <c:v>Gross churn ±1 pt</c:v>
                  </c:pt>
                  <c:pt idx="4">
                    <c:v>FX rates ±5%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-62</c:v>
                </c:pt>
                <c:pt idx="1">
                  <c:v>-41</c:v>
                </c:pt>
                <c:pt idx="2">
                  <c:v>-35</c:v>
                </c:pt>
                <c:pt idx="3">
                  <c:v>-22</c:v>
                </c:pt>
                <c:pt idx="4">
                  <c:v>-18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0FB5A5"/>
            </a:solidFill>
            <a:effectLst/>
          </c:spPr>
          <c:invertIfNegative val="0"/>
          <c:dLbls>
            <c:numFmt formatCode="+#,##0;−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Net revenue retention ±5 pts</c:v>
                  </c:pt>
                  <c:pt idx="1">
                    <c:v>New-logo growth ±10%</c:v>
                  </c:pt>
                  <c:pt idx="2">
                    <c:v>Price realisation ±3%</c:v>
                  </c:pt>
                  <c:pt idx="3">
                    <c:v>Gross churn ±1 pt</c:v>
                  </c:pt>
                  <c:pt idx="4">
                    <c:v>FX rates ±5%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</c:v>
                </c:pt>
                <c:pt idx="1">
                  <c:v>44</c:v>
                </c:pt>
                <c:pt idx="2">
                  <c:v>35</c:v>
                </c:pt>
                <c:pt idx="3">
                  <c:v>20</c:v>
                </c:pt>
                <c:pt idx="4">
                  <c:v>18</c:v>
                </c:pt>
              </c:numCache>
            </c:numRef>
          </c:val>
        </c:ser>
        <c:dLbls>
          <c:numFmt formatCode="+#,##0;−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-80"/>
        </c:scaling>
        <c:delete val="0"/>
        <c:axPos val="b"/>
        <c:majorGridlines>
          <c:spPr>
            <a:ln w="9525" cap="flat">
              <a:solidFill>
                <a:srgbClr val="E7E5F3"/>
              </a:solidFill>
              <a:prstDash val="solid"/>
              <a:round/>
            </a:ln>
          </c:spPr>
        </c:majorGridlines>
        <c:numFmt formatCode="#,##0;−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A45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97F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772</c:v>
                </c:pt>
                <c:pt idx="1">
                  <c:v>892</c:v>
                </c:pt>
                <c:pt idx="2">
                  <c:v>1027</c:v>
                </c:pt>
                <c:pt idx="3">
                  <c:v>1176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A457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1E4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solidFill>
              <a:srgbClr val="4A45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B5A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23.4</c:v>
                </c:pt>
                <c:pt idx="1">
                  <c:v>24.5</c:v>
                </c:pt>
                <c:pt idx="2">
                  <c:v>25.8</c:v>
                </c:pt>
                <c:pt idx="3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A457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1E4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RETENTION</c:v>
                </c:pt>
              </c:strCache>
            </c:strRef>
          </c:tx>
          <c:spPr>
            <a:solidFill>
              <a:srgbClr val="4A45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22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</c:v>
                </c:pt>
                <c:pt idx="1">
                  <c:v>120</c:v>
                </c:pt>
                <c:pt idx="2">
                  <c:v>120</c:v>
                </c:pt>
                <c:pt idx="3">
                  <c:v>121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A457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1E4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4A45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45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5A4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</c:v>
                </c:pt>
                <c:pt idx="1">
                  <c:v>148</c:v>
                </c:pt>
                <c:pt idx="2">
                  <c:v>186</c:v>
                </c:pt>
                <c:pt idx="3">
                  <c:v>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A457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B4E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1E4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$M (QUARTERLY)</c:v>
                </c:pt>
              </c:strCache>
            </c:strRef>
          </c:tx>
          <c:spPr>
            <a:solidFill>
              <a:srgbClr val="5B3DF5"/>
            </a:solidFill>
            <a:ln w="31750" cap="flat">
              <a:solidFill>
                <a:srgbClr val="5B3D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3DF5"/>
              </a:solidFill>
              <a:ln w="9525" cap="flat">
                <a:solidFill>
                  <a:srgbClr val="5B3D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151</c:v>
                </c:pt>
                <c:pt idx="1">
                  <c:v>160</c:v>
                </c:pt>
                <c:pt idx="2">
                  <c:v>169</c:v>
                </c:pt>
                <c:pt idx="3">
                  <c:v>184</c:v>
                </c:pt>
                <c:pt idx="4">
                  <c:v>176</c:v>
                </c:pt>
                <c:pt idx="5">
                  <c:v>186</c:v>
                </c:pt>
                <c:pt idx="6">
                  <c:v>197</c:v>
                </c:pt>
                <c:pt idx="7">
                  <c:v>213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1.52"/>
          <c:min val="138.9200000000000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MARGIN, %</c:v>
                </c:pt>
              </c:strCache>
            </c:strRef>
          </c:tx>
          <c:spPr>
            <a:solidFill>
              <a:srgbClr val="0FB5A5"/>
            </a:solidFill>
            <a:ln w="31750" cap="flat">
              <a:solidFill>
                <a:srgbClr val="0FB5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B5A5"/>
              </a:solidFill>
              <a:ln w="9525" cap="flat">
                <a:solidFill>
                  <a:srgbClr val="0FB5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17.8</c:v>
                </c:pt>
                <c:pt idx="1">
                  <c:v>19.1</c:v>
                </c:pt>
                <c:pt idx="2">
                  <c:v>20.6</c:v>
                </c:pt>
                <c:pt idx="3">
                  <c:v>21.9</c:v>
                </c:pt>
                <c:pt idx="4">
                  <c:v>23.4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.336"/>
          <c:min val="16.37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RETENTION, %</c:v>
                </c:pt>
              </c:strCache>
            </c:strRef>
          </c:tx>
          <c:spPr>
            <a:solidFill>
              <a:srgbClr val="FF5A4E"/>
            </a:solidFill>
            <a:ln w="31750" cap="flat">
              <a:solidFill>
                <a:srgbClr val="FF5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5A4E"/>
              </a:solidFill>
              <a:ln w="9525" cap="flat">
                <a:solidFill>
                  <a:srgbClr val="FF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</c:v>
                </c:pt>
                <c:pt idx="1">
                  <c:v>113</c:v>
                </c:pt>
                <c:pt idx="2">
                  <c:v>114</c:v>
                </c:pt>
                <c:pt idx="3">
                  <c:v>115</c:v>
                </c:pt>
                <c:pt idx="4">
                  <c:v>116</c:v>
                </c:pt>
                <c:pt idx="5">
                  <c:v>117</c:v>
                </c:pt>
                <c:pt idx="6">
                  <c:v>118</c:v>
                </c:pt>
                <c:pt idx="7">
                  <c:v>119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3.76"/>
          <c:min val="103.0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COVERAGE</c:v>
                </c:pt>
              </c:strCache>
            </c:strRef>
          </c:tx>
          <c:spPr>
            <a:solidFill>
              <a:srgbClr val="FFB224"/>
            </a:solidFill>
            <a:ln w="31750" cap="flat">
              <a:solidFill>
                <a:srgbClr val="FFB22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B224"/>
              </a:solidFill>
              <a:ln w="9525" cap="flat">
                <a:solidFill>
                  <a:srgbClr val="FFB22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2.6</c:v>
                </c:pt>
                <c:pt idx="1">
                  <c:v>2.8</c:v>
                </c:pt>
                <c:pt idx="2">
                  <c:v>2.7</c:v>
                </c:pt>
                <c:pt idx="3">
                  <c:v>3</c:v>
                </c:pt>
                <c:pt idx="4">
                  <c:v>3.1</c:v>
                </c:pt>
                <c:pt idx="5">
                  <c:v>3</c:v>
                </c:pt>
                <c:pt idx="6">
                  <c:v>3.2</c:v>
                </c:pt>
                <c:pt idx="7">
                  <c:v>3.4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36"/>
          <c:min val="2.392000000000000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Q4 FY26 $M</c:v>
                </c:pt>
              </c:strCache>
            </c:strRef>
          </c:tx>
          <c:spPr>
            <a:solidFill>
              <a:srgbClr val="5B3D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B18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Platform</c:v>
                  </c:pt>
                  <c:pt idx="1">
                    <c:v>Managed</c:v>
                  </c:pt>
                  <c:pt idx="2">
                    <c:v>Data</c:v>
                  </c:pt>
                  <c:pt idx="3">
                    <c:v>Advisory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</c:v>
                </c:pt>
                <c:pt idx="1">
                  <c:v>63</c:v>
                </c:pt>
                <c:pt idx="2">
                  <c:v>35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B18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3D0E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3DF5"/>
              </a:solidFill>
              <a:effectLst/>
            </c:spPr>
          </c:dPt>
          <c:dPt>
            <c:idx val="1"/>
            <c:bubble3D val="0"/>
            <c:spPr>
              <a:solidFill>
                <a:srgbClr val="0FB5A5"/>
              </a:solidFill>
              <a:effectLst/>
            </c:spPr>
          </c:dPt>
          <c:dPt>
            <c:idx val="2"/>
            <c:bubble3D val="0"/>
            <c:spPr>
              <a:solidFill>
                <a:srgbClr val="FF5A4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1B1838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Direct</c:v>
                </c:pt>
                <c:pt idx="1">
                  <c:v>Partners</c:v>
                </c:pt>
                <c:pt idx="2">
                  <c:v>Digital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54.6</c:v>
                </c:pt>
                <c:pt idx="1">
                  <c:v>30</c:v>
                </c:pt>
                <c:pt idx="2">
                  <c:v>15.4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183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review name, date and audience. The skyline of bars is built from editable shapes.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01: Performance. How revenue, margins and cash developed across FY2026.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02: Market. A large, fragmented market where we are gaining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03: Customers &amp; Sales. A healthier funnel, stronger retention and loyal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04: Operations. Reliable delivery at a lower cost to 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05: Growth. Six opportunities, prioritised by value and our ability to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06: Outlook. A base case of $1.18B by FY2029, with a clear view of the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07: Plan. Turning strategy into owned, sequenced and measured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Light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VANTA3   |   FY2026 Strategy &amp; Performance Review   |   Illustrative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Dark">
    <p:bg>
      <p:bgPr>
        <a:solidFill>
          <a:srgbClr val="141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VANTA3   |   FY2026 Strategy &amp; Performance Review   |   Illustrative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Chapter">
    <p:bg>
      <p:bgPr>
        <a:solidFill>
          <a:srgbClr val="141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summary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VANTA3   |   FY2026 Strategy &amp; Performance Review   |   Illustrative 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Cover">
    <p:bg>
      <p:bgPr>
        <a:solidFill>
          <a:srgbClr val="141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image" Target="../media/image-20-1.png"/><Relationship Id="rId3" Type="http://schemas.openxmlformats.org/officeDocument/2006/relationships/image" Target="../media/image-20-2.png"/><Relationship Id="rId4" Type="http://schemas.openxmlformats.org/officeDocument/2006/relationships/image" Target="../media/image-20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7.xml"/><Relationship Id="rId4" Type="http://schemas.openxmlformats.org/officeDocument/2006/relationships/chart" Target="/ppt/charts/chart18.xml"/><Relationship Id="rId6" Type="http://schemas.openxmlformats.org/officeDocument/2006/relationships/chart" Target="/ppt/charts/chart19.xml"/><Relationship Id="rId1" Type="http://schemas.openxmlformats.org/officeDocument/2006/relationships/image" Target="../media/image-21-1.png"/><Relationship Id="rId3" Type="http://schemas.openxmlformats.org/officeDocument/2006/relationships/image" Target="../media/image-21-2.png"/><Relationship Id="rId5" Type="http://schemas.openxmlformats.org/officeDocument/2006/relationships/image" Target="../media/image-21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chart" Target="/ppt/charts/chart30.xml"/><Relationship Id="rId3" Type="http://schemas.openxmlformats.org/officeDocument/2006/relationships/chart" Target="/ppt/charts/chart31.xml"/><Relationship Id="rId4" Type="http://schemas.openxmlformats.org/officeDocument/2006/relationships/chart" Target="/ppt/charts/chart3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image" Target="../media/image-34-1.png"/><Relationship Id="rId3" Type="http://schemas.openxmlformats.org/officeDocument/2006/relationships/image" Target="../media/image-34-2.png"/><Relationship Id="rId4" Type="http://schemas.openxmlformats.org/officeDocument/2006/relationships/image" Target="../media/image-34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4.xml"/><Relationship Id="rId4" Type="http://schemas.openxmlformats.org/officeDocument/2006/relationships/chart" Target="/ppt/charts/chart45.xml"/><Relationship Id="rId6" Type="http://schemas.openxmlformats.org/officeDocument/2006/relationships/chart" Target="/ppt/charts/chart46.xml"/><Relationship Id="rId8" Type="http://schemas.openxmlformats.org/officeDocument/2006/relationships/chart" Target="/ppt/charts/chart47.xml"/><Relationship Id="rId1" Type="http://schemas.openxmlformats.org/officeDocument/2006/relationships/image" Target="../media/image-50-1.png"/><Relationship Id="rId3" Type="http://schemas.openxmlformats.org/officeDocument/2006/relationships/image" Target="../media/image-50-2.png"/><Relationship Id="rId5" Type="http://schemas.openxmlformats.org/officeDocument/2006/relationships/image" Target="../media/image-50-3.png"/><Relationship Id="rId7" Type="http://schemas.openxmlformats.org/officeDocument/2006/relationships/image" Target="../media/image-50-4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chart" Target="/ppt/charts/chart49.xml"/><Relationship Id="rId3" Type="http://schemas.openxmlformats.org/officeDocument/2006/relationships/chart" Target="/ppt/charts/chart50.xml"/><Relationship Id="rId4" Type="http://schemas.openxmlformats.org/officeDocument/2006/relationships/chart" Target="/ppt/charts/chart51.xml"/><Relationship Id="rId5" Type="http://schemas.openxmlformats.org/officeDocument/2006/relationships/chart" Target="/ppt/charts/chart52.xml"/><Relationship Id="rId6" Type="http://schemas.openxmlformats.org/officeDocument/2006/relationships/chart" Target="/ppt/charts/chart53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image" Target="../media/image-59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_1"/>
          <p:cNvSpPr/>
          <p:nvPr/>
        </p:nvSpPr>
        <p:spPr>
          <a:xfrm>
            <a:off x="6309360" y="-1463040"/>
            <a:ext cx="8595360" cy="8595360"/>
          </a:xfrm>
          <a:prstGeom prst="ellipse">
            <a:avLst/>
          </a:prstGeom>
          <a:ln w="15875">
            <a:solidFill>
              <a:srgbClr val="5B3DF5">
                <a:alpha val="70000"/>
              </a:srgbClr>
            </a:solidFill>
            <a:prstDash val="solid"/>
          </a:ln>
        </p:spPr>
      </p:sp>
      <p:sp>
        <p:nvSpPr>
          <p:cNvPr id="3" name="ring_2"/>
          <p:cNvSpPr/>
          <p:nvPr/>
        </p:nvSpPr>
        <p:spPr>
          <a:xfrm>
            <a:off x="7223760" y="-548640"/>
            <a:ext cx="6766560" cy="6766560"/>
          </a:xfrm>
          <a:prstGeom prst="ellipse">
            <a:avLst/>
          </a:prstGeom>
          <a:ln w="15875">
            <a:solidFill>
              <a:srgbClr val="5B3DF5">
                <a:alpha val="50000"/>
              </a:srgbClr>
            </a:solidFill>
            <a:prstDash val="solid"/>
          </a:ln>
        </p:spPr>
      </p:sp>
      <p:sp>
        <p:nvSpPr>
          <p:cNvPr id="4" name="ring_3"/>
          <p:cNvSpPr/>
          <p:nvPr/>
        </p:nvSpPr>
        <p:spPr>
          <a:xfrm>
            <a:off x="8138160" y="365760"/>
            <a:ext cx="4937760" cy="4937760"/>
          </a:xfrm>
          <a:prstGeom prst="ellipse">
            <a:avLst/>
          </a:prstGeom>
          <a:ln w="15875">
            <a:solidFill>
              <a:srgbClr val="5B3DF5">
                <a:alpha val="35000"/>
              </a:srgbClr>
            </a:solidFill>
            <a:prstDash val="solid"/>
          </a:ln>
        </p:spPr>
      </p:sp>
      <p:sp>
        <p:nvSpPr>
          <p:cNvPr id="5" name="rect_4"/>
          <p:cNvSpPr/>
          <p:nvPr/>
        </p:nvSpPr>
        <p:spPr>
          <a:xfrm>
            <a:off x="6720840" y="5074920"/>
            <a:ext cx="329184" cy="914400"/>
          </a:xfrm>
          <a:prstGeom prst="roundRect">
            <a:avLst>
              <a:gd name="adj" fmla="val 16667"/>
            </a:avLst>
          </a:prstGeom>
          <a:solidFill>
            <a:srgbClr val="221E4A"/>
          </a:solidFill>
          <a:ln/>
        </p:spPr>
      </p:sp>
      <p:sp>
        <p:nvSpPr>
          <p:cNvPr id="6" name="rect_5"/>
          <p:cNvSpPr/>
          <p:nvPr/>
        </p:nvSpPr>
        <p:spPr>
          <a:xfrm>
            <a:off x="7196328" y="4754880"/>
            <a:ext cx="329184" cy="1234440"/>
          </a:xfrm>
          <a:prstGeom prst="roundRect">
            <a:avLst>
              <a:gd name="adj" fmla="val 16667"/>
            </a:avLst>
          </a:prstGeom>
          <a:solidFill>
            <a:srgbClr val="221E4A"/>
          </a:solidFill>
          <a:ln/>
        </p:spPr>
      </p:sp>
      <p:sp>
        <p:nvSpPr>
          <p:cNvPr id="7" name="rect_6"/>
          <p:cNvSpPr/>
          <p:nvPr/>
        </p:nvSpPr>
        <p:spPr>
          <a:xfrm>
            <a:off x="7671816" y="4892040"/>
            <a:ext cx="329184" cy="1097280"/>
          </a:xfrm>
          <a:prstGeom prst="roundRect">
            <a:avLst>
              <a:gd name="adj" fmla="val 16667"/>
            </a:avLst>
          </a:prstGeom>
          <a:solidFill>
            <a:srgbClr val="2E2862"/>
          </a:solidFill>
          <a:ln/>
        </p:spPr>
      </p:sp>
      <p:sp>
        <p:nvSpPr>
          <p:cNvPr id="8" name="rect_7"/>
          <p:cNvSpPr/>
          <p:nvPr/>
        </p:nvSpPr>
        <p:spPr>
          <a:xfrm>
            <a:off x="8147304" y="4434840"/>
            <a:ext cx="329184" cy="1554480"/>
          </a:xfrm>
          <a:prstGeom prst="roundRect">
            <a:avLst>
              <a:gd name="adj" fmla="val 16667"/>
            </a:avLst>
          </a:prstGeom>
          <a:solidFill>
            <a:srgbClr val="2E2862"/>
          </a:solidFill>
          <a:ln/>
        </p:spPr>
      </p:sp>
      <p:sp>
        <p:nvSpPr>
          <p:cNvPr id="9" name="rect_8"/>
          <p:cNvSpPr/>
          <p:nvPr/>
        </p:nvSpPr>
        <p:spPr>
          <a:xfrm>
            <a:off x="8622792" y="4572000"/>
            <a:ext cx="329184" cy="1417320"/>
          </a:xfrm>
          <a:prstGeom prst="roundRect">
            <a:avLst>
              <a:gd name="adj" fmla="val 16667"/>
            </a:avLst>
          </a:prstGeom>
          <a:solidFill>
            <a:srgbClr val="3B3380"/>
          </a:solidFill>
          <a:ln/>
        </p:spPr>
      </p:sp>
      <p:sp>
        <p:nvSpPr>
          <p:cNvPr id="10" name="rect_9"/>
          <p:cNvSpPr/>
          <p:nvPr/>
        </p:nvSpPr>
        <p:spPr>
          <a:xfrm>
            <a:off x="9098280" y="4069080"/>
            <a:ext cx="329184" cy="1920240"/>
          </a:xfrm>
          <a:prstGeom prst="roundRect">
            <a:avLst>
              <a:gd name="adj" fmla="val 16667"/>
            </a:avLst>
          </a:prstGeom>
          <a:solidFill>
            <a:srgbClr val="3B3380"/>
          </a:solidFill>
          <a:ln/>
        </p:spPr>
      </p:sp>
      <p:sp>
        <p:nvSpPr>
          <p:cNvPr id="11" name="rect_10"/>
          <p:cNvSpPr/>
          <p:nvPr/>
        </p:nvSpPr>
        <p:spPr>
          <a:xfrm>
            <a:off x="9573768" y="4160520"/>
            <a:ext cx="329184" cy="1828800"/>
          </a:xfrm>
          <a:prstGeom prst="roundRect">
            <a:avLst>
              <a:gd name="adj" fmla="val 16667"/>
            </a:avLst>
          </a:prstGeom>
          <a:solidFill>
            <a:srgbClr val="5B3DF5"/>
          </a:solidFill>
          <a:ln/>
        </p:spPr>
      </p:sp>
      <p:sp>
        <p:nvSpPr>
          <p:cNvPr id="12" name="rect_11"/>
          <p:cNvSpPr/>
          <p:nvPr/>
        </p:nvSpPr>
        <p:spPr>
          <a:xfrm>
            <a:off x="10049256" y="3611880"/>
            <a:ext cx="329184" cy="2377440"/>
          </a:xfrm>
          <a:prstGeom prst="roundRect">
            <a:avLst>
              <a:gd name="adj" fmla="val 16667"/>
            </a:avLst>
          </a:prstGeom>
          <a:solidFill>
            <a:srgbClr val="5B3DF5"/>
          </a:solidFill>
          <a:ln/>
        </p:spPr>
      </p:sp>
      <p:sp>
        <p:nvSpPr>
          <p:cNvPr id="13" name="rect_12"/>
          <p:cNvSpPr/>
          <p:nvPr/>
        </p:nvSpPr>
        <p:spPr>
          <a:xfrm>
            <a:off x="10524744" y="3749040"/>
            <a:ext cx="329184" cy="2240280"/>
          </a:xfrm>
          <a:prstGeom prst="roundRect">
            <a:avLst>
              <a:gd name="adj" fmla="val 16667"/>
            </a:avLst>
          </a:prstGeom>
          <a:solidFill>
            <a:srgbClr val="0FB5A5"/>
          </a:solidFill>
          <a:ln/>
        </p:spPr>
      </p:sp>
      <p:sp>
        <p:nvSpPr>
          <p:cNvPr id="14" name="rect_13"/>
          <p:cNvSpPr/>
          <p:nvPr/>
        </p:nvSpPr>
        <p:spPr>
          <a:xfrm>
            <a:off x="11000232" y="3154680"/>
            <a:ext cx="329184" cy="2834640"/>
          </a:xfrm>
          <a:prstGeom prst="roundRect">
            <a:avLst>
              <a:gd name="adj" fmla="val 16667"/>
            </a:avLst>
          </a:prstGeom>
          <a:solidFill>
            <a:srgbClr val="FF5A4E"/>
          </a:solidFill>
          <a:ln/>
        </p:spPr>
      </p:sp>
      <p:sp>
        <p:nvSpPr>
          <p:cNvPr id="15" name="dot_14"/>
          <p:cNvSpPr/>
          <p:nvPr/>
        </p:nvSpPr>
        <p:spPr>
          <a:xfrm>
            <a:off x="11045952" y="2697480"/>
            <a:ext cx="274320" cy="274320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16" name="txt_15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</a:t>
            </a:r>
            <a:pPr indent="0" marL="0">
              <a:buNone/>
            </a:pPr>
            <a:r>
              <a:rPr lang="en-US" sz="2000" b="1" spc="400" kern="0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xt_16"/>
          <p:cNvSpPr txBox="1"/>
          <p:nvPr/>
        </p:nvSpPr>
        <p:spPr>
          <a:xfrm>
            <a:off x="54864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BUSINESS REVIEW  ·  FY2026</a:t>
            </a:r>
            <a:endParaRPr lang="en-US" sz="1300" dirty="0"/>
          </a:p>
        </p:txBody>
      </p:sp>
      <p:sp>
        <p:nvSpPr>
          <p:cNvPr id="18" name="txt_17"/>
          <p:cNvSpPr txBox="1"/>
          <p:nvPr/>
        </p:nvSpPr>
        <p:spPr>
          <a:xfrm>
            <a:off x="548640" y="23774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&amp; Performance Review</a:t>
            </a:r>
            <a:endParaRPr lang="en-US" sz="5000" dirty="0"/>
          </a:p>
        </p:txBody>
      </p:sp>
      <p:sp>
        <p:nvSpPr>
          <p:cNvPr id="19" name="txt_18"/>
          <p:cNvSpPr txBox="1"/>
          <p:nvPr/>
        </p:nvSpPr>
        <p:spPr>
          <a:xfrm>
            <a:off x="548640" y="4206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stand, where the market is moving, and how we will grow to $1.2 billion by FY2029.</a:t>
            </a:r>
            <a:endParaRPr lang="en-US" sz="1700" dirty="0"/>
          </a:p>
        </p:txBody>
      </p:sp>
      <p:sp>
        <p:nvSpPr>
          <p:cNvPr id="20" name="txt_19"/>
          <p:cNvSpPr txBox="1"/>
          <p:nvPr/>
        </p:nvSpPr>
        <p:spPr>
          <a:xfrm>
            <a:off x="548640" y="5760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Team   |   October 2026   |   All figures illustrative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chapters, one growth story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66420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624328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900" dirty="0"/>
          </a:p>
        </p:txBody>
      </p:sp>
      <p:sp>
        <p:nvSpPr>
          <p:cNvPr id="7" name="txt_4"/>
          <p:cNvSpPr txBox="1"/>
          <p:nvPr/>
        </p:nvSpPr>
        <p:spPr>
          <a:xfrm>
            <a:off x="822960" y="3035808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margins and cash</a:t>
            </a:r>
            <a:endParaRPr lang="en-US" sz="1400" dirty="0"/>
          </a:p>
        </p:txBody>
      </p:sp>
      <p:sp>
        <p:nvSpPr>
          <p:cNvPr id="8" name="card_5"/>
          <p:cNvSpPr/>
          <p:nvPr/>
        </p:nvSpPr>
        <p:spPr>
          <a:xfrm>
            <a:off x="3390824" y="166420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3665144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xt_7"/>
          <p:cNvSpPr txBox="1"/>
          <p:nvPr/>
        </p:nvSpPr>
        <p:spPr>
          <a:xfrm>
            <a:off x="3665144" y="2624328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1900" dirty="0"/>
          </a:p>
        </p:txBody>
      </p:sp>
      <p:sp>
        <p:nvSpPr>
          <p:cNvPr id="11" name="txt_8"/>
          <p:cNvSpPr txBox="1"/>
          <p:nvPr/>
        </p:nvSpPr>
        <p:spPr>
          <a:xfrm>
            <a:off x="3665144" y="3035808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momentum and competition</a:t>
            </a:r>
            <a:endParaRPr lang="en-US" sz="1400" dirty="0"/>
          </a:p>
        </p:txBody>
      </p:sp>
      <p:sp>
        <p:nvSpPr>
          <p:cNvPr id="12" name="card_9"/>
          <p:cNvSpPr/>
          <p:nvPr/>
        </p:nvSpPr>
        <p:spPr>
          <a:xfrm>
            <a:off x="6233008" y="166420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txt_10"/>
          <p:cNvSpPr txBox="1"/>
          <p:nvPr/>
        </p:nvSpPr>
        <p:spPr>
          <a:xfrm>
            <a:off x="650732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xt_11"/>
          <p:cNvSpPr txBox="1"/>
          <p:nvPr/>
        </p:nvSpPr>
        <p:spPr>
          <a:xfrm>
            <a:off x="6507328" y="2624328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&amp; Sales</a:t>
            </a:r>
            <a:endParaRPr lang="en-US" sz="1900" dirty="0"/>
          </a:p>
        </p:txBody>
      </p:sp>
      <p:sp>
        <p:nvSpPr>
          <p:cNvPr id="15" name="txt_12"/>
          <p:cNvSpPr txBox="1"/>
          <p:nvPr/>
        </p:nvSpPr>
        <p:spPr>
          <a:xfrm>
            <a:off x="6507328" y="3035808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retention and loyalty</a:t>
            </a:r>
            <a:endParaRPr lang="en-US" sz="1400" dirty="0"/>
          </a:p>
        </p:txBody>
      </p:sp>
      <p:sp>
        <p:nvSpPr>
          <p:cNvPr id="16" name="card_13"/>
          <p:cNvSpPr/>
          <p:nvPr/>
        </p:nvSpPr>
        <p:spPr>
          <a:xfrm>
            <a:off x="9075191" y="166420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txt_14"/>
          <p:cNvSpPr txBox="1"/>
          <p:nvPr/>
        </p:nvSpPr>
        <p:spPr>
          <a:xfrm>
            <a:off x="9349511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E6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xt_15"/>
          <p:cNvSpPr txBox="1"/>
          <p:nvPr/>
        </p:nvSpPr>
        <p:spPr>
          <a:xfrm>
            <a:off x="9349511" y="2624328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900" dirty="0"/>
          </a:p>
        </p:txBody>
      </p:sp>
      <p:sp>
        <p:nvSpPr>
          <p:cNvPr id="19" name="txt_16"/>
          <p:cNvSpPr txBox="1"/>
          <p:nvPr/>
        </p:nvSpPr>
        <p:spPr>
          <a:xfrm>
            <a:off x="9349511" y="3035808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quality and productivity</a:t>
            </a:r>
            <a:endParaRPr lang="en-US" sz="1400" dirty="0"/>
          </a:p>
        </p:txBody>
      </p:sp>
      <p:sp>
        <p:nvSpPr>
          <p:cNvPr id="20" name="card_17"/>
          <p:cNvSpPr/>
          <p:nvPr/>
        </p:nvSpPr>
        <p:spPr>
          <a:xfrm>
            <a:off x="548640" y="408736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1" name="txt_18"/>
          <p:cNvSpPr txBox="1"/>
          <p:nvPr/>
        </p:nvSpPr>
        <p:spPr>
          <a:xfrm>
            <a:off x="822960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xt_19"/>
          <p:cNvSpPr txBox="1"/>
          <p:nvPr/>
        </p:nvSpPr>
        <p:spPr>
          <a:xfrm>
            <a:off x="822960" y="5047488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900" dirty="0"/>
          </a:p>
        </p:txBody>
      </p:sp>
      <p:sp>
        <p:nvSpPr>
          <p:cNvPr id="23" name="txt_20"/>
          <p:cNvSpPr txBox="1"/>
          <p:nvPr/>
        </p:nvSpPr>
        <p:spPr>
          <a:xfrm>
            <a:off x="822960" y="5458968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worth pursuing</a:t>
            </a:r>
            <a:endParaRPr lang="en-US" sz="1400" dirty="0"/>
          </a:p>
        </p:txBody>
      </p:sp>
      <p:sp>
        <p:nvSpPr>
          <p:cNvPr id="24" name="card_21"/>
          <p:cNvSpPr/>
          <p:nvPr/>
        </p:nvSpPr>
        <p:spPr>
          <a:xfrm>
            <a:off x="3390824" y="408736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5" name="txt_22"/>
          <p:cNvSpPr txBox="1"/>
          <p:nvPr/>
        </p:nvSpPr>
        <p:spPr>
          <a:xfrm>
            <a:off x="3665144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6" name="txt_23"/>
          <p:cNvSpPr txBox="1"/>
          <p:nvPr/>
        </p:nvSpPr>
        <p:spPr>
          <a:xfrm>
            <a:off x="3665144" y="5047488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</a:t>
            </a:r>
            <a:endParaRPr lang="en-US" sz="1900" dirty="0"/>
          </a:p>
        </p:txBody>
      </p:sp>
      <p:sp>
        <p:nvSpPr>
          <p:cNvPr id="27" name="txt_24"/>
          <p:cNvSpPr txBox="1"/>
          <p:nvPr/>
        </p:nvSpPr>
        <p:spPr>
          <a:xfrm>
            <a:off x="3665144" y="5458968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Forecasts, scenarios and risks</a:t>
            </a:r>
            <a:endParaRPr lang="en-US" sz="1400" dirty="0"/>
          </a:p>
        </p:txBody>
      </p:sp>
      <p:sp>
        <p:nvSpPr>
          <p:cNvPr id="28" name="card_25"/>
          <p:cNvSpPr/>
          <p:nvPr/>
        </p:nvSpPr>
        <p:spPr>
          <a:xfrm>
            <a:off x="6233008" y="408736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9" name="txt_26"/>
          <p:cNvSpPr txBox="1"/>
          <p:nvPr/>
        </p:nvSpPr>
        <p:spPr>
          <a:xfrm>
            <a:off x="6507328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sp>
        <p:nvSpPr>
          <p:cNvPr id="30" name="txt_27"/>
          <p:cNvSpPr txBox="1"/>
          <p:nvPr/>
        </p:nvSpPr>
        <p:spPr>
          <a:xfrm>
            <a:off x="6507328" y="5047488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900" dirty="0"/>
          </a:p>
        </p:txBody>
      </p:sp>
      <p:sp>
        <p:nvSpPr>
          <p:cNvPr id="31" name="txt_28"/>
          <p:cNvSpPr txBox="1"/>
          <p:nvPr/>
        </p:nvSpPr>
        <p:spPr>
          <a:xfrm>
            <a:off x="6507328" y="5458968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Priorities, roadmap and KPIs</a:t>
            </a:r>
            <a:endParaRPr lang="en-US" sz="1400" dirty="0"/>
          </a:p>
        </p:txBody>
      </p:sp>
      <p:sp>
        <p:nvSpPr>
          <p:cNvPr id="32" name="card_29"/>
          <p:cNvSpPr/>
          <p:nvPr/>
        </p:nvSpPr>
        <p:spPr>
          <a:xfrm>
            <a:off x="9075191" y="4087368"/>
            <a:ext cx="2567864" cy="2148840"/>
          </a:xfrm>
          <a:prstGeom prst="roundRect">
            <a:avLst>
              <a:gd name="adj" fmla="val 4255"/>
            </a:avLst>
          </a:prstGeom>
          <a:solidFill>
            <a:srgbClr val="14112F"/>
          </a:solidFill>
          <a:ln/>
        </p:spPr>
      </p:sp>
      <p:sp>
        <p:nvSpPr>
          <p:cNvPr id="33" name="txt_30"/>
          <p:cNvSpPr txBox="1"/>
          <p:nvPr/>
        </p:nvSpPr>
        <p:spPr>
          <a:xfrm>
            <a:off x="9349511" y="4407408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minutes</a:t>
            </a:r>
            <a:endParaRPr lang="en-US" sz="2600" dirty="0"/>
          </a:p>
        </p:txBody>
      </p:sp>
      <p:sp>
        <p:nvSpPr>
          <p:cNvPr id="34" name="txt_31"/>
          <p:cNvSpPr txBox="1"/>
          <p:nvPr/>
        </p:nvSpPr>
        <p:spPr>
          <a:xfrm>
            <a:off x="9349511" y="5001768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of review, 15 minutes for decisions on the FY2027 plan.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49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year that sets up the next three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618488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1645920" y="17647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held at 16%</a:t>
            </a:r>
            <a:endParaRPr lang="en-US" sz="1700" dirty="0"/>
          </a:p>
        </p:txBody>
      </p:sp>
      <p:sp>
        <p:nvSpPr>
          <p:cNvPr id="6" name="txt_3"/>
          <p:cNvSpPr txBox="1"/>
          <p:nvPr/>
        </p:nvSpPr>
        <p:spPr>
          <a:xfrm>
            <a:off x="1645920" y="20939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reached $772M, up 16.3%, with every quarter ahead of the prior year.</a:t>
            </a:r>
            <a:endParaRPr lang="en-US" sz="1400" dirty="0"/>
          </a:p>
        </p:txBody>
      </p:sp>
      <p:sp>
        <p:nvSpPr>
          <p:cNvPr id="7" name="card_4"/>
          <p:cNvSpPr/>
          <p:nvPr/>
        </p:nvSpPr>
        <p:spPr>
          <a:xfrm>
            <a:off x="548640" y="2779776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1645920" y="29260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 expanded again</a:t>
            </a:r>
            <a:endParaRPr lang="en-US" sz="1700" dirty="0"/>
          </a:p>
        </p:txBody>
      </p:sp>
      <p:sp>
        <p:nvSpPr>
          <p:cNvPr id="9" name="txt_6"/>
          <p:cNvSpPr txBox="1"/>
          <p:nvPr/>
        </p:nvSpPr>
        <p:spPr>
          <a:xfrm>
            <a:off x="1645920" y="32552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rose 1.5 points to 23.4% as scale and automation paid off.</a:t>
            </a:r>
            <a:endParaRPr lang="en-US" sz="1400" dirty="0"/>
          </a:p>
        </p:txBody>
      </p:sp>
      <p:sp>
        <p:nvSpPr>
          <p:cNvPr id="10" name="card_7"/>
          <p:cNvSpPr/>
          <p:nvPr/>
        </p:nvSpPr>
        <p:spPr>
          <a:xfrm>
            <a:off x="548640" y="3941064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1" name="txt_8"/>
          <p:cNvSpPr txBox="1"/>
          <p:nvPr/>
        </p:nvSpPr>
        <p:spPr>
          <a:xfrm>
            <a:off x="1645920" y="40873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buy more</a:t>
            </a:r>
            <a:endParaRPr lang="en-US" sz="1700" dirty="0"/>
          </a:p>
        </p:txBody>
      </p:sp>
      <p:sp>
        <p:nvSpPr>
          <p:cNvPr id="12" name="txt_9"/>
          <p:cNvSpPr txBox="1"/>
          <p:nvPr/>
        </p:nvSpPr>
        <p:spPr>
          <a:xfrm>
            <a:off x="1645920" y="44165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climbed to 119%; 389 new logos joined in FY2026.</a:t>
            </a:r>
            <a:endParaRPr lang="en-US" sz="1400" dirty="0"/>
          </a:p>
        </p:txBody>
      </p:sp>
      <p:sp>
        <p:nvSpPr>
          <p:cNvPr id="13" name="card_10"/>
          <p:cNvSpPr/>
          <p:nvPr/>
        </p:nvSpPr>
        <p:spPr>
          <a:xfrm>
            <a:off x="548640" y="5102352"/>
            <a:ext cx="67665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txt_11"/>
          <p:cNvSpPr txBox="1"/>
          <p:nvPr/>
        </p:nvSpPr>
        <p:spPr>
          <a:xfrm>
            <a:off x="1645920" y="524865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path to $1.2B</a:t>
            </a:r>
            <a:endParaRPr lang="en-US" sz="1700" dirty="0"/>
          </a:p>
        </p:txBody>
      </p:sp>
      <p:sp>
        <p:nvSpPr>
          <p:cNvPr id="15" name="txt_12"/>
          <p:cNvSpPr txBox="1"/>
          <p:nvPr/>
        </p:nvSpPr>
        <p:spPr>
          <a:xfrm>
            <a:off x="1645920" y="5577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prioritised bets add up to $445M of revenue potential by FY2029.</a:t>
            </a:r>
            <a:endParaRPr lang="en-US" sz="1400" dirty="0"/>
          </a:p>
        </p:txBody>
      </p:sp>
      <p:sp>
        <p:nvSpPr>
          <p:cNvPr id="16" name="icbg_13"/>
          <p:cNvSpPr/>
          <p:nvPr/>
        </p:nvSpPr>
        <p:spPr>
          <a:xfrm>
            <a:off x="822960" y="1828800"/>
            <a:ext cx="585216" cy="585216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7" name="ic_14" descr="TrendingU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75104"/>
            <a:ext cx="292608" cy="292608"/>
          </a:xfrm>
          <a:prstGeom prst="rect">
            <a:avLst/>
          </a:prstGeom>
        </p:spPr>
      </p:pic>
      <p:sp>
        <p:nvSpPr>
          <p:cNvPr id="18" name="icbg_15"/>
          <p:cNvSpPr/>
          <p:nvPr/>
        </p:nvSpPr>
        <p:spPr>
          <a:xfrm>
            <a:off x="822960" y="2990088"/>
            <a:ext cx="585216" cy="585216"/>
          </a:xfrm>
          <a:prstGeom prst="ellipse">
            <a:avLst/>
          </a:prstGeom>
          <a:solidFill>
            <a:srgbClr val="DCF5F2"/>
          </a:solidFill>
          <a:ln/>
        </p:spPr>
      </p:sp>
      <p:pic>
        <p:nvPicPr>
          <p:cNvPr id="19" name="ic_16" descr="Gaug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136392"/>
            <a:ext cx="292608" cy="292608"/>
          </a:xfrm>
          <a:prstGeom prst="rect">
            <a:avLst/>
          </a:prstGeom>
        </p:spPr>
      </p:pic>
      <p:sp>
        <p:nvSpPr>
          <p:cNvPr id="20" name="icbg_17"/>
          <p:cNvSpPr/>
          <p:nvPr/>
        </p:nvSpPr>
        <p:spPr>
          <a:xfrm>
            <a:off x="822960" y="4151376"/>
            <a:ext cx="585216" cy="585216"/>
          </a:xfrm>
          <a:prstGeom prst="ellipse">
            <a:avLst/>
          </a:prstGeom>
          <a:solidFill>
            <a:srgbClr val="FFE7E4"/>
          </a:solidFill>
          <a:ln/>
        </p:spPr>
      </p:sp>
      <p:pic>
        <p:nvPicPr>
          <p:cNvPr id="21" name="ic_18" descr="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297680"/>
            <a:ext cx="292608" cy="292608"/>
          </a:xfrm>
          <a:prstGeom prst="rect">
            <a:avLst/>
          </a:prstGeom>
        </p:spPr>
      </p:pic>
      <p:sp>
        <p:nvSpPr>
          <p:cNvPr id="22" name="icbg_19"/>
          <p:cNvSpPr/>
          <p:nvPr/>
        </p:nvSpPr>
        <p:spPr>
          <a:xfrm>
            <a:off x="822960" y="5312664"/>
            <a:ext cx="585216" cy="585216"/>
          </a:xfrm>
          <a:prstGeom prst="ellipse">
            <a:avLst/>
          </a:prstGeom>
          <a:solidFill>
            <a:srgbClr val="FFF1D6"/>
          </a:solidFill>
          <a:ln/>
        </p:spPr>
      </p:sp>
      <p:pic>
        <p:nvPicPr>
          <p:cNvPr id="23" name="ic_20" descr="Rocke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58968"/>
            <a:ext cx="292608" cy="292608"/>
          </a:xfrm>
          <a:prstGeom prst="rect">
            <a:avLst/>
          </a:prstGeom>
        </p:spPr>
      </p:pic>
      <p:sp>
        <p:nvSpPr>
          <p:cNvPr id="24" name="card_21"/>
          <p:cNvSpPr/>
          <p:nvPr/>
        </p:nvSpPr>
        <p:spPr>
          <a:xfrm>
            <a:off x="7589520" y="1618488"/>
            <a:ext cx="4050792" cy="4489704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5" name="txt_22"/>
          <p:cNvSpPr txBox="1"/>
          <p:nvPr/>
        </p:nvSpPr>
        <p:spPr>
          <a:xfrm>
            <a:off x="7863840" y="1819656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$M</a:t>
            </a:r>
            <a:endParaRPr lang="en-US" sz="1500" dirty="0"/>
          </a:p>
        </p:txBody>
      </p:sp>
      <p:sp>
        <p:nvSpPr>
          <p:cNvPr id="26" name="txt_23"/>
          <p:cNvSpPr txBox="1"/>
          <p:nvPr/>
        </p:nvSpPr>
        <p:spPr>
          <a:xfrm>
            <a:off x="7863840" y="2093976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trajectory</a:t>
            </a:r>
            <a:endParaRPr lang="en-US" sz="1100" dirty="0"/>
          </a:p>
        </p:txBody>
      </p:sp>
      <p:graphicFrame>
        <p:nvGraphicFramePr>
          <p:cNvPr id="27" name="chart_24" descr=""/>
          <p:cNvGraphicFramePr/>
          <p:nvPr/>
        </p:nvGraphicFramePr>
        <p:xfrm>
          <a:off x="7726680" y="2441448"/>
          <a:ext cx="377647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8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6" grpId="0" animBg="1"/>
      <p:bldP spid="7" grpId="0" animBg="1"/>
      <p:bldP spid="8" grpId="0" animBg="1"/>
      <p:bldP spid="9" grpId="0" animBg="1"/>
      <p:bldP spid="18" grpId="0" animBg="1"/>
      <p:bldP spid="10" grpId="0" animBg="1"/>
      <p:bldP spid="11" grpId="0" animBg="1"/>
      <p:bldP spid="12" grpId="0" animBg="1"/>
      <p:bldP spid="20" grpId="0" animBg="1"/>
      <p:bldP spid="13" grpId="0" animBg="1"/>
      <p:bldP spid="14" grpId="0" animBg="1"/>
      <p:bldP spid="15" grpId="0" animBg="1"/>
      <p:bldP spid="22" grpId="0" animBg="1"/>
      <p:bldP spid="24" grpId="0" animBg="1"/>
      <p:bldP spid="25" grpId="0" animBg="1"/>
      <p:bldP spid="26" grpId="0" animBg="1"/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defined the year</a:t>
            </a:r>
            <a:endParaRPr lang="en-US" sz="3000" dirty="0"/>
          </a:p>
        </p:txBody>
      </p:sp>
      <p:sp>
        <p:nvSpPr>
          <p:cNvPr id="4" name="txt_1"/>
          <p:cNvSpPr txBox="1"/>
          <p:nvPr/>
        </p:nvSpPr>
        <p:spPr>
          <a:xfrm>
            <a:off x="548640" y="166420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$772M</a:t>
            </a:r>
            <a:endParaRPr lang="en-US" sz="8000" dirty="0"/>
          </a:p>
        </p:txBody>
      </p:sp>
      <p:sp>
        <p:nvSpPr>
          <p:cNvPr id="5" name="txt_2"/>
          <p:cNvSpPr txBox="1"/>
          <p:nvPr/>
        </p:nvSpPr>
        <p:spPr>
          <a:xfrm>
            <a:off x="548640" y="30358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up 16.3% year on year — the fourth consecutive year of double-digit growth.</a:t>
            </a:r>
            <a:endParaRPr lang="en-US" sz="1600" dirty="0"/>
          </a:p>
        </p:txBody>
      </p:sp>
      <p:sp>
        <p:nvSpPr>
          <p:cNvPr id="6" name="card_3"/>
          <p:cNvSpPr/>
          <p:nvPr/>
        </p:nvSpPr>
        <p:spPr>
          <a:xfrm>
            <a:off x="5989320" y="1664208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221E4A"/>
          </a:solidFill>
          <a:ln/>
        </p:spPr>
      </p:sp>
      <p:sp>
        <p:nvSpPr>
          <p:cNvPr id="7" name="txt_4"/>
          <p:cNvSpPr txBox="1"/>
          <p:nvPr/>
        </p:nvSpPr>
        <p:spPr>
          <a:xfrm>
            <a:off x="6217920" y="1847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00" dirty="0"/>
          </a:p>
        </p:txBody>
      </p:sp>
      <p:sp>
        <p:nvSpPr>
          <p:cNvPr id="8" name="txt_5"/>
          <p:cNvSpPr txBox="1"/>
          <p:nvPr/>
        </p:nvSpPr>
        <p:spPr>
          <a:xfrm>
            <a:off x="621792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23.4%</a:t>
            </a:r>
            <a:endParaRPr lang="en-US" sz="3000" dirty="0"/>
          </a:p>
        </p:txBody>
      </p:sp>
      <p:sp>
        <p:nvSpPr>
          <p:cNvPr id="9" name="txt_6"/>
          <p:cNvSpPr txBox="1"/>
          <p:nvPr/>
        </p:nvSpPr>
        <p:spPr>
          <a:xfrm>
            <a:off x="6217920" y="2670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 pts</a:t>
            </a:r>
            <a:endParaRPr lang="en-US" sz="1200" dirty="0"/>
          </a:p>
        </p:txBody>
      </p:sp>
      <p:sp>
        <p:nvSpPr>
          <p:cNvPr id="10" name="card_7"/>
          <p:cNvSpPr/>
          <p:nvPr/>
        </p:nvSpPr>
        <p:spPr>
          <a:xfrm>
            <a:off x="8961120" y="1664208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221E4A"/>
          </a:solidFill>
          <a:ln/>
        </p:spPr>
      </p:sp>
      <p:sp>
        <p:nvSpPr>
          <p:cNvPr id="11" name="txt_8"/>
          <p:cNvSpPr txBox="1"/>
          <p:nvPr/>
        </p:nvSpPr>
        <p:spPr>
          <a:xfrm>
            <a:off x="9189720" y="1847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00" dirty="0"/>
          </a:p>
        </p:txBody>
      </p:sp>
      <p:sp>
        <p:nvSpPr>
          <p:cNvPr id="12" name="txt_9"/>
          <p:cNvSpPr txBox="1"/>
          <p:nvPr/>
        </p:nvSpPr>
        <p:spPr>
          <a:xfrm>
            <a:off x="918972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$118M</a:t>
            </a:r>
            <a:endParaRPr lang="en-US" sz="3000" dirty="0"/>
          </a:p>
        </p:txBody>
      </p:sp>
      <p:sp>
        <p:nvSpPr>
          <p:cNvPr id="13" name="txt_10"/>
          <p:cNvSpPr txBox="1"/>
          <p:nvPr/>
        </p:nvSpPr>
        <p:spPr>
          <a:xfrm>
            <a:off x="9189720" y="2670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+27% YoY</a:t>
            </a:r>
            <a:endParaRPr lang="en-US" sz="1200" dirty="0"/>
          </a:p>
        </p:txBody>
      </p:sp>
      <p:sp>
        <p:nvSpPr>
          <p:cNvPr id="14" name="card_11"/>
          <p:cNvSpPr/>
          <p:nvPr/>
        </p:nvSpPr>
        <p:spPr>
          <a:xfrm>
            <a:off x="5989320" y="3172968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221E4A"/>
          </a:solidFill>
          <a:ln/>
        </p:spPr>
      </p:sp>
      <p:sp>
        <p:nvSpPr>
          <p:cNvPr id="15" name="txt_12"/>
          <p:cNvSpPr txBox="1"/>
          <p:nvPr/>
        </p:nvSpPr>
        <p:spPr>
          <a:xfrm>
            <a:off x="6217920" y="3355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16" name="txt_13"/>
          <p:cNvSpPr txBox="1"/>
          <p:nvPr/>
        </p:nvSpPr>
        <p:spPr>
          <a:xfrm>
            <a:off x="621792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119%</a:t>
            </a:r>
            <a:endParaRPr lang="en-US" sz="3000" dirty="0"/>
          </a:p>
        </p:txBody>
      </p:sp>
      <p:sp>
        <p:nvSpPr>
          <p:cNvPr id="17" name="txt_14"/>
          <p:cNvSpPr txBox="1"/>
          <p:nvPr/>
        </p:nvSpPr>
        <p:spPr>
          <a:xfrm>
            <a:off x="6217920" y="4178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79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pts</a:t>
            </a:r>
            <a:endParaRPr lang="en-US" sz="1200" dirty="0"/>
          </a:p>
        </p:txBody>
      </p:sp>
      <p:sp>
        <p:nvSpPr>
          <p:cNvPr id="18" name="card_15"/>
          <p:cNvSpPr/>
          <p:nvPr/>
        </p:nvSpPr>
        <p:spPr>
          <a:xfrm>
            <a:off x="8961120" y="3172968"/>
            <a:ext cx="2788920" cy="1325880"/>
          </a:xfrm>
          <a:prstGeom prst="roundRect">
            <a:avLst>
              <a:gd name="adj" fmla="val 6897"/>
            </a:avLst>
          </a:prstGeom>
          <a:solidFill>
            <a:srgbClr val="221E4A"/>
          </a:solidFill>
          <a:ln/>
        </p:spPr>
      </p:sp>
      <p:sp>
        <p:nvSpPr>
          <p:cNvPr id="19" name="txt_16"/>
          <p:cNvSpPr txBox="1"/>
          <p:nvPr/>
        </p:nvSpPr>
        <p:spPr>
          <a:xfrm>
            <a:off x="9189720" y="3355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100" dirty="0"/>
          </a:p>
        </p:txBody>
      </p:sp>
      <p:sp>
        <p:nvSpPr>
          <p:cNvPr id="20" name="txt_17"/>
          <p:cNvSpPr txBox="1"/>
          <p:nvPr/>
        </p:nvSpPr>
        <p:spPr>
          <a:xfrm>
            <a:off x="9189720" y="36118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389</a:t>
            </a:r>
            <a:endParaRPr lang="en-US" sz="3000" dirty="0"/>
          </a:p>
        </p:txBody>
      </p:sp>
      <p:sp>
        <p:nvSpPr>
          <p:cNvPr id="21" name="txt_18"/>
          <p:cNvSpPr txBox="1"/>
          <p:nvPr/>
        </p:nvSpPr>
        <p:spPr>
          <a:xfrm>
            <a:off x="9189720" y="41788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YoY</a:t>
            </a:r>
            <a:endParaRPr lang="en-US" sz="1200" dirty="0"/>
          </a:p>
        </p:txBody>
      </p:sp>
      <p:sp>
        <p:nvSpPr>
          <p:cNvPr id="22" name="card_19"/>
          <p:cNvSpPr/>
          <p:nvPr/>
        </p:nvSpPr>
        <p:spPr>
          <a:xfrm>
            <a:off x="548640" y="4572000"/>
            <a:ext cx="11094415" cy="1508760"/>
          </a:xfrm>
          <a:prstGeom prst="roundRect">
            <a:avLst>
              <a:gd name="adj" fmla="val 6061"/>
            </a:avLst>
          </a:prstGeom>
          <a:solidFill>
            <a:srgbClr val="221E4A"/>
          </a:solidFill>
          <a:ln/>
        </p:spPr>
      </p:sp>
      <p:sp>
        <p:nvSpPr>
          <p:cNvPr id="23" name="txt_20"/>
          <p:cNvSpPr txBox="1"/>
          <p:nvPr/>
        </p:nvSpPr>
        <p:spPr>
          <a:xfrm>
            <a:off x="822960" y="46817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REVENUE, $M — FY25 vs FY26</a:t>
            </a:r>
            <a:endParaRPr lang="en-US" sz="1100" dirty="0"/>
          </a:p>
        </p:txBody>
      </p:sp>
      <p:graphicFrame>
        <p:nvGraphicFramePr>
          <p:cNvPr id="24" name="chart_21" descr=""/>
          <p:cNvGraphicFramePr/>
          <p:nvPr/>
        </p:nvGraphicFramePr>
        <p:xfrm>
          <a:off x="731520" y="4919472"/>
          <a:ext cx="10728655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41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Graphic spid="2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revenue, margins and cash developed across FY2026.</a:t>
            </a:r>
            <a:endParaRPr lang="en-US" sz="16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trajectory &amp; bridge</a:t>
            </a:r>
            <a:endParaRPr lang="en-US" sz="1300" dirty="0"/>
          </a:p>
        </p:txBody>
      </p:sp>
      <p:sp>
        <p:nvSpPr>
          <p:cNvPr id="6" name="txt_2"/>
          <p:cNvSpPr txBox="1"/>
          <p:nvPr/>
        </p:nvSpPr>
        <p:spPr>
          <a:xfrm>
            <a:off x="32918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and regional mix</a:t>
            </a:r>
            <a:endParaRPr lang="en-US" sz="1300" dirty="0"/>
          </a:p>
        </p:txBody>
      </p:sp>
      <p:sp>
        <p:nvSpPr>
          <p:cNvPr id="7" name="txt_3"/>
          <p:cNvSpPr txBox="1"/>
          <p:nvPr/>
        </p:nvSpPr>
        <p:spPr>
          <a:xfrm>
            <a:off x="60350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Margins, costs and cash</a:t>
            </a:r>
            <a:endParaRPr lang="en-US" sz="1300" dirty="0"/>
          </a:p>
        </p:txBody>
      </p:sp>
      <p:sp>
        <p:nvSpPr>
          <p:cNvPr id="8" name="icbg_4"/>
          <p:cNvSpPr/>
          <p:nvPr/>
        </p:nvSpPr>
        <p:spPr>
          <a:xfrm>
            <a:off x="9921240" y="2194560"/>
            <a:ext cx="1463040" cy="1463040"/>
          </a:xfrm>
          <a:prstGeom prst="ellipse">
            <a:avLst/>
          </a:prstGeom>
          <a:solidFill>
            <a:srgbClr val="5B3DF5"/>
          </a:solidFill>
          <a:ln/>
        </p:spPr>
      </p:sp>
      <p:pic>
        <p:nvPicPr>
          <p:cNvPr id="9" name="ic_5" descr="ChartColum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0"/>
            <a:ext cx="731520" cy="731520"/>
          </a:xfrm>
          <a:prstGeom prst="rect">
            <a:avLst/>
          </a:prstGeom>
        </p:spPr>
      </p:pic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quarters of uninterrupted growth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7266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revenue, $M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7178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FY22 – Q4 FY26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74523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8549640" y="1572768"/>
            <a:ext cx="3090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8778240" y="17556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 vs Q1 FY22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8778240" y="201168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+127%</a:t>
            </a:r>
            <a:endParaRPr lang="en-US" sz="3000" dirty="0"/>
          </a:p>
        </p:txBody>
      </p:sp>
      <p:sp>
        <p:nvSpPr>
          <p:cNvPr id="11" name="txt_8"/>
          <p:cNvSpPr txBox="1"/>
          <p:nvPr/>
        </p:nvSpPr>
        <p:spPr>
          <a:xfrm>
            <a:off x="8778240" y="25786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$94M → $213M per quarter</a:t>
            </a:r>
            <a:endParaRPr lang="en-US" sz="1200" dirty="0"/>
          </a:p>
        </p:txBody>
      </p:sp>
      <p:sp>
        <p:nvSpPr>
          <p:cNvPr id="12" name="card_9"/>
          <p:cNvSpPr/>
          <p:nvPr/>
        </p:nvSpPr>
        <p:spPr>
          <a:xfrm>
            <a:off x="8549640" y="3172968"/>
            <a:ext cx="30906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txt_10"/>
          <p:cNvSpPr txBox="1"/>
          <p:nvPr/>
        </p:nvSpPr>
        <p:spPr>
          <a:xfrm>
            <a:off x="8778240" y="33558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ANNUAL GROWTH</a:t>
            </a:r>
            <a:endParaRPr lang="en-US" sz="1100" dirty="0"/>
          </a:p>
        </p:txBody>
      </p:sp>
      <p:sp>
        <p:nvSpPr>
          <p:cNvPr id="14" name="txt_11"/>
          <p:cNvSpPr txBox="1"/>
          <p:nvPr/>
        </p:nvSpPr>
        <p:spPr>
          <a:xfrm>
            <a:off x="8778240" y="361188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18.8%</a:t>
            </a:r>
            <a:endParaRPr lang="en-US" sz="3000" dirty="0"/>
          </a:p>
        </p:txBody>
      </p:sp>
      <p:sp>
        <p:nvSpPr>
          <p:cNvPr id="15" name="txt_12"/>
          <p:cNvSpPr txBox="1"/>
          <p:nvPr/>
        </p:nvSpPr>
        <p:spPr>
          <a:xfrm>
            <a:off x="8778240" y="41788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FY22 → Q4 FY26, annualised</a:t>
            </a:r>
            <a:endParaRPr lang="en-US" sz="1200" dirty="0"/>
          </a:p>
        </p:txBody>
      </p:sp>
      <p:sp>
        <p:nvSpPr>
          <p:cNvPr id="16" name="card_13"/>
          <p:cNvSpPr/>
          <p:nvPr/>
        </p:nvSpPr>
        <p:spPr>
          <a:xfrm>
            <a:off x="8549640" y="4773168"/>
            <a:ext cx="309067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txt_14"/>
          <p:cNvSpPr txBox="1"/>
          <p:nvPr/>
        </p:nvSpPr>
        <p:spPr>
          <a:xfrm>
            <a:off x="8778240" y="49560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QUARTER</a:t>
            </a:r>
            <a:endParaRPr lang="en-US" sz="1100" dirty="0"/>
          </a:p>
        </p:txBody>
      </p:sp>
      <p:sp>
        <p:nvSpPr>
          <p:cNvPr id="18" name="txt_15"/>
          <p:cNvSpPr txBox="1"/>
          <p:nvPr/>
        </p:nvSpPr>
        <p:spPr>
          <a:xfrm>
            <a:off x="8778240" y="5212080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$213M</a:t>
            </a:r>
            <a:endParaRPr lang="en-US" sz="3000" dirty="0"/>
          </a:p>
        </p:txBody>
      </p:sp>
      <p:sp>
        <p:nvSpPr>
          <p:cNvPr id="19" name="txt_16"/>
          <p:cNvSpPr txBox="1"/>
          <p:nvPr/>
        </p:nvSpPr>
        <p:spPr>
          <a:xfrm>
            <a:off x="8778240" y="57790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FY26, +15.8% YoY</a:t>
            </a:r>
            <a:endParaRPr lang="en-US" sz="12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added $108M to revenue this year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8638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bridge FY25 → FY26, $M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$600M to show movement clearly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7589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8686800" y="1572768"/>
            <a:ext cx="2953512" cy="4572000"/>
          </a:xfrm>
          <a:prstGeom prst="roundRect">
            <a:avLst>
              <a:gd name="adj" fmla="val 3096"/>
            </a:avLst>
          </a:prstGeom>
          <a:solidFill>
            <a:srgbClr val="ECE8FE"/>
          </a:solidFill>
          <a:ln/>
        </p:spPr>
      </p:sp>
      <p:sp>
        <p:nvSpPr>
          <p:cNvPr id="9" name="txt_6"/>
          <p:cNvSpPr txBox="1"/>
          <p:nvPr/>
        </p:nvSpPr>
        <p:spPr>
          <a:xfrm>
            <a:off x="8961120" y="182880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bridge</a:t>
            </a:r>
            <a:endParaRPr lang="en-US" sz="1600" dirty="0"/>
          </a:p>
        </p:txBody>
      </p:sp>
      <p:sp>
        <p:nvSpPr>
          <p:cNvPr id="10" name="txt_7"/>
          <p:cNvSpPr txBox="1"/>
          <p:nvPr/>
        </p:nvSpPr>
        <p:spPr>
          <a:xfrm>
            <a:off x="8961120" y="2286000"/>
            <a:ext cx="24048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logos and expansion delivered $100M — 93% of the gain.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added $21M with no measurable rise in churn.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of $15M was 2.3% of opening revenue, a record low.</a:t>
            </a:r>
            <a:endParaRPr lang="en-US" sz="14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Software now drives almost half of revenue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11094415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segment, $M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7589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xt_4"/>
          <p:cNvSpPr txBox="1"/>
          <p:nvPr/>
        </p:nvSpPr>
        <p:spPr>
          <a:xfrm>
            <a:off x="8503920" y="2167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xt_5"/>
          <p:cNvSpPr txBox="1"/>
          <p:nvPr/>
        </p:nvSpPr>
        <p:spPr>
          <a:xfrm>
            <a:off x="8503920" y="27157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Software share of FY26 revenue, up from 37% in FY22</a:t>
            </a:r>
            <a:endParaRPr lang="en-US" sz="1300" dirty="0"/>
          </a:p>
        </p:txBody>
      </p:sp>
      <p:sp>
        <p:nvSpPr>
          <p:cNvPr id="9" name="txt_6"/>
          <p:cNvSpPr txBox="1"/>
          <p:nvPr/>
        </p:nvSpPr>
        <p:spPr>
          <a:xfrm>
            <a:off x="8503920" y="34655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+27%</a:t>
            </a:r>
            <a:endParaRPr lang="en-US" sz="3000" dirty="0"/>
          </a:p>
        </p:txBody>
      </p:sp>
      <p:sp>
        <p:nvSpPr>
          <p:cNvPr id="10" name="txt_7"/>
          <p:cNvSpPr txBox="1"/>
          <p:nvPr/>
        </p:nvSpPr>
        <p:spPr>
          <a:xfrm>
            <a:off x="8503920" y="401421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growth in FY26 — the fastest segment</a:t>
            </a:r>
            <a:endParaRPr lang="en-US" sz="1300" dirty="0"/>
          </a:p>
        </p:txBody>
      </p:sp>
      <p:sp>
        <p:nvSpPr>
          <p:cNvPr id="11" name="txt_8"/>
          <p:cNvSpPr txBox="1"/>
          <p:nvPr/>
        </p:nvSpPr>
        <p:spPr>
          <a:xfrm>
            <a:off x="8503920" y="47640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−1%</a:t>
            </a:r>
            <a:endParaRPr lang="en-US" sz="3000" dirty="0"/>
          </a:p>
        </p:txBody>
      </p:sp>
      <p:sp>
        <p:nvSpPr>
          <p:cNvPr id="12" name="txt_9"/>
          <p:cNvSpPr txBox="1"/>
          <p:nvPr/>
        </p:nvSpPr>
        <p:spPr>
          <a:xfrm>
            <a:off x="8503920" y="53126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Advisory, now managed for margin rather than volume</a:t>
            </a:r>
            <a:endParaRPr lang="en-US" sz="13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segment plays a distinct role in the portfolio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4206240" cy="45720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graphicFrame>
        <p:nvGraphicFramePr>
          <p:cNvPr id="5" name="chart_2" descr=""/>
          <p:cNvGraphicFramePr/>
          <p:nvPr/>
        </p:nvGraphicFramePr>
        <p:xfrm>
          <a:off x="731520" y="1755648"/>
          <a:ext cx="3840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xt_3"/>
          <p:cNvSpPr txBox="1"/>
          <p:nvPr/>
        </p:nvSpPr>
        <p:spPr>
          <a:xfrm>
            <a:off x="1737360" y="3264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$772M</a:t>
            </a:r>
            <a:endParaRPr lang="en-US" sz="2600" dirty="0"/>
          </a:p>
        </p:txBody>
      </p:sp>
      <p:sp>
        <p:nvSpPr>
          <p:cNvPr id="7" name="txt_4"/>
          <p:cNvSpPr txBox="1"/>
          <p:nvPr/>
        </p:nvSpPr>
        <p:spPr>
          <a:xfrm>
            <a:off x="173736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</a:t>
            </a:r>
            <a:endParaRPr lang="en-US" sz="1200" dirty="0"/>
          </a:p>
        </p:txBody>
      </p:sp>
      <p:sp>
        <p:nvSpPr>
          <p:cNvPr id="8" name="dot_5"/>
          <p:cNvSpPr/>
          <p:nvPr/>
        </p:nvSpPr>
        <p:spPr>
          <a:xfrm>
            <a:off x="868680" y="5513832"/>
            <a:ext cx="128016" cy="128016"/>
          </a:xfrm>
          <a:prstGeom prst="ellipse">
            <a:avLst/>
          </a:prstGeom>
          <a:solidFill>
            <a:srgbClr val="5B3DF5"/>
          </a:solidFill>
          <a:ln/>
        </p:spPr>
      </p:sp>
      <p:sp>
        <p:nvSpPr>
          <p:cNvPr id="9" name="txt_6"/>
          <p:cNvSpPr txBox="1"/>
          <p:nvPr/>
        </p:nvSpPr>
        <p:spPr>
          <a:xfrm>
            <a:off x="1069848" y="5458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Software</a:t>
            </a:r>
            <a:endParaRPr lang="en-US" sz="1100" dirty="0"/>
          </a:p>
        </p:txBody>
      </p:sp>
      <p:sp>
        <p:nvSpPr>
          <p:cNvPr id="10" name="dot_7"/>
          <p:cNvSpPr/>
          <p:nvPr/>
        </p:nvSpPr>
        <p:spPr>
          <a:xfrm>
            <a:off x="2788920" y="5513832"/>
            <a:ext cx="128016" cy="128016"/>
          </a:xfrm>
          <a:prstGeom prst="ellipse">
            <a:avLst/>
          </a:prstGeom>
          <a:solidFill>
            <a:srgbClr val="0FB5A5"/>
          </a:solidFill>
          <a:ln/>
        </p:spPr>
      </p:sp>
      <p:sp>
        <p:nvSpPr>
          <p:cNvPr id="11" name="txt_8"/>
          <p:cNvSpPr txBox="1"/>
          <p:nvPr/>
        </p:nvSpPr>
        <p:spPr>
          <a:xfrm>
            <a:off x="2990088" y="5458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100" dirty="0"/>
          </a:p>
        </p:txBody>
      </p:sp>
      <p:sp>
        <p:nvSpPr>
          <p:cNvPr id="12" name="dot_9"/>
          <p:cNvSpPr/>
          <p:nvPr/>
        </p:nvSpPr>
        <p:spPr>
          <a:xfrm>
            <a:off x="868680" y="5815584"/>
            <a:ext cx="128016" cy="128016"/>
          </a:xfrm>
          <a:prstGeom prst="ellipse">
            <a:avLst/>
          </a:prstGeom>
          <a:solidFill>
            <a:srgbClr val="FF5A4E"/>
          </a:solidFill>
          <a:ln/>
        </p:spPr>
      </p:sp>
      <p:sp>
        <p:nvSpPr>
          <p:cNvPr id="13" name="txt_10"/>
          <p:cNvSpPr txBox="1"/>
          <p:nvPr/>
        </p:nvSpPr>
        <p:spPr>
          <a:xfrm>
            <a:off x="1069848" y="5760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100" dirty="0"/>
          </a:p>
        </p:txBody>
      </p:sp>
      <p:sp>
        <p:nvSpPr>
          <p:cNvPr id="14" name="dot_11"/>
          <p:cNvSpPr/>
          <p:nvPr/>
        </p:nvSpPr>
        <p:spPr>
          <a:xfrm>
            <a:off x="2788920" y="5815584"/>
            <a:ext cx="128016" cy="128016"/>
          </a:xfrm>
          <a:prstGeom prst="ellipse">
            <a:avLst/>
          </a:prstGeom>
          <a:solidFill>
            <a:srgbClr val="FFB224"/>
          </a:solidFill>
          <a:ln/>
        </p:spPr>
      </p:sp>
      <p:sp>
        <p:nvSpPr>
          <p:cNvPr id="15" name="txt_12"/>
          <p:cNvSpPr txBox="1"/>
          <p:nvPr/>
        </p:nvSpPr>
        <p:spPr>
          <a:xfrm>
            <a:off x="2990088" y="5760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1100" dirty="0"/>
          </a:p>
        </p:txBody>
      </p:sp>
      <p:graphicFrame>
        <p:nvGraphicFramePr>
          <p:cNvPr id="16" name="table_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572768"/>
          <a:ext cx="661111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005840"/>
                <a:gridCol w="960120"/>
                <a:gridCol w="1216152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FY26 $M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riser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opener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card_14"/>
          <p:cNvSpPr/>
          <p:nvPr/>
        </p:nvSpPr>
        <p:spPr>
          <a:xfrm>
            <a:off x="5029200" y="4636008"/>
            <a:ext cx="6611112" cy="1508760"/>
          </a:xfrm>
          <a:prstGeom prst="roundRect">
            <a:avLst>
              <a:gd name="adj" fmla="val 6061"/>
            </a:avLst>
          </a:prstGeom>
          <a:solidFill>
            <a:srgbClr val="ECE8FE"/>
          </a:solidFill>
          <a:ln/>
        </p:spPr>
      </p:sp>
      <p:sp>
        <p:nvSpPr>
          <p:cNvPr id="18" name="txt_15"/>
          <p:cNvSpPr txBox="1"/>
          <p:nvPr/>
        </p:nvSpPr>
        <p:spPr>
          <a:xfrm>
            <a:off x="5303520" y="4892040"/>
            <a:ext cx="6062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logic</a:t>
            </a:r>
            <a:endParaRPr lang="en-US" sz="1600" dirty="0"/>
          </a:p>
        </p:txBody>
      </p:sp>
      <p:sp>
        <p:nvSpPr>
          <p:cNvPr id="19" name="txt_16"/>
          <p:cNvSpPr txBox="1"/>
          <p:nvPr/>
        </p:nvSpPr>
        <p:spPr>
          <a:xfrm>
            <a:off x="5303520" y="5349240"/>
            <a:ext cx="6062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and Data fund growth; Managed Services anchors recurring revenue and cash.</a:t>
            </a:r>
            <a:endParaRPr lang="en-US" sz="14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Graphic spid="5" grpId="0">
        <p:bldAsOne/>
      </p:bldGraphic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Graphic spid="16" grpId="0">
        <p:bldAsOne/>
      </p:bldGraphic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is turning into profitability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2237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($M, columns) and EBITDA margin (%, line)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8046720" y="1572768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8275320" y="175564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EBITDA</a:t>
            </a:r>
            <a:endParaRPr lang="en-US" sz="1100" dirty="0"/>
          </a:p>
        </p:txBody>
      </p:sp>
      <p:sp>
        <p:nvSpPr>
          <p:cNvPr id="9" name="txt_6"/>
          <p:cNvSpPr txBox="1"/>
          <p:nvPr/>
        </p:nvSpPr>
        <p:spPr>
          <a:xfrm>
            <a:off x="8275320" y="201168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$180.6M</a:t>
            </a:r>
            <a:endParaRPr lang="en-US" sz="3000" dirty="0"/>
          </a:p>
        </p:txBody>
      </p:sp>
      <p:sp>
        <p:nvSpPr>
          <p:cNvPr id="10" name="txt_7"/>
          <p:cNvSpPr txBox="1"/>
          <p:nvPr/>
        </p:nvSpPr>
        <p:spPr>
          <a:xfrm>
            <a:off x="8275320" y="257860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+24.2% year on year</a:t>
            </a:r>
            <a:endParaRPr lang="en-US" sz="1200" dirty="0"/>
          </a:p>
        </p:txBody>
      </p:sp>
      <p:sp>
        <p:nvSpPr>
          <p:cNvPr id="11" name="card_8"/>
          <p:cNvSpPr/>
          <p:nvPr/>
        </p:nvSpPr>
        <p:spPr>
          <a:xfrm>
            <a:off x="8046720" y="3127248"/>
            <a:ext cx="359359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2" name="txt_9"/>
          <p:cNvSpPr txBox="1"/>
          <p:nvPr/>
        </p:nvSpPr>
        <p:spPr>
          <a:xfrm>
            <a:off x="8275320" y="331012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GAIN SINCE FY22</a:t>
            </a:r>
            <a:endParaRPr lang="en-US" sz="1100" dirty="0"/>
          </a:p>
        </p:txBody>
      </p:sp>
      <p:sp>
        <p:nvSpPr>
          <p:cNvPr id="13" name="txt_10"/>
          <p:cNvSpPr txBox="1"/>
          <p:nvPr/>
        </p:nvSpPr>
        <p:spPr>
          <a:xfrm>
            <a:off x="8275320" y="356616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+5.6 pts</a:t>
            </a:r>
            <a:endParaRPr lang="en-US" sz="3000" dirty="0"/>
          </a:p>
        </p:txBody>
      </p:sp>
      <p:sp>
        <p:nvSpPr>
          <p:cNvPr id="14" name="txt_11"/>
          <p:cNvSpPr txBox="1"/>
          <p:nvPr/>
        </p:nvSpPr>
        <p:spPr>
          <a:xfrm>
            <a:off x="8275320" y="41330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17.8% → 23.4%</a:t>
            </a:r>
            <a:endParaRPr lang="en-US" sz="1200" dirty="0"/>
          </a:p>
        </p:txBody>
      </p:sp>
      <p:sp>
        <p:nvSpPr>
          <p:cNvPr id="15" name="card_12"/>
          <p:cNvSpPr/>
          <p:nvPr/>
        </p:nvSpPr>
        <p:spPr>
          <a:xfrm>
            <a:off x="8046720" y="4681728"/>
            <a:ext cx="3593592" cy="1463040"/>
          </a:xfrm>
          <a:prstGeom prst="roundRect">
            <a:avLst>
              <a:gd name="adj" fmla="val 6250"/>
            </a:avLst>
          </a:prstGeom>
          <a:solidFill>
            <a:srgbClr val="ECE8FE"/>
          </a:solidFill>
          <a:ln/>
        </p:spPr>
      </p:sp>
      <p:sp>
        <p:nvSpPr>
          <p:cNvPr id="16" name="txt_13"/>
          <p:cNvSpPr txBox="1"/>
          <p:nvPr/>
        </p:nvSpPr>
        <p:spPr>
          <a:xfrm>
            <a:off x="8321040" y="49377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leverage</a:t>
            </a:r>
            <a:endParaRPr lang="en-US" sz="1600" dirty="0"/>
          </a:p>
        </p:txBody>
      </p:sp>
      <p:sp>
        <p:nvSpPr>
          <p:cNvPr id="17" name="txt_14"/>
          <p:cNvSpPr txBox="1"/>
          <p:nvPr/>
        </p:nvSpPr>
        <p:spPr>
          <a:xfrm>
            <a:off x="8321040" y="539496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16.3%; total costs grew 14.0%.</a:t>
            </a:r>
            <a:endParaRPr lang="en-US" sz="14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7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statement summary</a:t>
            </a:r>
            <a:endParaRPr lang="en-US" sz="3000" dirty="0"/>
          </a:p>
        </p:txBody>
      </p:sp>
      <p:graphicFrame>
        <p:nvGraphicFramePr>
          <p:cNvPr id="4" name="tabl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28016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millions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(266.9)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(299.5)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397.1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expenses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(251.7)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(291.9)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&amp; amortisation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(28.3)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(31.4)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profit (EBIT)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+27.4%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</a:tr>
            </a:tbl>
          </a:graphicData>
        </a:graphic>
      </p:graphicFrame>
      <p:sp>
        <p:nvSpPr>
          <p:cNvPr id="5" name="card_2"/>
          <p:cNvSpPr/>
          <p:nvPr/>
        </p:nvSpPr>
        <p:spPr>
          <a:xfrm>
            <a:off x="7772400" y="1572768"/>
            <a:ext cx="3867912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6" name="txt_3"/>
          <p:cNvSpPr txBox="1"/>
          <p:nvPr/>
        </p:nvSpPr>
        <p:spPr>
          <a:xfrm>
            <a:off x="8046720" y="177393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profile, % of revenue</a:t>
            </a:r>
            <a:endParaRPr lang="en-US" sz="15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7863840" y="2075688"/>
          <a:ext cx="368503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7772400" y="4590288"/>
            <a:ext cx="3867912" cy="1554480"/>
          </a:xfrm>
          <a:prstGeom prst="roundRect">
            <a:avLst>
              <a:gd name="adj" fmla="val 5882"/>
            </a:avLst>
          </a:prstGeom>
          <a:solidFill>
            <a:srgbClr val="ECE8FE"/>
          </a:solidFill>
          <a:ln/>
        </p:spPr>
      </p:sp>
      <p:sp>
        <p:nvSpPr>
          <p:cNvPr id="9" name="txt_6"/>
          <p:cNvSpPr txBox="1"/>
          <p:nvPr/>
        </p:nvSpPr>
        <p:spPr>
          <a:xfrm>
            <a:off x="8046720" y="484632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</a:t>
            </a:r>
            <a:endParaRPr lang="en-US" sz="1600" dirty="0"/>
          </a:p>
        </p:txBody>
      </p:sp>
      <p:sp>
        <p:nvSpPr>
          <p:cNvPr id="10" name="txt_7"/>
          <p:cNvSpPr txBox="1"/>
          <p:nvPr/>
        </p:nvSpPr>
        <p:spPr>
          <a:xfrm>
            <a:off x="8046720" y="5303520"/>
            <a:ext cx="3319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grew 28%, almost twice the rate of revenue.</a:t>
            </a:r>
            <a:endParaRPr lang="en-US" sz="14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discipline funds more R&amp;D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expenses as % of revenue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opex: 38.3% → 37.9% → 37.8%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66751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7772400" y="1572768"/>
            <a:ext cx="38679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icbg_6"/>
          <p:cNvSpPr/>
          <p:nvPr/>
        </p:nvSpPr>
        <p:spPr>
          <a:xfrm>
            <a:off x="8001000" y="1801368"/>
            <a:ext cx="512064" cy="512064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0" name="ic_7" descr="Cpu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1929384"/>
            <a:ext cx="256032" cy="256032"/>
          </a:xfrm>
          <a:prstGeom prst="rect">
            <a:avLst/>
          </a:prstGeom>
        </p:spPr>
      </p:pic>
      <p:sp>
        <p:nvSpPr>
          <p:cNvPr id="11" name="txt_8"/>
          <p:cNvSpPr txBox="1"/>
          <p:nvPr/>
        </p:nvSpPr>
        <p:spPr>
          <a:xfrm>
            <a:off x="8686800" y="17739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 up to 14.1%</a:t>
            </a:r>
            <a:endParaRPr lang="en-US" sz="1600" dirty="0"/>
          </a:p>
        </p:txBody>
      </p:sp>
      <p:sp>
        <p:nvSpPr>
          <p:cNvPr id="12" name="txt_9"/>
          <p:cNvSpPr txBox="1"/>
          <p:nvPr/>
        </p:nvSpPr>
        <p:spPr>
          <a:xfrm>
            <a:off x="8686800" y="21214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$19M funds AI features and platform reliability.</a:t>
            </a:r>
            <a:endParaRPr lang="en-US" sz="1300" dirty="0"/>
          </a:p>
        </p:txBody>
      </p:sp>
      <p:sp>
        <p:nvSpPr>
          <p:cNvPr id="13" name="card_10"/>
          <p:cNvSpPr/>
          <p:nvPr/>
        </p:nvSpPr>
        <p:spPr>
          <a:xfrm>
            <a:off x="7772400" y="3145536"/>
            <a:ext cx="38679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icbg_11"/>
          <p:cNvSpPr/>
          <p:nvPr/>
        </p:nvSpPr>
        <p:spPr>
          <a:xfrm>
            <a:off x="8001000" y="3374136"/>
            <a:ext cx="512064" cy="512064"/>
          </a:xfrm>
          <a:prstGeom prst="ellipse">
            <a:avLst/>
          </a:prstGeom>
          <a:solidFill>
            <a:srgbClr val="DCF5F2"/>
          </a:solidFill>
          <a:ln/>
        </p:spPr>
      </p:sp>
      <p:pic>
        <p:nvPicPr>
          <p:cNvPr id="15" name="ic_12" descr="Handshak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3502152"/>
            <a:ext cx="256032" cy="256032"/>
          </a:xfrm>
          <a:prstGeom prst="rect">
            <a:avLst/>
          </a:prstGeom>
        </p:spPr>
      </p:pic>
      <p:sp>
        <p:nvSpPr>
          <p:cNvPr id="16" name="txt_13"/>
          <p:cNvSpPr txBox="1"/>
          <p:nvPr/>
        </p:nvSpPr>
        <p:spPr>
          <a:xfrm>
            <a:off x="8686800" y="334670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efficiency</a:t>
            </a:r>
            <a:endParaRPr lang="en-US" sz="1600" dirty="0"/>
          </a:p>
        </p:txBody>
      </p:sp>
      <p:sp>
        <p:nvSpPr>
          <p:cNvPr id="17" name="txt_14"/>
          <p:cNvSpPr txBox="1"/>
          <p:nvPr/>
        </p:nvSpPr>
        <p:spPr>
          <a:xfrm>
            <a:off x="8686800" y="369417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Partner-led deals cut acquisition cost per $ of new revenue by 9%.</a:t>
            </a:r>
            <a:endParaRPr lang="en-US" sz="1300" dirty="0"/>
          </a:p>
        </p:txBody>
      </p:sp>
      <p:sp>
        <p:nvSpPr>
          <p:cNvPr id="18" name="card_15"/>
          <p:cNvSpPr/>
          <p:nvPr/>
        </p:nvSpPr>
        <p:spPr>
          <a:xfrm>
            <a:off x="7772400" y="4718304"/>
            <a:ext cx="38679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9" name="icbg_16"/>
          <p:cNvSpPr/>
          <p:nvPr/>
        </p:nvSpPr>
        <p:spPr>
          <a:xfrm>
            <a:off x="8001000" y="4946904"/>
            <a:ext cx="512064" cy="512064"/>
          </a:xfrm>
          <a:prstGeom prst="ellipse">
            <a:avLst/>
          </a:prstGeom>
          <a:solidFill>
            <a:srgbClr val="FFF1D6"/>
          </a:solidFill>
          <a:ln/>
        </p:spPr>
      </p:sp>
      <p:pic>
        <p:nvPicPr>
          <p:cNvPr id="20" name="ic_17" descr="Building2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5074920"/>
            <a:ext cx="256032" cy="256032"/>
          </a:xfrm>
          <a:prstGeom prst="rect">
            <a:avLst/>
          </a:prstGeom>
        </p:spPr>
      </p:pic>
      <p:sp>
        <p:nvSpPr>
          <p:cNvPr id="21" name="txt_18"/>
          <p:cNvSpPr txBox="1"/>
          <p:nvPr/>
        </p:nvSpPr>
        <p:spPr>
          <a:xfrm>
            <a:off x="8686800" y="4919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overhead</a:t>
            </a:r>
            <a:endParaRPr lang="en-US" sz="1600" dirty="0"/>
          </a:p>
        </p:txBody>
      </p:sp>
      <p:sp>
        <p:nvSpPr>
          <p:cNvPr id="22" name="txt_19"/>
          <p:cNvSpPr txBox="1"/>
          <p:nvPr/>
        </p:nvSpPr>
        <p:spPr>
          <a:xfrm>
            <a:off x="8686800" y="526694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held at 6.5% despite 9% headcount growth.</a:t>
            </a:r>
            <a:endParaRPr lang="en-US" sz="13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4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cash flow has tripled in four years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3557016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777240" y="17556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FREE CASH FLOW</a:t>
            </a:r>
            <a:endParaRPr lang="en-US" sz="1100" dirty="0"/>
          </a:p>
        </p:txBody>
      </p:sp>
      <p:sp>
        <p:nvSpPr>
          <p:cNvPr id="6" name="txt_3"/>
          <p:cNvSpPr txBox="1"/>
          <p:nvPr/>
        </p:nvSpPr>
        <p:spPr>
          <a:xfrm>
            <a:off x="777240" y="20116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$118M</a:t>
            </a:r>
            <a:endParaRPr lang="en-US" sz="3000" dirty="0"/>
          </a:p>
        </p:txBody>
      </p:sp>
      <p:sp>
        <p:nvSpPr>
          <p:cNvPr id="7" name="txt_4"/>
          <p:cNvSpPr txBox="1"/>
          <p:nvPr/>
        </p:nvSpPr>
        <p:spPr>
          <a:xfrm>
            <a:off x="777240" y="257860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+27% vs FY25</a:t>
            </a:r>
            <a:endParaRPr lang="en-US" sz="1200" dirty="0"/>
          </a:p>
        </p:txBody>
      </p:sp>
      <p:sp>
        <p:nvSpPr>
          <p:cNvPr id="8" name="card_5"/>
          <p:cNvSpPr/>
          <p:nvPr/>
        </p:nvSpPr>
        <p:spPr>
          <a:xfrm>
            <a:off x="4315968" y="1572768"/>
            <a:ext cx="3557016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4544568" y="17556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4544568" y="20116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15.3%</a:t>
            </a:r>
            <a:endParaRPr lang="en-US" sz="3000" dirty="0"/>
          </a:p>
        </p:txBody>
      </p:sp>
      <p:sp>
        <p:nvSpPr>
          <p:cNvPr id="11" name="txt_8"/>
          <p:cNvSpPr txBox="1"/>
          <p:nvPr/>
        </p:nvSpPr>
        <p:spPr>
          <a:xfrm>
            <a:off x="4544568" y="257860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9.5% in FY22</a:t>
            </a:r>
            <a:endParaRPr lang="en-US" sz="1200" dirty="0"/>
          </a:p>
        </p:txBody>
      </p:sp>
      <p:sp>
        <p:nvSpPr>
          <p:cNvPr id="12" name="card_9"/>
          <p:cNvSpPr/>
          <p:nvPr/>
        </p:nvSpPr>
        <p:spPr>
          <a:xfrm>
            <a:off x="8083296" y="1572768"/>
            <a:ext cx="3557016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txt_10"/>
          <p:cNvSpPr txBox="1"/>
          <p:nvPr/>
        </p:nvSpPr>
        <p:spPr>
          <a:xfrm>
            <a:off x="8311896" y="175564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CONVERSION</a:t>
            </a:r>
            <a:endParaRPr lang="en-US" sz="1100" dirty="0"/>
          </a:p>
        </p:txBody>
      </p:sp>
      <p:sp>
        <p:nvSpPr>
          <p:cNvPr id="14" name="txt_11"/>
          <p:cNvSpPr txBox="1"/>
          <p:nvPr/>
        </p:nvSpPr>
        <p:spPr>
          <a:xfrm>
            <a:off x="8311896" y="2011680"/>
            <a:ext cx="3099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000" dirty="0"/>
          </a:p>
        </p:txBody>
      </p:sp>
      <p:sp>
        <p:nvSpPr>
          <p:cNvPr id="15" name="txt_12"/>
          <p:cNvSpPr txBox="1"/>
          <p:nvPr/>
        </p:nvSpPr>
        <p:spPr>
          <a:xfrm>
            <a:off x="8311896" y="2578608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as share of EBITDA</a:t>
            </a:r>
            <a:endParaRPr lang="en-US" sz="1200" dirty="0"/>
          </a:p>
        </p:txBody>
      </p:sp>
      <p:sp>
        <p:nvSpPr>
          <p:cNvPr id="16" name="card_13"/>
          <p:cNvSpPr/>
          <p:nvPr/>
        </p:nvSpPr>
        <p:spPr>
          <a:xfrm>
            <a:off x="548640" y="3081528"/>
            <a:ext cx="11094415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txt_14"/>
          <p:cNvSpPr txBox="1"/>
          <p:nvPr/>
        </p:nvSpPr>
        <p:spPr>
          <a:xfrm>
            <a:off x="822960" y="3282696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flow, capital expenditure and free cash flow, $M</a:t>
            </a:r>
            <a:endParaRPr lang="en-US" sz="1500" dirty="0"/>
          </a:p>
        </p:txBody>
      </p:sp>
      <p:graphicFrame>
        <p:nvGraphicFramePr>
          <p:cNvPr id="18" name="chart_15" descr=""/>
          <p:cNvGraphicFramePr/>
          <p:nvPr/>
        </p:nvGraphicFramePr>
        <p:xfrm>
          <a:off x="685800" y="3493008"/>
          <a:ext cx="10820095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4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Graphic spid="18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PERFORMANCE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Asia-Pacific is our fastest-growing large region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63093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 by region, $M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7086600" y="1572768"/>
            <a:ext cx="4553712" cy="4572000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7360920" y="17739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growth, %</a:t>
            </a:r>
            <a:endParaRPr lang="en-US" sz="1500" dirty="0"/>
          </a:p>
        </p:txBody>
      </p:sp>
      <p:graphicFrame>
        <p:nvGraphicFramePr>
          <p:cNvPr id="9" name="chart_6" descr=""/>
          <p:cNvGraphicFramePr/>
          <p:nvPr/>
        </p:nvGraphicFramePr>
        <p:xfrm>
          <a:off x="7223760" y="2121408"/>
          <a:ext cx="4279392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xt_7"/>
          <p:cNvSpPr txBox="1"/>
          <p:nvPr/>
        </p:nvSpPr>
        <p:spPr>
          <a:xfrm>
            <a:off x="7360920" y="4910328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 </a:t>
            </a:r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$27M at 24% growth. Middle East &amp; Africa grows faster from a small base.</a:t>
            </a:r>
            <a:endParaRPr lang="en-US" sz="14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Graphic spid="9" grpId="0">
        <p:bldAsOne/>
      </p:bldGraphic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fragmented market where we are gaining share.</a:t>
            </a:r>
            <a:endParaRPr lang="en-US" sz="16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and momentum</a:t>
            </a:r>
            <a:endParaRPr lang="en-US" sz="1300" dirty="0"/>
          </a:p>
        </p:txBody>
      </p:sp>
      <p:sp>
        <p:nvSpPr>
          <p:cNvPr id="6" name="txt_2"/>
          <p:cNvSpPr txBox="1"/>
          <p:nvPr/>
        </p:nvSpPr>
        <p:spPr>
          <a:xfrm>
            <a:off x="32918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300" dirty="0"/>
          </a:p>
        </p:txBody>
      </p:sp>
      <p:sp>
        <p:nvSpPr>
          <p:cNvPr id="7" name="txt_3"/>
          <p:cNvSpPr txBox="1"/>
          <p:nvPr/>
        </p:nvSpPr>
        <p:spPr>
          <a:xfrm>
            <a:off x="60350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buyers value</a:t>
            </a:r>
            <a:endParaRPr lang="en-US" sz="1300" dirty="0"/>
          </a:p>
        </p:txBody>
      </p:sp>
      <p:sp>
        <p:nvSpPr>
          <p:cNvPr id="8" name="icbg_4"/>
          <p:cNvSpPr/>
          <p:nvPr/>
        </p:nvSpPr>
        <p:spPr>
          <a:xfrm>
            <a:off x="9921240" y="2194560"/>
            <a:ext cx="1463040" cy="1463040"/>
          </a:xfrm>
          <a:prstGeom prst="ellipse">
            <a:avLst/>
          </a:prstGeom>
          <a:solidFill>
            <a:srgbClr val="5B3DF5"/>
          </a:solidFill>
          <a:ln/>
        </p:spPr>
      </p:sp>
      <p:pic>
        <p:nvPicPr>
          <p:cNvPr id="9" name="ic_5" descr="Compas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0"/>
            <a:ext cx="731520" cy="731520"/>
          </a:xfrm>
          <a:prstGeom prst="rect">
            <a:avLst/>
          </a:prstGeom>
        </p:spPr>
      </p:pic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$48B market with ample headroom</a:t>
            </a:r>
            <a:endParaRPr lang="en-US" sz="3000" dirty="0"/>
          </a:p>
        </p:txBody>
      </p:sp>
      <p:sp>
        <p:nvSpPr>
          <p:cNvPr id="4" name="mkt_1"/>
          <p:cNvSpPr/>
          <p:nvPr/>
        </p:nvSpPr>
        <p:spPr>
          <a:xfrm>
            <a:off x="1005840" y="1572768"/>
            <a:ext cx="4572000" cy="4572000"/>
          </a:xfrm>
          <a:prstGeom prst="ellipse">
            <a:avLst/>
          </a:prstGeom>
          <a:solidFill>
            <a:srgbClr val="ECE8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mkt_2"/>
          <p:cNvSpPr/>
          <p:nvPr/>
        </p:nvSpPr>
        <p:spPr>
          <a:xfrm>
            <a:off x="1737360" y="3035808"/>
            <a:ext cx="3108960" cy="3108960"/>
          </a:xfrm>
          <a:prstGeom prst="ellipse">
            <a:avLst/>
          </a:prstGeom>
          <a:solidFill>
            <a:srgbClr val="D6CEF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mkt_3"/>
          <p:cNvSpPr/>
          <p:nvPr/>
        </p:nvSpPr>
        <p:spPr>
          <a:xfrm>
            <a:off x="2468880" y="4498848"/>
            <a:ext cx="1645920" cy="1645920"/>
          </a:xfrm>
          <a:prstGeom prst="ellipse">
            <a:avLst/>
          </a:prstGeom>
          <a:solidFill>
            <a:srgbClr val="5B3D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xt_4"/>
          <p:cNvSpPr txBox="1"/>
          <p:nvPr/>
        </p:nvSpPr>
        <p:spPr>
          <a:xfrm>
            <a:off x="2286000" y="18928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8" name="txt_5"/>
          <p:cNvSpPr txBox="1"/>
          <p:nvPr/>
        </p:nvSpPr>
        <p:spPr>
          <a:xfrm>
            <a:off x="2286000" y="33101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$14.2B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9" name="txt_6"/>
          <p:cNvSpPr txBox="1"/>
          <p:nvPr/>
        </p:nvSpPr>
        <p:spPr>
          <a:xfrm>
            <a:off x="2286000" y="49560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6C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10" name="card_7"/>
          <p:cNvSpPr/>
          <p:nvPr/>
        </p:nvSpPr>
        <p:spPr>
          <a:xfrm>
            <a:off x="6400800" y="1664208"/>
            <a:ext cx="5239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1" name="dot_8"/>
          <p:cNvSpPr/>
          <p:nvPr/>
        </p:nvSpPr>
        <p:spPr>
          <a:xfrm>
            <a:off x="6675120" y="1965960"/>
            <a:ext cx="201168" cy="201168"/>
          </a:xfrm>
          <a:prstGeom prst="ellipse">
            <a:avLst/>
          </a:prstGeom>
          <a:solidFill>
            <a:srgbClr val="A797FA"/>
          </a:solidFill>
          <a:ln/>
        </p:spPr>
      </p:sp>
      <p:sp>
        <p:nvSpPr>
          <p:cNvPr id="12" name="txt_9"/>
          <p:cNvSpPr txBox="1"/>
          <p:nvPr/>
        </p:nvSpPr>
        <p:spPr>
          <a:xfrm>
            <a:off x="7040880" y="1892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addressable market</a:t>
            </a:r>
            <a:endParaRPr lang="en-US" sz="1600" dirty="0"/>
          </a:p>
        </p:txBody>
      </p:sp>
      <p:sp>
        <p:nvSpPr>
          <p:cNvPr id="13" name="txt_10"/>
          <p:cNvSpPr txBox="1"/>
          <p:nvPr/>
        </p:nvSpPr>
        <p:spPr>
          <a:xfrm>
            <a:off x="10058400" y="1865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$48B</a:t>
            </a:r>
            <a:endParaRPr lang="en-US" sz="2000" dirty="0"/>
          </a:p>
        </p:txBody>
      </p:sp>
      <p:sp>
        <p:nvSpPr>
          <p:cNvPr id="14" name="txt_11"/>
          <p:cNvSpPr txBox="1"/>
          <p:nvPr/>
        </p:nvSpPr>
        <p:spPr>
          <a:xfrm>
            <a:off x="7040880" y="2286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workflow, data and managed platform spend across all regions (2026).</a:t>
            </a:r>
            <a:endParaRPr lang="en-US" sz="1300" dirty="0"/>
          </a:p>
        </p:txBody>
      </p:sp>
      <p:sp>
        <p:nvSpPr>
          <p:cNvPr id="15" name="card_12"/>
          <p:cNvSpPr/>
          <p:nvPr/>
        </p:nvSpPr>
        <p:spPr>
          <a:xfrm>
            <a:off x="6400800" y="3172968"/>
            <a:ext cx="5239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6" name="dot_13"/>
          <p:cNvSpPr/>
          <p:nvPr/>
        </p:nvSpPr>
        <p:spPr>
          <a:xfrm>
            <a:off x="6675120" y="3474720"/>
            <a:ext cx="201168" cy="201168"/>
          </a:xfrm>
          <a:prstGeom prst="ellipse">
            <a:avLst/>
          </a:prstGeom>
          <a:solidFill>
            <a:srgbClr val="5B3DF5"/>
          </a:solidFill>
          <a:ln/>
        </p:spPr>
      </p:sp>
      <p:sp>
        <p:nvSpPr>
          <p:cNvPr id="17" name="txt_14"/>
          <p:cNvSpPr txBox="1"/>
          <p:nvPr/>
        </p:nvSpPr>
        <p:spPr>
          <a:xfrm>
            <a:off x="7040880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Serviceable available market</a:t>
            </a:r>
            <a:endParaRPr lang="en-US" sz="1600" dirty="0"/>
          </a:p>
        </p:txBody>
      </p:sp>
      <p:sp>
        <p:nvSpPr>
          <p:cNvPr id="18" name="txt_15"/>
          <p:cNvSpPr txBox="1"/>
          <p:nvPr/>
        </p:nvSpPr>
        <p:spPr>
          <a:xfrm>
            <a:off x="10058400" y="33741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$14.2B</a:t>
            </a:r>
            <a:endParaRPr lang="en-US" sz="2000" dirty="0"/>
          </a:p>
        </p:txBody>
      </p:sp>
      <p:sp>
        <p:nvSpPr>
          <p:cNvPr id="19" name="txt_16"/>
          <p:cNvSpPr txBox="1"/>
          <p:nvPr/>
        </p:nvSpPr>
        <p:spPr>
          <a:xfrm>
            <a:off x="704088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and enterprise buyers in our 23 active countries.</a:t>
            </a:r>
            <a:endParaRPr lang="en-US" sz="1300" dirty="0"/>
          </a:p>
        </p:txBody>
      </p:sp>
      <p:sp>
        <p:nvSpPr>
          <p:cNvPr id="20" name="card_17"/>
          <p:cNvSpPr/>
          <p:nvPr/>
        </p:nvSpPr>
        <p:spPr>
          <a:xfrm>
            <a:off x="6400800" y="4681728"/>
            <a:ext cx="5239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1" name="dot_18"/>
          <p:cNvSpPr/>
          <p:nvPr/>
        </p:nvSpPr>
        <p:spPr>
          <a:xfrm>
            <a:off x="6675120" y="4983480"/>
            <a:ext cx="201168" cy="201168"/>
          </a:xfrm>
          <a:prstGeom prst="ellipse">
            <a:avLst/>
          </a:prstGeom>
          <a:solidFill>
            <a:srgbClr val="FF5A4E"/>
          </a:solidFill>
          <a:ln/>
        </p:spPr>
      </p:sp>
      <p:sp>
        <p:nvSpPr>
          <p:cNvPr id="22" name="txt_19"/>
          <p:cNvSpPr txBox="1"/>
          <p:nvPr/>
        </p:nvSpPr>
        <p:spPr>
          <a:xfrm>
            <a:off x="7040880" y="4910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by FY2029</a:t>
            </a:r>
            <a:endParaRPr lang="en-US" sz="1600" dirty="0"/>
          </a:p>
        </p:txBody>
      </p:sp>
      <p:sp>
        <p:nvSpPr>
          <p:cNvPr id="23" name="txt_20"/>
          <p:cNvSpPr txBox="1"/>
          <p:nvPr/>
        </p:nvSpPr>
        <p:spPr>
          <a:xfrm>
            <a:off x="10058400" y="48828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$1.2B</a:t>
            </a:r>
            <a:endParaRPr lang="en-US" sz="2000" dirty="0"/>
          </a:p>
        </p:txBody>
      </p:sp>
      <p:sp>
        <p:nvSpPr>
          <p:cNvPr id="24" name="txt_21"/>
          <p:cNvSpPr txBox="1"/>
          <p:nvPr/>
        </p:nvSpPr>
        <p:spPr>
          <a:xfrm>
            <a:off x="7040880" y="5303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revenue goal — 8.3% of today's SAM, up from 5.4%.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8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growing almost twice as fast as the market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index (FY22 = 100)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revenue vs addressable market spend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7223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8321040" y="1572768"/>
            <a:ext cx="3319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8549640" y="1755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REVENUE CAGR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8549640" y="2011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17.0%</a:t>
            </a:r>
            <a:endParaRPr lang="en-US" sz="3000" dirty="0"/>
          </a:p>
        </p:txBody>
      </p:sp>
      <p:sp>
        <p:nvSpPr>
          <p:cNvPr id="11" name="txt_8"/>
          <p:cNvSpPr txBox="1"/>
          <p:nvPr/>
        </p:nvSpPr>
        <p:spPr>
          <a:xfrm>
            <a:off x="8549640" y="25786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FY22–FY26</a:t>
            </a:r>
            <a:endParaRPr lang="en-US" sz="1200" dirty="0"/>
          </a:p>
        </p:txBody>
      </p:sp>
      <p:sp>
        <p:nvSpPr>
          <p:cNvPr id="12" name="card_9"/>
          <p:cNvSpPr/>
          <p:nvPr/>
        </p:nvSpPr>
        <p:spPr>
          <a:xfrm>
            <a:off x="8321040" y="3172968"/>
            <a:ext cx="331927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txt_10"/>
          <p:cNvSpPr txBox="1"/>
          <p:nvPr/>
        </p:nvSpPr>
        <p:spPr>
          <a:xfrm>
            <a:off x="8549640" y="33558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CAGR</a:t>
            </a:r>
            <a:endParaRPr lang="en-US" sz="1100" dirty="0"/>
          </a:p>
        </p:txBody>
      </p:sp>
      <p:sp>
        <p:nvSpPr>
          <p:cNvPr id="14" name="txt_11"/>
          <p:cNvSpPr txBox="1"/>
          <p:nvPr/>
        </p:nvSpPr>
        <p:spPr>
          <a:xfrm>
            <a:off x="8549640" y="36118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9.0%</a:t>
            </a:r>
            <a:endParaRPr lang="en-US" sz="3000" dirty="0"/>
          </a:p>
        </p:txBody>
      </p:sp>
      <p:sp>
        <p:nvSpPr>
          <p:cNvPr id="15" name="txt_12"/>
          <p:cNvSpPr txBox="1"/>
          <p:nvPr/>
        </p:nvSpPr>
        <p:spPr>
          <a:xfrm>
            <a:off x="8549640" y="41788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FY22–FY26</a:t>
            </a:r>
            <a:endParaRPr lang="en-US" sz="1200" dirty="0"/>
          </a:p>
        </p:txBody>
      </p:sp>
      <p:sp>
        <p:nvSpPr>
          <p:cNvPr id="16" name="card_13"/>
          <p:cNvSpPr/>
          <p:nvPr/>
        </p:nvSpPr>
        <p:spPr>
          <a:xfrm>
            <a:off x="8321040" y="4773168"/>
            <a:ext cx="3319272" cy="1371600"/>
          </a:xfrm>
          <a:prstGeom prst="roundRect">
            <a:avLst>
              <a:gd name="adj" fmla="val 6667"/>
            </a:avLst>
          </a:prstGeom>
          <a:solidFill>
            <a:srgbClr val="ECE8FE"/>
          </a:solidFill>
          <a:ln/>
        </p:spPr>
      </p:sp>
      <p:sp>
        <p:nvSpPr>
          <p:cNvPr id="17" name="txt_14"/>
          <p:cNvSpPr txBox="1"/>
          <p:nvPr/>
        </p:nvSpPr>
        <p:spPr>
          <a:xfrm>
            <a:off x="8595360" y="5029200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gain</a:t>
            </a:r>
            <a:endParaRPr lang="en-US" sz="1600" dirty="0"/>
          </a:p>
        </p:txBody>
      </p:sp>
      <p:sp>
        <p:nvSpPr>
          <p:cNvPr id="18" name="txt_15"/>
          <p:cNvSpPr txBox="1"/>
          <p:nvPr/>
        </p:nvSpPr>
        <p:spPr>
          <a:xfrm>
            <a:off x="8595360" y="54864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share up from 4.1% to 5.4%.</a:t>
            </a:r>
            <a:endParaRPr lang="en-US" sz="14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3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8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3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combine scale with above-market growth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vs revenue growth, FY26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share of SAM (%)   ·   y: revenue growth (%)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7223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8321040" y="1572768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dot_6"/>
          <p:cNvSpPr/>
          <p:nvPr/>
        </p:nvSpPr>
        <p:spPr>
          <a:xfrm>
            <a:off x="8549640" y="1847088"/>
            <a:ext cx="182880" cy="182880"/>
          </a:xfrm>
          <a:prstGeom prst="ellipse">
            <a:avLst/>
          </a:prstGeom>
          <a:solidFill>
            <a:srgbClr val="A797FA"/>
          </a:solidFill>
          <a:ln/>
        </p:spPr>
      </p:sp>
      <p:sp>
        <p:nvSpPr>
          <p:cNvPr id="10" name="txt_7"/>
          <p:cNvSpPr txBox="1"/>
          <p:nvPr/>
        </p:nvSpPr>
        <p:spPr>
          <a:xfrm>
            <a:off x="8869680" y="17739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leaders</a:t>
            </a:r>
            <a:endParaRPr lang="en-US" sz="1600" dirty="0"/>
          </a:p>
        </p:txBody>
      </p:sp>
      <p:sp>
        <p:nvSpPr>
          <p:cNvPr id="11" name="txt_8"/>
          <p:cNvSpPr txBox="1"/>
          <p:nvPr/>
        </p:nvSpPr>
        <p:spPr>
          <a:xfrm>
            <a:off x="8549640" y="21671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hold share but grow below the 9% market rate.</a:t>
            </a:r>
            <a:endParaRPr lang="en-US" sz="1300" dirty="0"/>
          </a:p>
        </p:txBody>
      </p:sp>
      <p:sp>
        <p:nvSpPr>
          <p:cNvPr id="12" name="card_9"/>
          <p:cNvSpPr/>
          <p:nvPr/>
        </p:nvSpPr>
        <p:spPr>
          <a:xfrm>
            <a:off x="8321040" y="3145536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dot_10"/>
          <p:cNvSpPr/>
          <p:nvPr/>
        </p:nvSpPr>
        <p:spPr>
          <a:xfrm>
            <a:off x="8549640" y="3419856"/>
            <a:ext cx="182880" cy="182880"/>
          </a:xfrm>
          <a:prstGeom prst="ellipse">
            <a:avLst/>
          </a:prstGeom>
          <a:solidFill>
            <a:srgbClr val="FF5A4E"/>
          </a:solidFill>
          <a:ln/>
        </p:spPr>
      </p:sp>
      <p:sp>
        <p:nvSpPr>
          <p:cNvPr id="14" name="txt_11"/>
          <p:cNvSpPr txBox="1"/>
          <p:nvPr/>
        </p:nvSpPr>
        <p:spPr>
          <a:xfrm>
            <a:off x="8869680" y="3346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Challengers</a:t>
            </a:r>
            <a:endParaRPr lang="en-US" sz="1600" dirty="0"/>
          </a:p>
        </p:txBody>
      </p:sp>
      <p:sp>
        <p:nvSpPr>
          <p:cNvPr id="15" name="txt_12"/>
          <p:cNvSpPr txBox="1"/>
          <p:nvPr/>
        </p:nvSpPr>
        <p:spPr>
          <a:xfrm>
            <a:off x="8549640" y="373989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grows fastest from a small base; watch its mid-market push.</a:t>
            </a:r>
            <a:endParaRPr lang="en-US" sz="1300" dirty="0"/>
          </a:p>
        </p:txBody>
      </p:sp>
      <p:sp>
        <p:nvSpPr>
          <p:cNvPr id="16" name="card_13"/>
          <p:cNvSpPr/>
          <p:nvPr/>
        </p:nvSpPr>
        <p:spPr>
          <a:xfrm>
            <a:off x="8321040" y="4718304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dot_14"/>
          <p:cNvSpPr/>
          <p:nvPr/>
        </p:nvSpPr>
        <p:spPr>
          <a:xfrm>
            <a:off x="8549640" y="4992624"/>
            <a:ext cx="182880" cy="182880"/>
          </a:xfrm>
          <a:prstGeom prst="ellipse">
            <a:avLst/>
          </a:prstGeom>
          <a:solidFill>
            <a:srgbClr val="5B3DF5"/>
          </a:solidFill>
          <a:ln/>
        </p:spPr>
      </p:sp>
      <p:sp>
        <p:nvSpPr>
          <p:cNvPr id="18" name="txt_15"/>
          <p:cNvSpPr txBox="1"/>
          <p:nvPr/>
        </p:nvSpPr>
        <p:spPr>
          <a:xfrm>
            <a:off x="8869680" y="49194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position</a:t>
            </a:r>
            <a:endParaRPr lang="en-US" sz="1600" dirty="0"/>
          </a:p>
        </p:txBody>
      </p:sp>
      <p:sp>
        <p:nvSpPr>
          <p:cNvPr id="19" name="txt_16"/>
          <p:cNvSpPr txBox="1"/>
          <p:nvPr/>
        </p:nvSpPr>
        <p:spPr>
          <a:xfrm>
            <a:off x="8549640" y="531266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player above 5% share growing faster than 15%.</a:t>
            </a:r>
            <a:endParaRPr lang="en-US" sz="13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 five players hold under a third of the market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graphicFrame>
        <p:nvGraphicFramePr>
          <p:cNvPr id="5" name="chart_2" descr=""/>
          <p:cNvGraphicFramePr/>
          <p:nvPr/>
        </p:nvGraphicFramePr>
        <p:xfrm>
          <a:off x="822960" y="1847088"/>
          <a:ext cx="4572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xt_3"/>
          <p:cNvSpPr txBox="1"/>
          <p:nvPr/>
        </p:nvSpPr>
        <p:spPr>
          <a:xfrm>
            <a:off x="2194560" y="340156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29.5%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by top five</a:t>
            </a:r>
            <a:endParaRPr lang="en-US" sz="1400" dirty="0"/>
          </a:p>
        </p:txBody>
      </p:sp>
      <p:sp>
        <p:nvSpPr>
          <p:cNvPr id="7" name="rect_4"/>
          <p:cNvSpPr/>
          <p:nvPr/>
        </p:nvSpPr>
        <p:spPr>
          <a:xfrm>
            <a:off x="6035040" y="17373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A797FA"/>
          </a:solidFill>
          <a:ln/>
        </p:spPr>
      </p:sp>
      <p:sp>
        <p:nvSpPr>
          <p:cNvPr id="8" name="txt_5"/>
          <p:cNvSpPr txBox="1"/>
          <p:nvPr/>
        </p:nvSpPr>
        <p:spPr>
          <a:xfrm>
            <a:off x="6446520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</a:t>
            </a:r>
            <a:endParaRPr lang="en-US" sz="1400" dirty="0"/>
          </a:p>
        </p:txBody>
      </p:sp>
      <p:sp>
        <p:nvSpPr>
          <p:cNvPr id="9" name="txt_6"/>
          <p:cNvSpPr txBox="1"/>
          <p:nvPr/>
        </p:nvSpPr>
        <p:spPr>
          <a:xfrm>
            <a:off x="10058400" y="1719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1400" dirty="0"/>
          </a:p>
        </p:txBody>
      </p:sp>
      <p:sp>
        <p:nvSpPr>
          <p:cNvPr id="10" name="rect_7"/>
          <p:cNvSpPr/>
          <p:nvPr/>
        </p:nvSpPr>
        <p:spPr>
          <a:xfrm>
            <a:off x="6035040" y="221284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9C0FC"/>
          </a:solidFill>
          <a:ln/>
        </p:spPr>
      </p:sp>
      <p:sp>
        <p:nvSpPr>
          <p:cNvPr id="11" name="txt_8"/>
          <p:cNvSpPr txBox="1"/>
          <p:nvPr/>
        </p:nvSpPr>
        <p:spPr>
          <a:xfrm>
            <a:off x="6446520" y="2194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</a:t>
            </a:r>
            <a:endParaRPr lang="en-US" sz="1400" dirty="0"/>
          </a:p>
        </p:txBody>
      </p:sp>
      <p:sp>
        <p:nvSpPr>
          <p:cNvPr id="12" name="txt_9"/>
          <p:cNvSpPr txBox="1"/>
          <p:nvPr/>
        </p:nvSpPr>
        <p:spPr>
          <a:xfrm>
            <a:off x="10058400" y="2194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1400" dirty="0"/>
          </a:p>
        </p:txBody>
      </p:sp>
      <p:sp>
        <p:nvSpPr>
          <p:cNvPr id="13" name="rect_10"/>
          <p:cNvSpPr/>
          <p:nvPr/>
        </p:nvSpPr>
        <p:spPr>
          <a:xfrm>
            <a:off x="6035040" y="26883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5B3DF5"/>
          </a:solidFill>
          <a:ln/>
        </p:spPr>
      </p:sp>
      <p:sp>
        <p:nvSpPr>
          <p:cNvPr id="14" name="txt_11"/>
          <p:cNvSpPr txBox="1"/>
          <p:nvPr/>
        </p:nvSpPr>
        <p:spPr>
          <a:xfrm>
            <a:off x="6446520" y="2670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400" dirty="0"/>
          </a:p>
        </p:txBody>
      </p:sp>
      <p:sp>
        <p:nvSpPr>
          <p:cNvPr id="15" name="txt_12"/>
          <p:cNvSpPr txBox="1"/>
          <p:nvPr/>
        </p:nvSpPr>
        <p:spPr>
          <a:xfrm>
            <a:off x="10058400" y="2670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1400" dirty="0"/>
          </a:p>
        </p:txBody>
      </p:sp>
      <p:sp>
        <p:nvSpPr>
          <p:cNvPr id="16" name="rect_13"/>
          <p:cNvSpPr/>
          <p:nvPr/>
        </p:nvSpPr>
        <p:spPr>
          <a:xfrm>
            <a:off x="6035040" y="316382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B5A5"/>
          </a:solidFill>
          <a:ln/>
        </p:spPr>
      </p:sp>
      <p:sp>
        <p:nvSpPr>
          <p:cNvPr id="17" name="txt_14"/>
          <p:cNvSpPr txBox="1"/>
          <p:nvPr/>
        </p:nvSpPr>
        <p:spPr>
          <a:xfrm>
            <a:off x="6446520" y="31455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</a:t>
            </a:r>
            <a:endParaRPr lang="en-US" sz="1400" dirty="0"/>
          </a:p>
        </p:txBody>
      </p:sp>
      <p:sp>
        <p:nvSpPr>
          <p:cNvPr id="18" name="txt_15"/>
          <p:cNvSpPr txBox="1"/>
          <p:nvPr/>
        </p:nvSpPr>
        <p:spPr>
          <a:xfrm>
            <a:off x="10058400" y="3145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1400" dirty="0"/>
          </a:p>
        </p:txBody>
      </p:sp>
      <p:sp>
        <p:nvSpPr>
          <p:cNvPr id="19" name="rect_16"/>
          <p:cNvSpPr/>
          <p:nvPr/>
        </p:nvSpPr>
        <p:spPr>
          <a:xfrm>
            <a:off x="6035040" y="363931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B224"/>
          </a:solidFill>
          <a:ln/>
        </p:spPr>
      </p:sp>
      <p:sp>
        <p:nvSpPr>
          <p:cNvPr id="20" name="txt_17"/>
          <p:cNvSpPr txBox="1"/>
          <p:nvPr/>
        </p:nvSpPr>
        <p:spPr>
          <a:xfrm>
            <a:off x="6446520" y="3621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</a:t>
            </a:r>
            <a:endParaRPr lang="en-US" sz="1400" dirty="0"/>
          </a:p>
        </p:txBody>
      </p:sp>
      <p:sp>
        <p:nvSpPr>
          <p:cNvPr id="21" name="txt_18"/>
          <p:cNvSpPr txBox="1"/>
          <p:nvPr/>
        </p:nvSpPr>
        <p:spPr>
          <a:xfrm>
            <a:off x="10058400" y="3621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400" dirty="0"/>
          </a:p>
        </p:txBody>
      </p:sp>
      <p:sp>
        <p:nvSpPr>
          <p:cNvPr id="22" name="rect_19"/>
          <p:cNvSpPr/>
          <p:nvPr/>
        </p:nvSpPr>
        <p:spPr>
          <a:xfrm>
            <a:off x="6035040" y="41148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9C6DE"/>
          </a:solidFill>
          <a:ln/>
        </p:spPr>
      </p:sp>
      <p:sp>
        <p:nvSpPr>
          <p:cNvPr id="23" name="txt_20"/>
          <p:cNvSpPr txBox="1"/>
          <p:nvPr/>
        </p:nvSpPr>
        <p:spPr>
          <a:xfrm>
            <a:off x="6446520" y="40965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(40+ vendors)</a:t>
            </a:r>
            <a:endParaRPr lang="en-US" sz="1400" dirty="0"/>
          </a:p>
        </p:txBody>
      </p:sp>
      <p:sp>
        <p:nvSpPr>
          <p:cNvPr id="24" name="txt_21"/>
          <p:cNvSpPr txBox="1"/>
          <p:nvPr/>
        </p:nvSpPr>
        <p:spPr>
          <a:xfrm>
            <a:off x="10058400" y="40965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</a:t>
            </a:r>
            <a:endParaRPr lang="en-US" sz="1400" dirty="0"/>
          </a:p>
        </p:txBody>
      </p:sp>
      <p:sp>
        <p:nvSpPr>
          <p:cNvPr id="25" name="card_22"/>
          <p:cNvSpPr/>
          <p:nvPr/>
        </p:nvSpPr>
        <p:spPr>
          <a:xfrm>
            <a:off x="6035040" y="4636008"/>
            <a:ext cx="5605272" cy="1508760"/>
          </a:xfrm>
          <a:prstGeom prst="roundRect">
            <a:avLst>
              <a:gd name="adj" fmla="val 6061"/>
            </a:avLst>
          </a:prstGeom>
          <a:solidFill>
            <a:srgbClr val="ECE8FE"/>
          </a:solidFill>
          <a:ln/>
        </p:spPr>
      </p:sp>
      <p:sp>
        <p:nvSpPr>
          <p:cNvPr id="26" name="txt_23"/>
          <p:cNvSpPr txBox="1"/>
          <p:nvPr/>
        </p:nvSpPr>
        <p:spPr>
          <a:xfrm>
            <a:off x="6309360" y="4892040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 opportunity</a:t>
            </a:r>
            <a:endParaRPr lang="en-US" sz="1600" dirty="0"/>
          </a:p>
        </p:txBody>
      </p:sp>
      <p:sp>
        <p:nvSpPr>
          <p:cNvPr id="27" name="txt_24"/>
          <p:cNvSpPr txBox="1"/>
          <p:nvPr/>
        </p:nvSpPr>
        <p:spPr>
          <a:xfrm>
            <a:off x="6309360" y="5349240"/>
            <a:ext cx="5056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subscale vendors make targeted acquisitions a credible lever.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8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Graphic spid="5" grpId="0">
        <p:bldAsOne/>
      </p:bldGraphic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 prioritise automation and security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2237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buyers ranking each factor in their top three, %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buyer survey, n = 640 decision-makers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8046720" y="1572768"/>
            <a:ext cx="359359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icbg_6"/>
          <p:cNvSpPr/>
          <p:nvPr/>
        </p:nvSpPr>
        <p:spPr>
          <a:xfrm>
            <a:off x="8275320" y="1801368"/>
            <a:ext cx="475488" cy="475488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0" name="ic_7" descr="Za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2" y="1920240"/>
            <a:ext cx="237744" cy="237744"/>
          </a:xfrm>
          <a:prstGeom prst="rect">
            <a:avLst/>
          </a:prstGeom>
        </p:spPr>
      </p:pic>
      <p:sp>
        <p:nvSpPr>
          <p:cNvPr id="11" name="txt_8"/>
          <p:cNvSpPr txBox="1"/>
          <p:nvPr/>
        </p:nvSpPr>
        <p:spPr>
          <a:xfrm>
            <a:off x="8915400" y="17922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leads</a:t>
            </a:r>
            <a:endParaRPr lang="en-US" sz="1500" dirty="0"/>
          </a:p>
        </p:txBody>
      </p:sp>
      <p:sp>
        <p:nvSpPr>
          <p:cNvPr id="12" name="txt_9"/>
          <p:cNvSpPr txBox="1"/>
          <p:nvPr/>
        </p:nvSpPr>
        <p:spPr>
          <a:xfrm>
            <a:off x="8915400" y="213969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workflow engine maps directly to the #1 buying criterion.</a:t>
            </a:r>
            <a:endParaRPr lang="en-US" sz="1300" dirty="0"/>
          </a:p>
        </p:txBody>
      </p:sp>
      <p:sp>
        <p:nvSpPr>
          <p:cNvPr id="13" name="card_10"/>
          <p:cNvSpPr/>
          <p:nvPr/>
        </p:nvSpPr>
        <p:spPr>
          <a:xfrm>
            <a:off x="8046720" y="3145536"/>
            <a:ext cx="359359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icbg_11"/>
          <p:cNvSpPr/>
          <p:nvPr/>
        </p:nvSpPr>
        <p:spPr>
          <a:xfrm>
            <a:off x="8275320" y="3374136"/>
            <a:ext cx="475488" cy="475488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5" name="ic_12" descr="Shield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3493008"/>
            <a:ext cx="237744" cy="237744"/>
          </a:xfrm>
          <a:prstGeom prst="rect">
            <a:avLst/>
          </a:prstGeom>
        </p:spPr>
      </p:pic>
      <p:sp>
        <p:nvSpPr>
          <p:cNvPr id="16" name="txt_13"/>
          <p:cNvSpPr txBox="1"/>
          <p:nvPr/>
        </p:nvSpPr>
        <p:spPr>
          <a:xfrm>
            <a:off x="8915400" y="3364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table stakes</a:t>
            </a:r>
            <a:endParaRPr lang="en-US" sz="1500" dirty="0"/>
          </a:p>
        </p:txBody>
      </p:sp>
      <p:sp>
        <p:nvSpPr>
          <p:cNvPr id="17" name="txt_14"/>
          <p:cNvSpPr txBox="1"/>
          <p:nvPr/>
        </p:nvSpPr>
        <p:spPr>
          <a:xfrm>
            <a:off x="8915400" y="371246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should feature in every proposal, not only in procurement.</a:t>
            </a:r>
            <a:endParaRPr lang="en-US" sz="1300" dirty="0"/>
          </a:p>
        </p:txBody>
      </p:sp>
      <p:sp>
        <p:nvSpPr>
          <p:cNvPr id="18" name="card_15"/>
          <p:cNvSpPr/>
          <p:nvPr/>
        </p:nvSpPr>
        <p:spPr>
          <a:xfrm>
            <a:off x="8046720" y="4718304"/>
            <a:ext cx="359359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9" name="icbg_16"/>
          <p:cNvSpPr/>
          <p:nvPr/>
        </p:nvSpPr>
        <p:spPr>
          <a:xfrm>
            <a:off x="8275320" y="4946904"/>
            <a:ext cx="475488" cy="475488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20" name="ic_17" descr="Lay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5065776"/>
            <a:ext cx="237744" cy="237744"/>
          </a:xfrm>
          <a:prstGeom prst="rect">
            <a:avLst/>
          </a:prstGeom>
        </p:spPr>
      </p:pic>
      <p:sp>
        <p:nvSpPr>
          <p:cNvPr id="21" name="txt_18"/>
          <p:cNvSpPr txBox="1"/>
          <p:nvPr/>
        </p:nvSpPr>
        <p:spPr>
          <a:xfrm>
            <a:off x="8915400" y="4937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decides deals</a:t>
            </a:r>
            <a:endParaRPr lang="en-US" sz="1500" dirty="0"/>
          </a:p>
        </p:txBody>
      </p:sp>
      <p:sp>
        <p:nvSpPr>
          <p:cNvPr id="22" name="txt_19"/>
          <p:cNvSpPr txBox="1"/>
          <p:nvPr/>
        </p:nvSpPr>
        <p:spPr>
          <a:xfrm>
            <a:off x="8915400" y="52852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connectors shorten evaluations by about three weeks.</a:t>
            </a:r>
            <a:endParaRPr lang="en-US" sz="13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2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shifts reshaping demand through 2029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3515258" cy="457200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icbg_2"/>
          <p:cNvSpPr/>
          <p:nvPr/>
        </p:nvSpPr>
        <p:spPr>
          <a:xfrm>
            <a:off x="822960" y="1847088"/>
            <a:ext cx="566928" cy="566928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6" name="ic_3" descr="Sparkl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988820"/>
            <a:ext cx="283464" cy="283464"/>
          </a:xfrm>
          <a:prstGeom prst="rect">
            <a:avLst/>
          </a:prstGeom>
        </p:spPr>
      </p:pic>
      <p:sp>
        <p:nvSpPr>
          <p:cNvPr id="7" name="txt_4"/>
          <p:cNvSpPr txBox="1"/>
          <p:nvPr/>
        </p:nvSpPr>
        <p:spPr>
          <a:xfrm>
            <a:off x="822960" y="25786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moves into workflows</a:t>
            </a:r>
            <a:endParaRPr lang="en-US" sz="1800" dirty="0"/>
          </a:p>
        </p:txBody>
      </p:sp>
      <p:sp>
        <p:nvSpPr>
          <p:cNvPr id="8" name="txt_5"/>
          <p:cNvSpPr txBox="1"/>
          <p:nvPr/>
        </p:nvSpPr>
        <p:spPr>
          <a:xfrm>
            <a:off x="822960" y="303580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600" dirty="0"/>
          </a:p>
        </p:txBody>
      </p:sp>
      <p:sp>
        <p:nvSpPr>
          <p:cNvPr id="9" name="txt_6"/>
          <p:cNvSpPr txBox="1"/>
          <p:nvPr/>
        </p:nvSpPr>
        <p:spPr>
          <a:xfrm>
            <a:off x="822960" y="367588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buyers plan to embed AI agents in core processes by 2028.</a:t>
            </a:r>
            <a:endParaRPr lang="en-US" sz="1300" dirty="0"/>
          </a:p>
        </p:txBody>
      </p:sp>
      <p:sp>
        <p:nvSpPr>
          <p:cNvPr id="10" name="txt_7"/>
          <p:cNvSpPr txBox="1"/>
          <p:nvPr/>
        </p:nvSpPr>
        <p:spPr>
          <a:xfrm>
            <a:off x="822960" y="4453128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Adoption, %</a:t>
            </a:r>
            <a:endParaRPr lang="en-US" sz="1100" dirty="0"/>
          </a:p>
        </p:txBody>
      </p:sp>
      <p:graphicFrame>
        <p:nvGraphicFramePr>
          <p:cNvPr id="11" name="chart_8" descr=""/>
          <p:cNvGraphicFramePr/>
          <p:nvPr/>
        </p:nvGraphicFramePr>
        <p:xfrm>
          <a:off x="731520" y="4681728"/>
          <a:ext cx="3149498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card_9"/>
          <p:cNvSpPr/>
          <p:nvPr/>
        </p:nvSpPr>
        <p:spPr>
          <a:xfrm>
            <a:off x="4338218" y="1572768"/>
            <a:ext cx="3515258" cy="457200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icbg_10"/>
          <p:cNvSpPr/>
          <p:nvPr/>
        </p:nvSpPr>
        <p:spPr>
          <a:xfrm>
            <a:off x="4612538" y="1847088"/>
            <a:ext cx="566928" cy="566928"/>
          </a:xfrm>
          <a:prstGeom prst="ellipse">
            <a:avLst/>
          </a:prstGeom>
          <a:solidFill>
            <a:srgbClr val="DCF5F2"/>
          </a:solidFill>
          <a:ln/>
        </p:spPr>
      </p:sp>
      <p:pic>
        <p:nvPicPr>
          <p:cNvPr id="14" name="ic_11" descr="RefreshCw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270" y="1988820"/>
            <a:ext cx="283464" cy="283464"/>
          </a:xfrm>
          <a:prstGeom prst="rect">
            <a:avLst/>
          </a:prstGeom>
        </p:spPr>
      </p:pic>
      <p:sp>
        <p:nvSpPr>
          <p:cNvPr id="15" name="txt_12"/>
          <p:cNvSpPr txBox="1"/>
          <p:nvPr/>
        </p:nvSpPr>
        <p:spPr>
          <a:xfrm>
            <a:off x="4612538" y="25786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Usage-based buying</a:t>
            </a:r>
            <a:endParaRPr lang="en-US" sz="1800" dirty="0"/>
          </a:p>
        </p:txBody>
      </p:sp>
      <p:sp>
        <p:nvSpPr>
          <p:cNvPr id="16" name="txt_13"/>
          <p:cNvSpPr txBox="1"/>
          <p:nvPr/>
        </p:nvSpPr>
        <p:spPr>
          <a:xfrm>
            <a:off x="4612538" y="303580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3600" dirty="0"/>
          </a:p>
        </p:txBody>
      </p:sp>
      <p:sp>
        <p:nvSpPr>
          <p:cNvPr id="17" name="txt_14"/>
          <p:cNvSpPr txBox="1"/>
          <p:nvPr/>
        </p:nvSpPr>
        <p:spPr>
          <a:xfrm>
            <a:off x="4612538" y="367588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contracts include a consumption component, up from 14% in 2023.</a:t>
            </a:r>
            <a:endParaRPr lang="en-US" sz="1300" dirty="0"/>
          </a:p>
        </p:txBody>
      </p:sp>
      <p:sp>
        <p:nvSpPr>
          <p:cNvPr id="18" name="txt_15"/>
          <p:cNvSpPr txBox="1"/>
          <p:nvPr/>
        </p:nvSpPr>
        <p:spPr>
          <a:xfrm>
            <a:off x="4612538" y="4453128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contracts, %</a:t>
            </a:r>
            <a:endParaRPr lang="en-US" sz="1100" dirty="0"/>
          </a:p>
        </p:txBody>
      </p:sp>
      <p:graphicFrame>
        <p:nvGraphicFramePr>
          <p:cNvPr id="19" name="chart_16" descr=""/>
          <p:cNvGraphicFramePr/>
          <p:nvPr/>
        </p:nvGraphicFramePr>
        <p:xfrm>
          <a:off x="4521098" y="4681728"/>
          <a:ext cx="3149498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card_17"/>
          <p:cNvSpPr/>
          <p:nvPr/>
        </p:nvSpPr>
        <p:spPr>
          <a:xfrm>
            <a:off x="8127797" y="1572768"/>
            <a:ext cx="3515258" cy="457200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1" name="icbg_18"/>
          <p:cNvSpPr/>
          <p:nvPr/>
        </p:nvSpPr>
        <p:spPr>
          <a:xfrm>
            <a:off x="8402117" y="1847088"/>
            <a:ext cx="566928" cy="566928"/>
          </a:xfrm>
          <a:prstGeom prst="ellipse">
            <a:avLst/>
          </a:prstGeom>
          <a:solidFill>
            <a:srgbClr val="FFE7E4"/>
          </a:solidFill>
          <a:ln/>
        </p:spPr>
      </p:sp>
      <p:pic>
        <p:nvPicPr>
          <p:cNvPr id="22" name="ic_19" descr="Sca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849" y="1988820"/>
            <a:ext cx="283464" cy="283464"/>
          </a:xfrm>
          <a:prstGeom prst="rect">
            <a:avLst/>
          </a:prstGeom>
        </p:spPr>
      </p:pic>
      <p:sp>
        <p:nvSpPr>
          <p:cNvPr id="23" name="txt_20"/>
          <p:cNvSpPr txBox="1"/>
          <p:nvPr/>
        </p:nvSpPr>
        <p:spPr>
          <a:xfrm>
            <a:off x="8402117" y="257860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consolidation</a:t>
            </a:r>
            <a:endParaRPr lang="en-US" sz="1800" dirty="0"/>
          </a:p>
        </p:txBody>
      </p:sp>
      <p:sp>
        <p:nvSpPr>
          <p:cNvPr id="24" name="txt_21"/>
          <p:cNvSpPr txBox="1"/>
          <p:nvPr/>
        </p:nvSpPr>
        <p:spPr>
          <a:xfrm>
            <a:off x="8402117" y="3035808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−22%</a:t>
            </a:r>
            <a:endParaRPr lang="en-US" sz="3600" dirty="0"/>
          </a:p>
        </p:txBody>
      </p:sp>
      <p:sp>
        <p:nvSpPr>
          <p:cNvPr id="25" name="txt_22"/>
          <p:cNvSpPr txBox="1"/>
          <p:nvPr/>
        </p:nvSpPr>
        <p:spPr>
          <a:xfrm>
            <a:off x="8402117" y="3675888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vendors per enterprise stack as CFOs rationalise spend.</a:t>
            </a:r>
            <a:endParaRPr lang="en-US" sz="1300" dirty="0"/>
          </a:p>
        </p:txBody>
      </p:sp>
      <p:sp>
        <p:nvSpPr>
          <p:cNvPr id="26" name="txt_23"/>
          <p:cNvSpPr txBox="1"/>
          <p:nvPr/>
        </p:nvSpPr>
        <p:spPr>
          <a:xfrm>
            <a:off x="8402117" y="4453128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per stack, index</a:t>
            </a:r>
            <a:endParaRPr lang="en-US" sz="1100" dirty="0"/>
          </a:p>
        </p:txBody>
      </p:sp>
      <p:graphicFrame>
        <p:nvGraphicFramePr>
          <p:cNvPr id="27" name="chart_24" descr=""/>
          <p:cNvGraphicFramePr/>
          <p:nvPr/>
        </p:nvGraphicFramePr>
        <p:xfrm>
          <a:off x="8310677" y="4681728"/>
          <a:ext cx="3149498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Graphic spid="11" grpId="0">
        <p:bldAsOne/>
      </p:bldGraphic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Graphic spid="19" grpId="0">
        <p:bldAsOne/>
      </p:bldGraphic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Graphic spid="27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pricing is competitive where it matters most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67665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price per seat, $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list price vs median of five peers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64922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7589520" y="1572768"/>
            <a:ext cx="405079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7818120" y="184708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−7%</a:t>
            </a:r>
            <a:endParaRPr lang="en-US" sz="2800" dirty="0"/>
          </a:p>
        </p:txBody>
      </p:sp>
      <p:sp>
        <p:nvSpPr>
          <p:cNvPr id="10" name="txt_7"/>
          <p:cNvSpPr txBox="1"/>
          <p:nvPr/>
        </p:nvSpPr>
        <p:spPr>
          <a:xfrm>
            <a:off x="9144000" y="18470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vs peers</a:t>
            </a:r>
            <a:endParaRPr lang="en-US" sz="1400" dirty="0"/>
          </a:p>
        </p:txBody>
      </p:sp>
      <p:sp>
        <p:nvSpPr>
          <p:cNvPr id="11" name="txt_8"/>
          <p:cNvSpPr txBox="1"/>
          <p:nvPr/>
        </p:nvSpPr>
        <p:spPr>
          <a:xfrm>
            <a:off x="9144000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Undercut to win SMB volume</a:t>
            </a:r>
            <a:endParaRPr lang="en-US" sz="1300" dirty="0"/>
          </a:p>
        </p:txBody>
      </p:sp>
      <p:sp>
        <p:nvSpPr>
          <p:cNvPr id="12" name="card_9"/>
          <p:cNvSpPr/>
          <p:nvPr/>
        </p:nvSpPr>
        <p:spPr>
          <a:xfrm>
            <a:off x="7589520" y="3145536"/>
            <a:ext cx="405079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txt_10"/>
          <p:cNvSpPr txBox="1"/>
          <p:nvPr/>
        </p:nvSpPr>
        <p:spPr>
          <a:xfrm>
            <a:off x="7818120" y="34198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+5%</a:t>
            </a:r>
            <a:endParaRPr lang="en-US" sz="2800" dirty="0"/>
          </a:p>
        </p:txBody>
      </p:sp>
      <p:sp>
        <p:nvSpPr>
          <p:cNvPr id="14" name="txt_11"/>
          <p:cNvSpPr txBox="1"/>
          <p:nvPr/>
        </p:nvSpPr>
        <p:spPr>
          <a:xfrm>
            <a:off x="9144000" y="341985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vs peers</a:t>
            </a:r>
            <a:endParaRPr lang="en-US" sz="1400" dirty="0"/>
          </a:p>
        </p:txBody>
      </p:sp>
      <p:sp>
        <p:nvSpPr>
          <p:cNvPr id="15" name="txt_12"/>
          <p:cNvSpPr txBox="1"/>
          <p:nvPr/>
        </p:nvSpPr>
        <p:spPr>
          <a:xfrm>
            <a:off x="9144000" y="373989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justified by automation</a:t>
            </a:r>
            <a:endParaRPr lang="en-US" sz="1300" dirty="0"/>
          </a:p>
        </p:txBody>
      </p:sp>
      <p:sp>
        <p:nvSpPr>
          <p:cNvPr id="16" name="card_13"/>
          <p:cNvSpPr/>
          <p:nvPr/>
        </p:nvSpPr>
        <p:spPr>
          <a:xfrm>
            <a:off x="7589520" y="4718304"/>
            <a:ext cx="405079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txt_14"/>
          <p:cNvSpPr txBox="1"/>
          <p:nvPr/>
        </p:nvSpPr>
        <p:spPr>
          <a:xfrm>
            <a:off x="7818120" y="499262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−6%</a:t>
            </a:r>
            <a:endParaRPr lang="en-US" sz="2800" dirty="0"/>
          </a:p>
        </p:txBody>
      </p:sp>
      <p:sp>
        <p:nvSpPr>
          <p:cNvPr id="18" name="txt_15"/>
          <p:cNvSpPr txBox="1"/>
          <p:nvPr/>
        </p:nvSpPr>
        <p:spPr>
          <a:xfrm>
            <a:off x="9144000" y="49926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vs peers</a:t>
            </a:r>
            <a:endParaRPr lang="en-US" sz="1400" dirty="0"/>
          </a:p>
        </p:txBody>
      </p:sp>
      <p:sp>
        <p:nvSpPr>
          <p:cNvPr id="19" name="txt_16"/>
          <p:cNvSpPr txBox="1"/>
          <p:nvPr/>
        </p:nvSpPr>
        <p:spPr>
          <a:xfrm>
            <a:off x="9144000" y="531266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for a value-based uplift</a:t>
            </a:r>
            <a:endParaRPr lang="en-US" sz="13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3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&amp; Sales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healthier funnel, stronger retention and loyal customers.</a:t>
            </a:r>
            <a:endParaRPr lang="en-US" sz="16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and channel performance</a:t>
            </a:r>
            <a:endParaRPr lang="en-US" sz="1300" dirty="0"/>
          </a:p>
        </p:txBody>
      </p:sp>
      <p:sp>
        <p:nvSpPr>
          <p:cNvPr id="6" name="txt_2"/>
          <p:cNvSpPr txBox="1"/>
          <p:nvPr/>
        </p:nvSpPr>
        <p:spPr>
          <a:xfrm>
            <a:off x="32918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and satisfaction</a:t>
            </a:r>
            <a:endParaRPr lang="en-US" sz="1300" dirty="0"/>
          </a:p>
        </p:txBody>
      </p:sp>
      <p:sp>
        <p:nvSpPr>
          <p:cNvPr id="7" name="txt_3"/>
          <p:cNvSpPr txBox="1"/>
          <p:nvPr/>
        </p:nvSpPr>
        <p:spPr>
          <a:xfrm>
            <a:off x="60350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and team results</a:t>
            </a:r>
            <a:endParaRPr lang="en-US" sz="1300" dirty="0"/>
          </a:p>
        </p:txBody>
      </p:sp>
      <p:sp>
        <p:nvSpPr>
          <p:cNvPr id="8" name="icbg_4"/>
          <p:cNvSpPr/>
          <p:nvPr/>
        </p:nvSpPr>
        <p:spPr>
          <a:xfrm>
            <a:off x="9921240" y="2194560"/>
            <a:ext cx="1463040" cy="1463040"/>
          </a:xfrm>
          <a:prstGeom prst="ellipse">
            <a:avLst/>
          </a:prstGeom>
          <a:solidFill>
            <a:srgbClr val="5B3DF5"/>
          </a:solidFill>
          <a:ln/>
        </p:spPr>
      </p:sp>
      <p:pic>
        <p:nvPicPr>
          <p:cNvPr id="9" name="ic_5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0"/>
            <a:ext cx="731520" cy="731520"/>
          </a:xfrm>
          <a:prstGeom prst="rect">
            <a:avLst/>
          </a:prstGeom>
        </p:spPr>
      </p:pic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5" grpId="0" animBg="1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18,400 leads to 389 new customers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2237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sales funnel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width on a square-root scale; labels show actual counts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xt_5"/>
          <p:cNvSpPr txBox="1"/>
          <p:nvPr/>
        </p:nvSpPr>
        <p:spPr>
          <a:xfrm>
            <a:off x="2560320" y="24414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18,400</a:t>
            </a:r>
            <a:endParaRPr lang="en-US" sz="1500" dirty="0"/>
          </a:p>
        </p:txBody>
      </p:sp>
      <p:sp>
        <p:nvSpPr>
          <p:cNvPr id="9" name="txt_6"/>
          <p:cNvSpPr txBox="1"/>
          <p:nvPr/>
        </p:nvSpPr>
        <p:spPr>
          <a:xfrm>
            <a:off x="2560320" y="31638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7,360</a:t>
            </a:r>
            <a:endParaRPr lang="en-US" sz="1500" dirty="0"/>
          </a:p>
        </p:txBody>
      </p:sp>
      <p:sp>
        <p:nvSpPr>
          <p:cNvPr id="10" name="txt_7"/>
          <p:cNvSpPr txBox="1"/>
          <p:nvPr/>
        </p:nvSpPr>
        <p:spPr>
          <a:xfrm>
            <a:off x="2560320" y="3886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2,944</a:t>
            </a:r>
            <a:endParaRPr lang="en-US" sz="1500" dirty="0"/>
          </a:p>
        </p:txBody>
      </p:sp>
      <p:sp>
        <p:nvSpPr>
          <p:cNvPr id="11" name="txt_8"/>
          <p:cNvSpPr txBox="1"/>
          <p:nvPr/>
        </p:nvSpPr>
        <p:spPr>
          <a:xfrm>
            <a:off x="2560320" y="46085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1,178</a:t>
            </a:r>
            <a:endParaRPr lang="en-US" sz="1500" dirty="0"/>
          </a:p>
        </p:txBody>
      </p:sp>
      <p:sp>
        <p:nvSpPr>
          <p:cNvPr id="12" name="txt_9"/>
          <p:cNvSpPr txBox="1"/>
          <p:nvPr/>
        </p:nvSpPr>
        <p:spPr>
          <a:xfrm>
            <a:off x="2560320" y="5330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</a:t>
            </a:r>
            <a:endParaRPr lang="en-US" sz="1500" dirty="0"/>
          </a:p>
        </p:txBody>
      </p:sp>
      <p:sp>
        <p:nvSpPr>
          <p:cNvPr id="13" name="card_10"/>
          <p:cNvSpPr/>
          <p:nvPr/>
        </p:nvSpPr>
        <p:spPr>
          <a:xfrm>
            <a:off x="8046720" y="1572768"/>
            <a:ext cx="3593592" cy="45720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txt_11"/>
          <p:cNvSpPr txBox="1"/>
          <p:nvPr/>
        </p:nvSpPr>
        <p:spPr>
          <a:xfrm>
            <a:off x="8321040" y="17739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conversion</a:t>
            </a:r>
            <a:endParaRPr lang="en-US" sz="1500" dirty="0"/>
          </a:p>
        </p:txBody>
      </p:sp>
      <p:sp>
        <p:nvSpPr>
          <p:cNvPr id="15" name="txt_12"/>
          <p:cNvSpPr txBox="1"/>
          <p:nvPr/>
        </p:nvSpPr>
        <p:spPr>
          <a:xfrm>
            <a:off x="8321040" y="22585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16" name="txt_13"/>
          <p:cNvSpPr txBox="1"/>
          <p:nvPr/>
        </p:nvSpPr>
        <p:spPr>
          <a:xfrm>
            <a:off x="9555480" y="23500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MQL</a:t>
            </a:r>
            <a:endParaRPr lang="en-US" sz="1300" dirty="0"/>
          </a:p>
        </p:txBody>
      </p:sp>
      <p:sp>
        <p:nvSpPr>
          <p:cNvPr id="17" name="txt_14"/>
          <p:cNvSpPr txBox="1"/>
          <p:nvPr/>
        </p:nvSpPr>
        <p:spPr>
          <a:xfrm>
            <a:off x="8321040" y="31272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18" name="txt_15"/>
          <p:cNvSpPr txBox="1"/>
          <p:nvPr/>
        </p:nvSpPr>
        <p:spPr>
          <a:xfrm>
            <a:off x="9555480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 → SQL</a:t>
            </a:r>
            <a:endParaRPr lang="en-US" sz="1300" dirty="0"/>
          </a:p>
        </p:txBody>
      </p:sp>
      <p:sp>
        <p:nvSpPr>
          <p:cNvPr id="19" name="txt_16"/>
          <p:cNvSpPr txBox="1"/>
          <p:nvPr/>
        </p:nvSpPr>
        <p:spPr>
          <a:xfrm>
            <a:off x="8321040" y="39959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20" name="txt_17"/>
          <p:cNvSpPr txBox="1"/>
          <p:nvPr/>
        </p:nvSpPr>
        <p:spPr>
          <a:xfrm>
            <a:off x="9555480" y="4087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→ Opportunity</a:t>
            </a:r>
            <a:endParaRPr lang="en-US" sz="1300" dirty="0"/>
          </a:p>
        </p:txBody>
      </p:sp>
      <p:sp>
        <p:nvSpPr>
          <p:cNvPr id="21" name="txt_18"/>
          <p:cNvSpPr txBox="1"/>
          <p:nvPr/>
        </p:nvSpPr>
        <p:spPr>
          <a:xfrm>
            <a:off x="8321040" y="48646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2600" dirty="0"/>
          </a:p>
        </p:txBody>
      </p:sp>
      <p:sp>
        <p:nvSpPr>
          <p:cNvPr id="22" name="txt_19"/>
          <p:cNvSpPr txBox="1"/>
          <p:nvPr/>
        </p:nvSpPr>
        <p:spPr>
          <a:xfrm>
            <a:off x="9555480" y="4956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→ Win</a:t>
            </a:r>
            <a:endParaRPr lang="en-US" sz="1300" dirty="0"/>
          </a:p>
        </p:txBody>
      </p:sp>
      <p:sp>
        <p:nvSpPr>
          <p:cNvPr id="23" name="txt_20"/>
          <p:cNvSpPr txBox="1"/>
          <p:nvPr/>
        </p:nvSpPr>
        <p:spPr>
          <a:xfrm>
            <a:off x="8321040" y="5687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Lead-to-customer conversion: 2.1%</a:t>
            </a:r>
            <a:endParaRPr lang="en-US" sz="13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3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4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self-serve is the fastest-growing channel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8638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by channel, FY26, $M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FY26 revenue: $772M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7589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8686800" y="1572768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8915400" y="1755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8915400" y="201168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$421M</a:t>
            </a:r>
            <a:endParaRPr lang="en-US" sz="3000" dirty="0"/>
          </a:p>
        </p:txBody>
      </p:sp>
      <p:sp>
        <p:nvSpPr>
          <p:cNvPr id="11" name="txt_8"/>
          <p:cNvSpPr txBox="1"/>
          <p:nvPr/>
        </p:nvSpPr>
        <p:spPr>
          <a:xfrm>
            <a:off x="8915400" y="257860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YoY</a:t>
            </a:r>
            <a:endParaRPr lang="en-US" sz="1200" dirty="0"/>
          </a:p>
        </p:txBody>
      </p:sp>
      <p:sp>
        <p:nvSpPr>
          <p:cNvPr id="12" name="card_9"/>
          <p:cNvSpPr/>
          <p:nvPr/>
        </p:nvSpPr>
        <p:spPr>
          <a:xfrm>
            <a:off x="8686800" y="3145536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txt_10"/>
          <p:cNvSpPr txBox="1"/>
          <p:nvPr/>
        </p:nvSpPr>
        <p:spPr>
          <a:xfrm>
            <a:off x="8915400" y="332841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4" name="txt_11"/>
          <p:cNvSpPr txBox="1"/>
          <p:nvPr/>
        </p:nvSpPr>
        <p:spPr>
          <a:xfrm>
            <a:off x="8915400" y="358444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$232M</a:t>
            </a:r>
            <a:endParaRPr lang="en-US" sz="3000" dirty="0"/>
          </a:p>
        </p:txBody>
      </p:sp>
      <p:sp>
        <p:nvSpPr>
          <p:cNvPr id="15" name="txt_12"/>
          <p:cNvSpPr txBox="1"/>
          <p:nvPr/>
        </p:nvSpPr>
        <p:spPr>
          <a:xfrm>
            <a:off x="8915400" y="415137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 YoY</a:t>
            </a:r>
            <a:endParaRPr lang="en-US" sz="1200" dirty="0"/>
          </a:p>
        </p:txBody>
      </p:sp>
      <p:sp>
        <p:nvSpPr>
          <p:cNvPr id="16" name="card_13"/>
          <p:cNvSpPr/>
          <p:nvPr/>
        </p:nvSpPr>
        <p:spPr>
          <a:xfrm>
            <a:off x="8686800" y="4718304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txt_14"/>
          <p:cNvSpPr txBox="1"/>
          <p:nvPr/>
        </p:nvSpPr>
        <p:spPr>
          <a:xfrm>
            <a:off x="8915400" y="490118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SELF-SERVE</a:t>
            </a:r>
            <a:endParaRPr lang="en-US" sz="1100" dirty="0"/>
          </a:p>
        </p:txBody>
      </p:sp>
      <p:sp>
        <p:nvSpPr>
          <p:cNvPr id="18" name="txt_15"/>
          <p:cNvSpPr txBox="1"/>
          <p:nvPr/>
        </p:nvSpPr>
        <p:spPr>
          <a:xfrm>
            <a:off x="8915400" y="5157216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$119M</a:t>
            </a:r>
            <a:endParaRPr lang="en-US" sz="3000" dirty="0"/>
          </a:p>
        </p:txBody>
      </p:sp>
      <p:sp>
        <p:nvSpPr>
          <p:cNvPr id="19" name="txt_16"/>
          <p:cNvSpPr txBox="1"/>
          <p:nvPr/>
        </p:nvSpPr>
        <p:spPr>
          <a:xfrm>
            <a:off x="8915400" y="572414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+41% YoY</a:t>
            </a:r>
            <a:endParaRPr lang="en-US" sz="12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win more often, and deals are getting larger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11094415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deal size ($k, columns) and win rate (%, line)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075688"/>
          <a:ext cx="10820095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548640" y="4864608"/>
            <a:ext cx="25678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777240" y="504748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 pts</a:t>
            </a:r>
            <a:endParaRPr lang="en-US" sz="2600" dirty="0"/>
          </a:p>
        </p:txBody>
      </p:sp>
      <p:sp>
        <p:nvSpPr>
          <p:cNvPr id="9" name="txt_6"/>
          <p:cNvSpPr txBox="1"/>
          <p:nvPr/>
        </p:nvSpPr>
        <p:spPr>
          <a:xfrm>
            <a:off x="777240" y="5577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gain over eight quarters</a:t>
            </a:r>
            <a:endParaRPr lang="en-US" sz="1300" dirty="0"/>
          </a:p>
        </p:txBody>
      </p:sp>
      <p:sp>
        <p:nvSpPr>
          <p:cNvPr id="10" name="card_7"/>
          <p:cNvSpPr/>
          <p:nvPr/>
        </p:nvSpPr>
        <p:spPr>
          <a:xfrm>
            <a:off x="3390824" y="4864608"/>
            <a:ext cx="25678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1" name="txt_8"/>
          <p:cNvSpPr txBox="1"/>
          <p:nvPr/>
        </p:nvSpPr>
        <p:spPr>
          <a:xfrm>
            <a:off x="3619424" y="504748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+22%</a:t>
            </a:r>
            <a:endParaRPr lang="en-US" sz="2600" dirty="0"/>
          </a:p>
        </p:txBody>
      </p:sp>
      <p:sp>
        <p:nvSpPr>
          <p:cNvPr id="12" name="txt_9"/>
          <p:cNvSpPr txBox="1"/>
          <p:nvPr/>
        </p:nvSpPr>
        <p:spPr>
          <a:xfrm>
            <a:off x="3619424" y="5577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deal size, Q1 FY25 → Q4 FY26</a:t>
            </a:r>
            <a:endParaRPr lang="en-US" sz="1300" dirty="0"/>
          </a:p>
        </p:txBody>
      </p:sp>
      <p:sp>
        <p:nvSpPr>
          <p:cNvPr id="13" name="card_10"/>
          <p:cNvSpPr/>
          <p:nvPr/>
        </p:nvSpPr>
        <p:spPr>
          <a:xfrm>
            <a:off x="6233008" y="4864608"/>
            <a:ext cx="25678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txt_11"/>
          <p:cNvSpPr txBox="1"/>
          <p:nvPr/>
        </p:nvSpPr>
        <p:spPr>
          <a:xfrm>
            <a:off x="6461608" y="504748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days</a:t>
            </a:r>
            <a:endParaRPr lang="en-US" sz="2600" dirty="0"/>
          </a:p>
        </p:txBody>
      </p:sp>
      <p:sp>
        <p:nvSpPr>
          <p:cNvPr id="15" name="txt_12"/>
          <p:cNvSpPr txBox="1"/>
          <p:nvPr/>
        </p:nvSpPr>
        <p:spPr>
          <a:xfrm>
            <a:off x="6461608" y="5577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sales cycle, down from 74</a:t>
            </a:r>
            <a:endParaRPr lang="en-US" sz="1300" dirty="0"/>
          </a:p>
        </p:txBody>
      </p:sp>
      <p:sp>
        <p:nvSpPr>
          <p:cNvPr id="16" name="card_13"/>
          <p:cNvSpPr/>
          <p:nvPr/>
        </p:nvSpPr>
        <p:spPr>
          <a:xfrm>
            <a:off x="9075191" y="4864608"/>
            <a:ext cx="25678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txt_14"/>
          <p:cNvSpPr txBox="1"/>
          <p:nvPr/>
        </p:nvSpPr>
        <p:spPr>
          <a:xfrm>
            <a:off x="9303791" y="5047488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E6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3.4×</a:t>
            </a:r>
            <a:endParaRPr lang="en-US" sz="2600" dirty="0"/>
          </a:p>
        </p:txBody>
      </p:sp>
      <p:sp>
        <p:nvSpPr>
          <p:cNvPr id="18" name="txt_15"/>
          <p:cNvSpPr txBox="1"/>
          <p:nvPr/>
        </p:nvSpPr>
        <p:spPr>
          <a:xfrm>
            <a:off x="9303791" y="5577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 entering FY27</a:t>
            </a:r>
            <a:endParaRPr lang="en-US" sz="13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stay longer and spend more each year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and gross revenue retention, trailing 12 months, %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8321040" y="1572768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8549640" y="17556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119%</a:t>
            </a:r>
            <a:endParaRPr lang="en-US" sz="2600" dirty="0"/>
          </a:p>
        </p:txBody>
      </p:sp>
      <p:sp>
        <p:nvSpPr>
          <p:cNvPr id="9" name="txt_6"/>
          <p:cNvSpPr txBox="1"/>
          <p:nvPr/>
        </p:nvSpPr>
        <p:spPr>
          <a:xfrm>
            <a:off x="992124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300" dirty="0"/>
          </a:p>
        </p:txBody>
      </p:sp>
      <p:sp>
        <p:nvSpPr>
          <p:cNvPr id="10" name="txt_7"/>
          <p:cNvSpPr txBox="1"/>
          <p:nvPr/>
        </p:nvSpPr>
        <p:spPr>
          <a:xfrm>
            <a:off x="8549640" y="23500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$100 of last year's revenue became $119.</a:t>
            </a:r>
            <a:endParaRPr lang="en-US" sz="1200" dirty="0"/>
          </a:p>
        </p:txBody>
      </p:sp>
      <p:sp>
        <p:nvSpPr>
          <p:cNvPr id="11" name="card_8"/>
          <p:cNvSpPr/>
          <p:nvPr/>
        </p:nvSpPr>
        <p:spPr>
          <a:xfrm>
            <a:off x="8321040" y="3145536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2" name="txt_9"/>
          <p:cNvSpPr txBox="1"/>
          <p:nvPr/>
        </p:nvSpPr>
        <p:spPr>
          <a:xfrm>
            <a:off x="8549640" y="33284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2600" dirty="0"/>
          </a:p>
        </p:txBody>
      </p:sp>
      <p:sp>
        <p:nvSpPr>
          <p:cNvPr id="13" name="txt_10"/>
          <p:cNvSpPr txBox="1"/>
          <p:nvPr/>
        </p:nvSpPr>
        <p:spPr>
          <a:xfrm>
            <a:off x="9921240" y="3401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retention</a:t>
            </a:r>
            <a:endParaRPr lang="en-US" sz="1300" dirty="0"/>
          </a:p>
        </p:txBody>
      </p:sp>
      <p:sp>
        <p:nvSpPr>
          <p:cNvPr id="14" name="txt_11"/>
          <p:cNvSpPr txBox="1"/>
          <p:nvPr/>
        </p:nvSpPr>
        <p:spPr>
          <a:xfrm>
            <a:off x="8549640" y="392277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Top-quartile for the category (peer median 90%).</a:t>
            </a:r>
            <a:endParaRPr lang="en-US" sz="1200" dirty="0"/>
          </a:p>
        </p:txBody>
      </p:sp>
      <p:sp>
        <p:nvSpPr>
          <p:cNvPr id="15" name="card_12"/>
          <p:cNvSpPr/>
          <p:nvPr/>
        </p:nvSpPr>
        <p:spPr>
          <a:xfrm>
            <a:off x="8321040" y="4718304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6" name="txt_13"/>
          <p:cNvSpPr txBox="1"/>
          <p:nvPr/>
        </p:nvSpPr>
        <p:spPr>
          <a:xfrm>
            <a:off x="8549640" y="49011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$15M</a:t>
            </a:r>
            <a:endParaRPr lang="en-US" sz="2600" dirty="0"/>
          </a:p>
        </p:txBody>
      </p:sp>
      <p:sp>
        <p:nvSpPr>
          <p:cNvPr id="17" name="txt_14"/>
          <p:cNvSpPr txBox="1"/>
          <p:nvPr/>
        </p:nvSpPr>
        <p:spPr>
          <a:xfrm>
            <a:off x="9921240" y="49743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revenue</a:t>
            </a:r>
            <a:endParaRPr lang="en-US" sz="1300" dirty="0"/>
          </a:p>
        </p:txBody>
      </p:sp>
      <p:sp>
        <p:nvSpPr>
          <p:cNvPr id="18" name="txt_15"/>
          <p:cNvSpPr txBox="1"/>
          <p:nvPr/>
        </p:nvSpPr>
        <p:spPr>
          <a:xfrm>
            <a:off x="8549640" y="54955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SMB accounts below $10k.</a:t>
            </a:r>
            <a:endParaRPr lang="en-US" sz="12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9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rate us above benchmark on five of six measures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58521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by dimension, score out of 10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6675120" y="1572768"/>
            <a:ext cx="4965192" cy="2011680"/>
          </a:xfrm>
          <a:prstGeom prst="roundRect">
            <a:avLst>
              <a:gd name="adj" fmla="val 4545"/>
            </a:avLst>
          </a:prstGeom>
          <a:solidFill>
            <a:srgbClr val="14112F"/>
          </a:solidFill>
          <a:ln/>
        </p:spPr>
      </p:sp>
      <p:sp>
        <p:nvSpPr>
          <p:cNvPr id="8" name="txt_5"/>
          <p:cNvSpPr txBox="1"/>
          <p:nvPr/>
        </p:nvSpPr>
        <p:spPr>
          <a:xfrm>
            <a:off x="694944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1200" dirty="0"/>
          </a:p>
        </p:txBody>
      </p:sp>
      <p:sp>
        <p:nvSpPr>
          <p:cNvPr id="9" name="txt_6"/>
          <p:cNvSpPr txBox="1"/>
          <p:nvPr/>
        </p:nvSpPr>
        <p:spPr>
          <a:xfrm>
            <a:off x="6949440" y="21671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</a:t>
            </a:r>
            <a:endParaRPr lang="en-US" sz="6000" dirty="0"/>
          </a:p>
        </p:txBody>
      </p:sp>
      <p:sp>
        <p:nvSpPr>
          <p:cNvPr id="10" name="txt_7"/>
          <p:cNvSpPr txBox="1"/>
          <p:nvPr/>
        </p:nvSpPr>
        <p:spPr>
          <a:xfrm>
            <a:off x="9144000" y="2350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6 points year on year; industry median is +31.</a:t>
            </a:r>
            <a:endParaRPr lang="en-US" sz="1400" dirty="0"/>
          </a:p>
        </p:txBody>
      </p:sp>
      <p:sp>
        <p:nvSpPr>
          <p:cNvPr id="11" name="card_8"/>
          <p:cNvSpPr/>
          <p:nvPr/>
        </p:nvSpPr>
        <p:spPr>
          <a:xfrm>
            <a:off x="6675120" y="3813048"/>
            <a:ext cx="24048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2" name="txt_9"/>
          <p:cNvSpPr txBox="1"/>
          <p:nvPr/>
        </p:nvSpPr>
        <p:spPr>
          <a:xfrm>
            <a:off x="6858000" y="3995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</a:t>
            </a:r>
            <a:endParaRPr lang="en-US" sz="1300" dirty="0"/>
          </a:p>
        </p:txBody>
      </p:sp>
      <p:sp>
        <p:nvSpPr>
          <p:cNvPr id="13" name="txt_10"/>
          <p:cNvSpPr txBox="1"/>
          <p:nvPr/>
        </p:nvSpPr>
        <p:spPr>
          <a:xfrm>
            <a:off x="8229600" y="39684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</a:t>
            </a:r>
            <a:endParaRPr lang="en-US" sz="1600" dirty="0"/>
          </a:p>
        </p:txBody>
      </p:sp>
      <p:sp>
        <p:nvSpPr>
          <p:cNvPr id="14" name="card_11"/>
          <p:cNvSpPr/>
          <p:nvPr/>
        </p:nvSpPr>
        <p:spPr>
          <a:xfrm>
            <a:off x="9235440" y="3813048"/>
            <a:ext cx="24048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5" name="txt_12"/>
          <p:cNvSpPr txBox="1"/>
          <p:nvPr/>
        </p:nvSpPr>
        <p:spPr>
          <a:xfrm>
            <a:off x="9418320" y="3995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300" dirty="0"/>
          </a:p>
        </p:txBody>
      </p:sp>
      <p:sp>
        <p:nvSpPr>
          <p:cNvPr id="16" name="txt_13"/>
          <p:cNvSpPr txBox="1"/>
          <p:nvPr/>
        </p:nvSpPr>
        <p:spPr>
          <a:xfrm>
            <a:off x="10789920" y="396849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600" dirty="0"/>
          </a:p>
        </p:txBody>
      </p:sp>
      <p:sp>
        <p:nvSpPr>
          <p:cNvPr id="17" name="card_14"/>
          <p:cNvSpPr/>
          <p:nvPr/>
        </p:nvSpPr>
        <p:spPr>
          <a:xfrm>
            <a:off x="6675120" y="4617720"/>
            <a:ext cx="24048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8" name="txt_15"/>
          <p:cNvSpPr txBox="1"/>
          <p:nvPr/>
        </p:nvSpPr>
        <p:spPr>
          <a:xfrm>
            <a:off x="6858000" y="4800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19" name="txt_16"/>
          <p:cNvSpPr txBox="1"/>
          <p:nvPr/>
        </p:nvSpPr>
        <p:spPr>
          <a:xfrm>
            <a:off x="8229600" y="47731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</a:t>
            </a:r>
            <a:endParaRPr lang="en-US" sz="1600" dirty="0"/>
          </a:p>
        </p:txBody>
      </p:sp>
      <p:sp>
        <p:nvSpPr>
          <p:cNvPr id="20" name="card_17"/>
          <p:cNvSpPr/>
          <p:nvPr/>
        </p:nvSpPr>
        <p:spPr>
          <a:xfrm>
            <a:off x="9235440" y="4617720"/>
            <a:ext cx="24048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1" name="txt_18"/>
          <p:cNvSpPr txBox="1"/>
          <p:nvPr/>
        </p:nvSpPr>
        <p:spPr>
          <a:xfrm>
            <a:off x="9418320" y="4800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money</a:t>
            </a:r>
            <a:endParaRPr lang="en-US" sz="1300" dirty="0"/>
          </a:p>
        </p:txBody>
      </p:sp>
      <p:sp>
        <p:nvSpPr>
          <p:cNvPr id="22" name="txt_19"/>
          <p:cNvSpPr txBox="1"/>
          <p:nvPr/>
        </p:nvSpPr>
        <p:spPr>
          <a:xfrm>
            <a:off x="10789920" y="477316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</a:t>
            </a:r>
            <a:endParaRPr lang="en-US" sz="1600" dirty="0"/>
          </a:p>
        </p:txBody>
      </p:sp>
      <p:sp>
        <p:nvSpPr>
          <p:cNvPr id="23" name="card_20"/>
          <p:cNvSpPr/>
          <p:nvPr/>
        </p:nvSpPr>
        <p:spPr>
          <a:xfrm>
            <a:off x="6675120" y="5422392"/>
            <a:ext cx="24048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4" name="txt_21"/>
          <p:cNvSpPr txBox="1"/>
          <p:nvPr/>
        </p:nvSpPr>
        <p:spPr>
          <a:xfrm>
            <a:off x="6858000" y="5605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25" name="txt_22"/>
          <p:cNvSpPr txBox="1"/>
          <p:nvPr/>
        </p:nvSpPr>
        <p:spPr>
          <a:xfrm>
            <a:off x="8229600" y="55778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</a:t>
            </a:r>
            <a:endParaRPr lang="en-US" sz="1600" dirty="0"/>
          </a:p>
        </p:txBody>
      </p:sp>
      <p:sp>
        <p:nvSpPr>
          <p:cNvPr id="26" name="card_23"/>
          <p:cNvSpPr/>
          <p:nvPr/>
        </p:nvSpPr>
        <p:spPr>
          <a:xfrm>
            <a:off x="9235440" y="5422392"/>
            <a:ext cx="24048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7" name="txt_24"/>
          <p:cNvSpPr txBox="1"/>
          <p:nvPr/>
        </p:nvSpPr>
        <p:spPr>
          <a:xfrm>
            <a:off x="9418320" y="56052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28" name="txt_25"/>
          <p:cNvSpPr txBox="1"/>
          <p:nvPr/>
        </p:nvSpPr>
        <p:spPr>
          <a:xfrm>
            <a:off x="10789920" y="55778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1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 of customers generate 41% of revenue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6492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customers vs share of revenue, %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4,860 active customers in FY26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62179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7315200" y="1572768"/>
            <a:ext cx="43251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rect_6"/>
          <p:cNvSpPr/>
          <p:nvPr/>
        </p:nvSpPr>
        <p:spPr>
          <a:xfrm>
            <a:off x="7543800" y="1847088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5B3DF5"/>
          </a:solidFill>
          <a:ln/>
        </p:spPr>
      </p:sp>
      <p:sp>
        <p:nvSpPr>
          <p:cNvPr id="10" name="txt_7"/>
          <p:cNvSpPr txBox="1"/>
          <p:nvPr/>
        </p:nvSpPr>
        <p:spPr>
          <a:xfrm>
            <a:off x="7863840" y="1801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11" name="txt_8"/>
          <p:cNvSpPr txBox="1"/>
          <p:nvPr/>
        </p:nvSpPr>
        <p:spPr>
          <a:xfrm>
            <a:off x="9509760" y="18196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customers</a:t>
            </a:r>
            <a:endParaRPr lang="en-US" sz="1300" dirty="0"/>
          </a:p>
        </p:txBody>
      </p:sp>
      <p:sp>
        <p:nvSpPr>
          <p:cNvPr id="12" name="txt_9"/>
          <p:cNvSpPr txBox="1"/>
          <p:nvPr/>
        </p:nvSpPr>
        <p:spPr>
          <a:xfrm>
            <a:off x="7863840" y="22311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$724k average annual revenue · NRR 126%</a:t>
            </a:r>
            <a:endParaRPr lang="en-US" sz="1300" dirty="0"/>
          </a:p>
        </p:txBody>
      </p:sp>
      <p:sp>
        <p:nvSpPr>
          <p:cNvPr id="13" name="card_10"/>
          <p:cNvSpPr/>
          <p:nvPr/>
        </p:nvSpPr>
        <p:spPr>
          <a:xfrm>
            <a:off x="7315200" y="3145536"/>
            <a:ext cx="43251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rect_11"/>
          <p:cNvSpPr/>
          <p:nvPr/>
        </p:nvSpPr>
        <p:spPr>
          <a:xfrm>
            <a:off x="7543800" y="3419856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0FB5A5"/>
          </a:solidFill>
          <a:ln/>
        </p:spPr>
      </p:sp>
      <p:sp>
        <p:nvSpPr>
          <p:cNvPr id="15" name="txt_12"/>
          <p:cNvSpPr txBox="1"/>
          <p:nvPr/>
        </p:nvSpPr>
        <p:spPr>
          <a:xfrm>
            <a:off x="7863840" y="3374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Mid-market</a:t>
            </a:r>
            <a:endParaRPr lang="en-US" sz="1700" dirty="0"/>
          </a:p>
        </p:txBody>
      </p:sp>
      <p:sp>
        <p:nvSpPr>
          <p:cNvPr id="16" name="txt_13"/>
          <p:cNvSpPr txBox="1"/>
          <p:nvPr/>
        </p:nvSpPr>
        <p:spPr>
          <a:xfrm>
            <a:off x="9509760" y="3392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1,361 customers</a:t>
            </a:r>
            <a:endParaRPr lang="en-US" sz="1300" dirty="0"/>
          </a:p>
        </p:txBody>
      </p:sp>
      <p:sp>
        <p:nvSpPr>
          <p:cNvPr id="17" name="txt_14"/>
          <p:cNvSpPr txBox="1"/>
          <p:nvPr/>
        </p:nvSpPr>
        <p:spPr>
          <a:xfrm>
            <a:off x="7863840" y="38039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$210k average annual revenue · NRR 117%</a:t>
            </a:r>
            <a:endParaRPr lang="en-US" sz="1300" dirty="0"/>
          </a:p>
        </p:txBody>
      </p:sp>
      <p:sp>
        <p:nvSpPr>
          <p:cNvPr id="18" name="card_15"/>
          <p:cNvSpPr/>
          <p:nvPr/>
        </p:nvSpPr>
        <p:spPr>
          <a:xfrm>
            <a:off x="7315200" y="4718304"/>
            <a:ext cx="43251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9" name="rect_16"/>
          <p:cNvSpPr/>
          <p:nvPr/>
        </p:nvSpPr>
        <p:spPr>
          <a:xfrm>
            <a:off x="7543800" y="4992624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FF5A4E"/>
          </a:solidFill>
          <a:ln/>
        </p:spPr>
      </p:sp>
      <p:sp>
        <p:nvSpPr>
          <p:cNvPr id="20" name="txt_17"/>
          <p:cNvSpPr txBox="1"/>
          <p:nvPr/>
        </p:nvSpPr>
        <p:spPr>
          <a:xfrm>
            <a:off x="7863840" y="4946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SMB</a:t>
            </a:r>
            <a:endParaRPr lang="en-US" sz="1700" dirty="0"/>
          </a:p>
        </p:txBody>
      </p:sp>
      <p:sp>
        <p:nvSpPr>
          <p:cNvPr id="21" name="txt_18"/>
          <p:cNvSpPr txBox="1"/>
          <p:nvPr/>
        </p:nvSpPr>
        <p:spPr>
          <a:xfrm>
            <a:off x="9509760" y="4965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3,062 customers</a:t>
            </a:r>
            <a:endParaRPr lang="en-US" sz="1300" dirty="0"/>
          </a:p>
        </p:txBody>
      </p:sp>
      <p:sp>
        <p:nvSpPr>
          <p:cNvPr id="22" name="txt_19"/>
          <p:cNvSpPr txBox="1"/>
          <p:nvPr/>
        </p:nvSpPr>
        <p:spPr>
          <a:xfrm>
            <a:off x="7863840" y="53766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 average annual revenue · NRR 104%</a:t>
            </a:r>
            <a:endParaRPr lang="en-US" sz="13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9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concentration is healthy but worth watching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8638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customer decile (%, columns) and cumulative share (%, line)</a:t>
            </a:r>
            <a:endParaRPr lang="en-US" sz="15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0482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= top 10% of customers by revenue</a:t>
            </a:r>
            <a:endParaRPr lang="en-US" sz="11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2350008"/>
          <a:ext cx="7589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8686800" y="1572768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8915400" y="1755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CUSTOMERS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8915400" y="201168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000" dirty="0"/>
          </a:p>
        </p:txBody>
      </p:sp>
      <p:sp>
        <p:nvSpPr>
          <p:cNvPr id="11" name="txt_8"/>
          <p:cNvSpPr txBox="1"/>
          <p:nvPr/>
        </p:nvSpPr>
        <p:spPr>
          <a:xfrm>
            <a:off x="8915400" y="257860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FY26 revenue</a:t>
            </a:r>
            <a:endParaRPr lang="en-US" sz="1200" dirty="0"/>
          </a:p>
        </p:txBody>
      </p:sp>
      <p:sp>
        <p:nvSpPr>
          <p:cNvPr id="12" name="card_9"/>
          <p:cNvSpPr/>
          <p:nvPr/>
        </p:nvSpPr>
        <p:spPr>
          <a:xfrm>
            <a:off x="8686800" y="3145536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txt_10"/>
          <p:cNvSpPr txBox="1"/>
          <p:nvPr/>
        </p:nvSpPr>
        <p:spPr>
          <a:xfrm>
            <a:off x="8915400" y="332841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ACCOUNT</a:t>
            </a:r>
            <a:endParaRPr lang="en-US" sz="1100" dirty="0"/>
          </a:p>
        </p:txBody>
      </p:sp>
      <p:sp>
        <p:nvSpPr>
          <p:cNvPr id="14" name="txt_11"/>
          <p:cNvSpPr txBox="1"/>
          <p:nvPr/>
        </p:nvSpPr>
        <p:spPr>
          <a:xfrm>
            <a:off x="8915400" y="358444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</a:t>
            </a:r>
            <a:endParaRPr lang="en-US" sz="3000" dirty="0"/>
          </a:p>
        </p:txBody>
      </p:sp>
      <p:sp>
        <p:nvSpPr>
          <p:cNvPr id="15" name="txt_12"/>
          <p:cNvSpPr txBox="1"/>
          <p:nvPr/>
        </p:nvSpPr>
        <p:spPr>
          <a:xfrm>
            <a:off x="8915400" y="415137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5% risk limit</a:t>
            </a:r>
            <a:endParaRPr lang="en-US" sz="1200" dirty="0"/>
          </a:p>
        </p:txBody>
      </p:sp>
      <p:sp>
        <p:nvSpPr>
          <p:cNvPr id="16" name="card_13"/>
          <p:cNvSpPr/>
          <p:nvPr/>
        </p:nvSpPr>
        <p:spPr>
          <a:xfrm>
            <a:off x="8686800" y="4718304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ECE8FE"/>
          </a:solidFill>
          <a:ln/>
        </p:spPr>
      </p:sp>
      <p:sp>
        <p:nvSpPr>
          <p:cNvPr id="17" name="txt_14"/>
          <p:cNvSpPr txBox="1"/>
          <p:nvPr/>
        </p:nvSpPr>
        <p:spPr>
          <a:xfrm>
            <a:off x="8961120" y="4974336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18" name="txt_15"/>
          <p:cNvSpPr txBox="1"/>
          <p:nvPr/>
        </p:nvSpPr>
        <p:spPr>
          <a:xfrm>
            <a:off x="8961120" y="5431536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executive sponsors to all top-50 accounts.</a:t>
            </a:r>
            <a:endParaRPr lang="en-US" sz="1300" dirty="0"/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7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CUSTOMERS &amp; SALES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of five regional teams beat their quota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attainment by regional team, FY26, % (target = 100%)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_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572768"/>
          <a:ext cx="3867912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731520"/>
                <a:gridCol w="1188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 $M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Asia-Pacific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East &amp; Africa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ard_5"/>
          <p:cNvSpPr/>
          <p:nvPr/>
        </p:nvSpPr>
        <p:spPr>
          <a:xfrm>
            <a:off x="7772400" y="4636008"/>
            <a:ext cx="3867912" cy="1508760"/>
          </a:xfrm>
          <a:prstGeom prst="roundRect">
            <a:avLst>
              <a:gd name="adj" fmla="val 6061"/>
            </a:avLst>
          </a:prstGeom>
          <a:solidFill>
            <a:srgbClr val="FFE7E4"/>
          </a:solidFill>
          <a:ln/>
        </p:spPr>
      </p:sp>
      <p:sp>
        <p:nvSpPr>
          <p:cNvPr id="9" name="txt_6"/>
          <p:cNvSpPr txBox="1"/>
          <p:nvPr/>
        </p:nvSpPr>
        <p:spPr>
          <a:xfrm>
            <a:off x="8046720" y="48920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Latin America at 96%</a:t>
            </a:r>
            <a:endParaRPr lang="en-US" sz="1600" dirty="0"/>
          </a:p>
        </p:txBody>
      </p:sp>
      <p:sp>
        <p:nvSpPr>
          <p:cNvPr id="10" name="txt_7"/>
          <p:cNvSpPr txBox="1"/>
          <p:nvPr/>
        </p:nvSpPr>
        <p:spPr>
          <a:xfrm>
            <a:off x="8046720" y="5349240"/>
            <a:ext cx="3319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senior hires in Q3 should close the gap in H1 FY27.</a:t>
            </a:r>
            <a:endParaRPr lang="en-US" sz="13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Graphic spid="7" grpId="0">
        <p:bldAsOne/>
      </p:bldGraphic>
      <p:bldP spid="8" grpId="0" animBg="1"/>
      <p:bldP spid="9" grpId="0" animBg="1"/>
      <p:bldP spid="1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 at a lower cost to serve.</a:t>
            </a:r>
            <a:endParaRPr lang="en-US" sz="16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scorecard</a:t>
            </a:r>
            <a:endParaRPr lang="en-US" sz="1300" dirty="0"/>
          </a:p>
        </p:txBody>
      </p:sp>
      <p:sp>
        <p:nvSpPr>
          <p:cNvPr id="6" name="txt_2"/>
          <p:cNvSpPr txBox="1"/>
          <p:nvPr/>
        </p:nvSpPr>
        <p:spPr>
          <a:xfrm>
            <a:off x="32918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process and capacity</a:t>
            </a:r>
            <a:endParaRPr lang="en-US" sz="1300" dirty="0"/>
          </a:p>
        </p:txBody>
      </p:sp>
      <p:sp>
        <p:nvSpPr>
          <p:cNvPr id="7" name="txt_3"/>
          <p:cNvSpPr txBox="1"/>
          <p:nvPr/>
        </p:nvSpPr>
        <p:spPr>
          <a:xfrm>
            <a:off x="60350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and quality</a:t>
            </a:r>
            <a:endParaRPr lang="en-US" sz="1300" dirty="0"/>
          </a:p>
        </p:txBody>
      </p:sp>
      <p:sp>
        <p:nvSpPr>
          <p:cNvPr id="8" name="icbg_4"/>
          <p:cNvSpPr/>
          <p:nvPr/>
        </p:nvSpPr>
        <p:spPr>
          <a:xfrm>
            <a:off x="9921240" y="2194560"/>
            <a:ext cx="1463040" cy="1463040"/>
          </a:xfrm>
          <a:prstGeom prst="ellipse">
            <a:avLst/>
          </a:prstGeom>
          <a:solidFill>
            <a:srgbClr val="5B3DF5"/>
          </a:solidFill>
          <a:ln/>
        </p:spPr>
      </p:sp>
      <p:pic>
        <p:nvPicPr>
          <p:cNvPr id="9" name="ic_5" descr="Workflow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0"/>
            <a:ext cx="731520" cy="731520"/>
          </a:xfrm>
          <a:prstGeom prst="rect">
            <a:avLst/>
          </a:prstGeom>
        </p:spPr>
      </p:pic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scorecard: three of four targets met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777240" y="180136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777240" y="2258568"/>
          <a:ext cx="2110664" cy="2110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xt_4"/>
          <p:cNvSpPr txBox="1"/>
          <p:nvPr/>
        </p:nvSpPr>
        <p:spPr>
          <a:xfrm>
            <a:off x="777240" y="29938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96.5%</a:t>
            </a:r>
            <a:endParaRPr lang="en-US" sz="2200" dirty="0"/>
          </a:p>
        </p:txBody>
      </p:sp>
      <p:sp>
        <p:nvSpPr>
          <p:cNvPr id="8" name="rect_5"/>
          <p:cNvSpPr/>
          <p:nvPr/>
        </p:nvSpPr>
        <p:spPr>
          <a:xfrm>
            <a:off x="963892" y="500176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DCF5F2"/>
          </a:solidFill>
          <a:ln/>
        </p:spPr>
      </p:sp>
      <p:sp>
        <p:nvSpPr>
          <p:cNvPr id="9" name="txt_6"/>
          <p:cNvSpPr txBox="1"/>
          <p:nvPr/>
        </p:nvSpPr>
        <p:spPr>
          <a:xfrm>
            <a:off x="963892" y="5001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 · 95%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777240" y="545896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FY26 average</a:t>
            </a:r>
            <a:endParaRPr lang="en-US" sz="1200" dirty="0"/>
          </a:p>
        </p:txBody>
      </p:sp>
      <p:sp>
        <p:nvSpPr>
          <p:cNvPr id="11" name="card_8"/>
          <p:cNvSpPr/>
          <p:nvPr/>
        </p:nvSpPr>
        <p:spPr>
          <a:xfrm>
            <a:off x="3390824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2" name="txt_9"/>
          <p:cNvSpPr txBox="1"/>
          <p:nvPr/>
        </p:nvSpPr>
        <p:spPr>
          <a:xfrm>
            <a:off x="3619424" y="180136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utilisation</a:t>
            </a:r>
            <a:endParaRPr lang="en-US" sz="1500" dirty="0"/>
          </a:p>
        </p:txBody>
      </p:sp>
      <p:graphicFrame>
        <p:nvGraphicFramePr>
          <p:cNvPr id="13" name="chart_10" descr=""/>
          <p:cNvGraphicFramePr/>
          <p:nvPr/>
        </p:nvGraphicFramePr>
        <p:xfrm>
          <a:off x="3619424" y="2258568"/>
          <a:ext cx="2110664" cy="2110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xt_11"/>
          <p:cNvSpPr txBox="1"/>
          <p:nvPr/>
        </p:nvSpPr>
        <p:spPr>
          <a:xfrm>
            <a:off x="3619424" y="29938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200" dirty="0"/>
          </a:p>
        </p:txBody>
      </p:sp>
      <p:sp>
        <p:nvSpPr>
          <p:cNvPr id="15" name="rect_12"/>
          <p:cNvSpPr/>
          <p:nvPr/>
        </p:nvSpPr>
        <p:spPr>
          <a:xfrm>
            <a:off x="3806076" y="500176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FE7E4"/>
          </a:solidFill>
          <a:ln/>
        </p:spPr>
      </p:sp>
      <p:sp>
        <p:nvSpPr>
          <p:cNvPr id="16" name="txt_13"/>
          <p:cNvSpPr txBox="1"/>
          <p:nvPr/>
        </p:nvSpPr>
        <p:spPr>
          <a:xfrm>
            <a:off x="3806076" y="5001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 · 80%</a:t>
            </a:r>
            <a:endParaRPr lang="en-US" sz="1100" dirty="0"/>
          </a:p>
        </p:txBody>
      </p:sp>
      <p:sp>
        <p:nvSpPr>
          <p:cNvPr id="17" name="txt_14"/>
          <p:cNvSpPr txBox="1"/>
          <p:nvPr/>
        </p:nvSpPr>
        <p:spPr>
          <a:xfrm>
            <a:off x="3619424" y="545896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80% — slightly below</a:t>
            </a:r>
            <a:endParaRPr lang="en-US" sz="1200" dirty="0"/>
          </a:p>
        </p:txBody>
      </p:sp>
      <p:sp>
        <p:nvSpPr>
          <p:cNvPr id="18" name="card_15"/>
          <p:cNvSpPr/>
          <p:nvPr/>
        </p:nvSpPr>
        <p:spPr>
          <a:xfrm>
            <a:off x="6233008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9" name="txt_16"/>
          <p:cNvSpPr txBox="1"/>
          <p:nvPr/>
        </p:nvSpPr>
        <p:spPr>
          <a:xfrm>
            <a:off x="6461608" y="180136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First-contact resolution</a:t>
            </a:r>
            <a:endParaRPr lang="en-US" sz="1500" dirty="0"/>
          </a:p>
        </p:txBody>
      </p:sp>
      <p:graphicFrame>
        <p:nvGraphicFramePr>
          <p:cNvPr id="20" name="chart_17" descr=""/>
          <p:cNvGraphicFramePr/>
          <p:nvPr/>
        </p:nvGraphicFramePr>
        <p:xfrm>
          <a:off x="6461608" y="2258568"/>
          <a:ext cx="2110664" cy="2110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xt_18"/>
          <p:cNvSpPr txBox="1"/>
          <p:nvPr/>
        </p:nvSpPr>
        <p:spPr>
          <a:xfrm>
            <a:off x="6461608" y="29938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2200" dirty="0"/>
          </a:p>
        </p:txBody>
      </p:sp>
      <p:sp>
        <p:nvSpPr>
          <p:cNvPr id="22" name="rect_19"/>
          <p:cNvSpPr/>
          <p:nvPr/>
        </p:nvSpPr>
        <p:spPr>
          <a:xfrm>
            <a:off x="6648260" y="500176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DCF5F2"/>
          </a:solidFill>
          <a:ln/>
        </p:spPr>
      </p:sp>
      <p:sp>
        <p:nvSpPr>
          <p:cNvPr id="23" name="txt_20"/>
          <p:cNvSpPr txBox="1"/>
          <p:nvPr/>
        </p:nvSpPr>
        <p:spPr>
          <a:xfrm>
            <a:off x="6648260" y="5001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 · 80%</a:t>
            </a:r>
            <a:endParaRPr lang="en-US" sz="1100" dirty="0"/>
          </a:p>
        </p:txBody>
      </p:sp>
      <p:sp>
        <p:nvSpPr>
          <p:cNvPr id="24" name="txt_21"/>
          <p:cNvSpPr txBox="1"/>
          <p:nvPr/>
        </p:nvSpPr>
        <p:spPr>
          <a:xfrm>
            <a:off x="6461608" y="545896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solved at first touch</a:t>
            </a:r>
            <a:endParaRPr lang="en-US" sz="1200" dirty="0"/>
          </a:p>
        </p:txBody>
      </p:sp>
      <p:sp>
        <p:nvSpPr>
          <p:cNvPr id="25" name="card_22"/>
          <p:cNvSpPr/>
          <p:nvPr/>
        </p:nvSpPr>
        <p:spPr>
          <a:xfrm>
            <a:off x="9075191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6" name="txt_23"/>
          <p:cNvSpPr txBox="1"/>
          <p:nvPr/>
        </p:nvSpPr>
        <p:spPr>
          <a:xfrm>
            <a:off x="9303791" y="1801368"/>
            <a:ext cx="2110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1500" dirty="0"/>
          </a:p>
        </p:txBody>
      </p:sp>
      <p:graphicFrame>
        <p:nvGraphicFramePr>
          <p:cNvPr id="27" name="chart_24" descr=""/>
          <p:cNvGraphicFramePr/>
          <p:nvPr/>
        </p:nvGraphicFramePr>
        <p:xfrm>
          <a:off x="9303791" y="2258568"/>
          <a:ext cx="2110664" cy="21106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xt_25"/>
          <p:cNvSpPr txBox="1"/>
          <p:nvPr/>
        </p:nvSpPr>
        <p:spPr>
          <a:xfrm>
            <a:off x="9303791" y="2993860"/>
            <a:ext cx="2110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2200" dirty="0"/>
          </a:p>
        </p:txBody>
      </p:sp>
      <p:sp>
        <p:nvSpPr>
          <p:cNvPr id="29" name="rect_26"/>
          <p:cNvSpPr/>
          <p:nvPr/>
        </p:nvSpPr>
        <p:spPr>
          <a:xfrm>
            <a:off x="9490443" y="500176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DCF5F2"/>
          </a:solidFill>
          <a:ln/>
        </p:spPr>
      </p:sp>
      <p:sp>
        <p:nvSpPr>
          <p:cNvPr id="30" name="txt_27"/>
          <p:cNvSpPr txBox="1"/>
          <p:nvPr/>
        </p:nvSpPr>
        <p:spPr>
          <a:xfrm>
            <a:off x="9490443" y="5001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 · 60%</a:t>
            </a:r>
            <a:endParaRPr lang="en-US" sz="1100" dirty="0"/>
          </a:p>
        </p:txBody>
      </p:sp>
      <p:sp>
        <p:nvSpPr>
          <p:cNvPr id="31" name="txt_28"/>
          <p:cNvSpPr txBox="1"/>
          <p:nvPr/>
        </p:nvSpPr>
        <p:spPr>
          <a:xfrm>
            <a:off x="9303791" y="5458968"/>
            <a:ext cx="2110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tasks with no manual step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Graphic spid="13" grpId="0">
        <p:bldAsOne/>
      </p:bldGraphic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Graphic spid="20" grpId="0">
        <p:bldAsOne/>
      </p:bldGraphic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Graphic spid="27" grpId="0">
        <p:bldAsOne/>
      </p:bldGraphic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delivery has stayed above target since June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11094415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rate, FY26 monthly, %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075688"/>
          <a:ext cx="10820095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548640" y="5001768"/>
            <a:ext cx="351525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icbg_5"/>
          <p:cNvSpPr/>
          <p:nvPr/>
        </p:nvSpPr>
        <p:spPr>
          <a:xfrm>
            <a:off x="777240" y="5276088"/>
            <a:ext cx="548640" cy="548640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9" name="ic_6" descr="Workflow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13248"/>
            <a:ext cx="274320" cy="274320"/>
          </a:xfrm>
          <a:prstGeom prst="rect">
            <a:avLst/>
          </a:prstGeom>
        </p:spPr>
      </p:pic>
      <p:sp>
        <p:nvSpPr>
          <p:cNvPr id="10" name="txt_7"/>
          <p:cNvSpPr txBox="1"/>
          <p:nvPr/>
        </p:nvSpPr>
        <p:spPr>
          <a:xfrm>
            <a:off x="1508760" y="5184648"/>
            <a:ext cx="2326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</a:t>
            </a:r>
            <a:endParaRPr lang="en-US" sz="1500" dirty="0"/>
          </a:p>
        </p:txBody>
      </p:sp>
      <p:sp>
        <p:nvSpPr>
          <p:cNvPr id="11" name="txt_8"/>
          <p:cNvSpPr txBox="1"/>
          <p:nvPr/>
        </p:nvSpPr>
        <p:spPr>
          <a:xfrm>
            <a:off x="1508760" y="5477256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May; removed 1,900 manual hand-offs a month.</a:t>
            </a:r>
            <a:endParaRPr lang="en-US" sz="1200" dirty="0"/>
          </a:p>
        </p:txBody>
      </p:sp>
      <p:sp>
        <p:nvSpPr>
          <p:cNvPr id="12" name="card_9"/>
          <p:cNvSpPr/>
          <p:nvPr/>
        </p:nvSpPr>
        <p:spPr>
          <a:xfrm>
            <a:off x="4338218" y="5001768"/>
            <a:ext cx="351525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icbg_10"/>
          <p:cNvSpPr/>
          <p:nvPr/>
        </p:nvSpPr>
        <p:spPr>
          <a:xfrm>
            <a:off x="4566818" y="5276088"/>
            <a:ext cx="548640" cy="548640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4" name="ic_11" descr="Cl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978" y="5413248"/>
            <a:ext cx="274320" cy="274320"/>
          </a:xfrm>
          <a:prstGeom prst="rect">
            <a:avLst/>
          </a:prstGeom>
        </p:spPr>
      </p:pic>
      <p:sp>
        <p:nvSpPr>
          <p:cNvPr id="15" name="txt_12"/>
          <p:cNvSpPr txBox="1"/>
          <p:nvPr/>
        </p:nvSpPr>
        <p:spPr>
          <a:xfrm>
            <a:off x="5298338" y="5184648"/>
            <a:ext cx="2326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risk alerts</a:t>
            </a:r>
            <a:endParaRPr lang="en-US" sz="1500" dirty="0"/>
          </a:p>
        </p:txBody>
      </p:sp>
      <p:sp>
        <p:nvSpPr>
          <p:cNvPr id="16" name="txt_13"/>
          <p:cNvSpPr txBox="1"/>
          <p:nvPr/>
        </p:nvSpPr>
        <p:spPr>
          <a:xfrm>
            <a:off x="5298338" y="5477256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now flagged 6 days ahead, up from 2 days.</a:t>
            </a:r>
            <a:endParaRPr lang="en-US" sz="1200" dirty="0"/>
          </a:p>
        </p:txBody>
      </p:sp>
      <p:sp>
        <p:nvSpPr>
          <p:cNvPr id="17" name="card_14"/>
          <p:cNvSpPr/>
          <p:nvPr/>
        </p:nvSpPr>
        <p:spPr>
          <a:xfrm>
            <a:off x="8127797" y="5001768"/>
            <a:ext cx="3515258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8" name="icbg_15"/>
          <p:cNvSpPr/>
          <p:nvPr/>
        </p:nvSpPr>
        <p:spPr>
          <a:xfrm>
            <a:off x="8356397" y="5276088"/>
            <a:ext cx="548640" cy="548640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9" name="ic_16" descr="Badg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557" y="5413248"/>
            <a:ext cx="274320" cy="274320"/>
          </a:xfrm>
          <a:prstGeom prst="rect">
            <a:avLst/>
          </a:prstGeom>
        </p:spPr>
      </p:pic>
      <p:sp>
        <p:nvSpPr>
          <p:cNvPr id="20" name="txt_17"/>
          <p:cNvSpPr txBox="1"/>
          <p:nvPr/>
        </p:nvSpPr>
        <p:spPr>
          <a:xfrm>
            <a:off x="9087917" y="5184648"/>
            <a:ext cx="2326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</a:t>
            </a:r>
            <a:endParaRPr lang="en-US" sz="1500" dirty="0"/>
          </a:p>
        </p:txBody>
      </p:sp>
      <p:sp>
        <p:nvSpPr>
          <p:cNvPr id="21" name="txt_18"/>
          <p:cNvSpPr txBox="1"/>
          <p:nvPr/>
        </p:nvSpPr>
        <p:spPr>
          <a:xfrm>
            <a:off x="9087917" y="5477256"/>
            <a:ext cx="23265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Bottom-quartile suppliers moved to quarterly reviews.</a:t>
            </a:r>
            <a:endParaRPr lang="en-US" sz="12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7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Order-to-cash: cutting nine days from the cycle</a:t>
            </a:r>
            <a:endParaRPr lang="en-US" sz="3000" dirty="0"/>
          </a:p>
        </p:txBody>
      </p:sp>
      <p:sp>
        <p:nvSpPr>
          <p:cNvPr id="4" name="chev_1"/>
          <p:cNvSpPr/>
          <p:nvPr/>
        </p:nvSpPr>
        <p:spPr>
          <a:xfrm>
            <a:off x="548640" y="1755648"/>
            <a:ext cx="2182307" cy="914400"/>
          </a:xfrm>
          <a:prstGeom prst="homePlate">
            <a:avLst/>
          </a:prstGeom>
          <a:solidFill>
            <a:srgbClr val="5B3DF5"/>
          </a:solidFill>
          <a:ln w="25400">
            <a:solidFill>
              <a:srgbClr val="F5F4FB"/>
            </a:solidFill>
            <a:prstDash val="solid"/>
          </a:ln>
        </p:spPr>
      </p:sp>
      <p:sp>
        <p:nvSpPr>
          <p:cNvPr id="5" name="txt_2"/>
          <p:cNvSpPr txBox="1"/>
          <p:nvPr/>
        </p:nvSpPr>
        <p:spPr>
          <a:xfrm>
            <a:off x="822960" y="1755648"/>
            <a:ext cx="14050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Quote</a:t>
            </a:r>
            <a:endParaRPr lang="en-US" sz="1600" dirty="0"/>
          </a:p>
        </p:txBody>
      </p:sp>
      <p:sp>
        <p:nvSpPr>
          <p:cNvPr id="6" name="card_3"/>
          <p:cNvSpPr/>
          <p:nvPr/>
        </p:nvSpPr>
        <p:spPr>
          <a:xfrm>
            <a:off x="548640" y="2898648"/>
            <a:ext cx="1953707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7" name="txt_4"/>
          <p:cNvSpPr txBox="1"/>
          <p:nvPr/>
        </p:nvSpPr>
        <p:spPr>
          <a:xfrm>
            <a:off x="73152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8" name="txt_5"/>
          <p:cNvSpPr txBox="1"/>
          <p:nvPr/>
        </p:nvSpPr>
        <p:spPr>
          <a:xfrm>
            <a:off x="731520" y="3264408"/>
            <a:ext cx="1587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d</a:t>
            </a:r>
            <a:endParaRPr lang="en-US" sz="2400" dirty="0"/>
          </a:p>
        </p:txBody>
      </p:sp>
      <p:sp>
        <p:nvSpPr>
          <p:cNvPr id="9" name="txt_6"/>
          <p:cNvSpPr txBox="1"/>
          <p:nvPr/>
        </p:nvSpPr>
        <p:spPr>
          <a:xfrm>
            <a:off x="73152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0" name="txt_7"/>
          <p:cNvSpPr txBox="1"/>
          <p:nvPr/>
        </p:nvSpPr>
        <p:spPr>
          <a:xfrm>
            <a:off x="731520" y="3995928"/>
            <a:ext cx="15879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d</a:t>
            </a:r>
            <a:endParaRPr lang="en-US" sz="1800" dirty="0"/>
          </a:p>
        </p:txBody>
      </p:sp>
      <p:sp>
        <p:nvSpPr>
          <p:cNvPr id="11" name="chev_8"/>
          <p:cNvSpPr/>
          <p:nvPr/>
        </p:nvSpPr>
        <p:spPr>
          <a:xfrm>
            <a:off x="2776667" y="1755648"/>
            <a:ext cx="2182307" cy="914400"/>
          </a:xfrm>
          <a:prstGeom prst="chevron">
            <a:avLst/>
          </a:prstGeom>
          <a:solidFill>
            <a:srgbClr val="6E54F6"/>
          </a:solidFill>
          <a:ln w="25400">
            <a:solidFill>
              <a:srgbClr val="F5F4FB"/>
            </a:solidFill>
            <a:prstDash val="solid"/>
          </a:ln>
        </p:spPr>
      </p:sp>
      <p:sp>
        <p:nvSpPr>
          <p:cNvPr id="12" name="txt_9"/>
          <p:cNvSpPr txBox="1"/>
          <p:nvPr/>
        </p:nvSpPr>
        <p:spPr>
          <a:xfrm>
            <a:off x="3325307" y="1755648"/>
            <a:ext cx="14050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Contract</a:t>
            </a:r>
            <a:endParaRPr lang="en-US" sz="1600" dirty="0"/>
          </a:p>
        </p:txBody>
      </p:sp>
      <p:sp>
        <p:nvSpPr>
          <p:cNvPr id="13" name="card_10"/>
          <p:cNvSpPr/>
          <p:nvPr/>
        </p:nvSpPr>
        <p:spPr>
          <a:xfrm>
            <a:off x="2776667" y="2898648"/>
            <a:ext cx="1953707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txt_11"/>
          <p:cNvSpPr txBox="1"/>
          <p:nvPr/>
        </p:nvSpPr>
        <p:spPr>
          <a:xfrm>
            <a:off x="2959547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15" name="txt_12"/>
          <p:cNvSpPr txBox="1"/>
          <p:nvPr/>
        </p:nvSpPr>
        <p:spPr>
          <a:xfrm>
            <a:off x="2959547" y="3264408"/>
            <a:ext cx="1587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 d</a:t>
            </a:r>
            <a:endParaRPr lang="en-US" sz="2400" dirty="0"/>
          </a:p>
        </p:txBody>
      </p:sp>
      <p:sp>
        <p:nvSpPr>
          <p:cNvPr id="16" name="txt_13"/>
          <p:cNvSpPr txBox="1"/>
          <p:nvPr/>
        </p:nvSpPr>
        <p:spPr>
          <a:xfrm>
            <a:off x="2959547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7" name="txt_14"/>
          <p:cNvSpPr txBox="1"/>
          <p:nvPr/>
        </p:nvSpPr>
        <p:spPr>
          <a:xfrm>
            <a:off x="2959547" y="3995928"/>
            <a:ext cx="15879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d</a:t>
            </a:r>
            <a:endParaRPr lang="en-US" sz="1800" dirty="0"/>
          </a:p>
        </p:txBody>
      </p:sp>
      <p:sp>
        <p:nvSpPr>
          <p:cNvPr id="18" name="chev_15"/>
          <p:cNvSpPr/>
          <p:nvPr/>
        </p:nvSpPr>
        <p:spPr>
          <a:xfrm>
            <a:off x="5004694" y="1755648"/>
            <a:ext cx="2182307" cy="914400"/>
          </a:xfrm>
          <a:prstGeom prst="chevron">
            <a:avLst/>
          </a:prstGeom>
          <a:solidFill>
            <a:srgbClr val="8169F7"/>
          </a:solidFill>
          <a:ln w="25400">
            <a:solidFill>
              <a:srgbClr val="F5F4FB"/>
            </a:solidFill>
            <a:prstDash val="solid"/>
          </a:ln>
        </p:spPr>
      </p:sp>
      <p:sp>
        <p:nvSpPr>
          <p:cNvPr id="19" name="txt_16"/>
          <p:cNvSpPr txBox="1"/>
          <p:nvPr/>
        </p:nvSpPr>
        <p:spPr>
          <a:xfrm>
            <a:off x="5553334" y="1755648"/>
            <a:ext cx="14050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Provision</a:t>
            </a:r>
            <a:endParaRPr lang="en-US" sz="1600" dirty="0"/>
          </a:p>
        </p:txBody>
      </p:sp>
      <p:sp>
        <p:nvSpPr>
          <p:cNvPr id="20" name="card_17"/>
          <p:cNvSpPr/>
          <p:nvPr/>
        </p:nvSpPr>
        <p:spPr>
          <a:xfrm>
            <a:off x="5004694" y="2898648"/>
            <a:ext cx="1953707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1" name="txt_18"/>
          <p:cNvSpPr txBox="1"/>
          <p:nvPr/>
        </p:nvSpPr>
        <p:spPr>
          <a:xfrm>
            <a:off x="5187574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2" name="txt_19"/>
          <p:cNvSpPr txBox="1"/>
          <p:nvPr/>
        </p:nvSpPr>
        <p:spPr>
          <a:xfrm>
            <a:off x="5187574" y="3264408"/>
            <a:ext cx="1587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d</a:t>
            </a:r>
            <a:endParaRPr lang="en-US" sz="2400" dirty="0"/>
          </a:p>
        </p:txBody>
      </p:sp>
      <p:sp>
        <p:nvSpPr>
          <p:cNvPr id="23" name="txt_20"/>
          <p:cNvSpPr txBox="1"/>
          <p:nvPr/>
        </p:nvSpPr>
        <p:spPr>
          <a:xfrm>
            <a:off x="5187574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4" name="txt_21"/>
          <p:cNvSpPr txBox="1"/>
          <p:nvPr/>
        </p:nvSpPr>
        <p:spPr>
          <a:xfrm>
            <a:off x="5187574" y="3995928"/>
            <a:ext cx="15879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d</a:t>
            </a:r>
            <a:endParaRPr lang="en-US" sz="1800" dirty="0"/>
          </a:p>
        </p:txBody>
      </p:sp>
      <p:sp>
        <p:nvSpPr>
          <p:cNvPr id="25" name="chev_22"/>
          <p:cNvSpPr/>
          <p:nvPr/>
        </p:nvSpPr>
        <p:spPr>
          <a:xfrm>
            <a:off x="7232721" y="1755648"/>
            <a:ext cx="2182307" cy="914400"/>
          </a:xfrm>
          <a:prstGeom prst="chevron">
            <a:avLst/>
          </a:prstGeom>
          <a:solidFill>
            <a:srgbClr val="947FF8"/>
          </a:solidFill>
          <a:ln w="25400">
            <a:solidFill>
              <a:srgbClr val="F5F4FB"/>
            </a:solidFill>
            <a:prstDash val="solid"/>
          </a:ln>
        </p:spPr>
      </p:sp>
      <p:sp>
        <p:nvSpPr>
          <p:cNvPr id="26" name="txt_23"/>
          <p:cNvSpPr txBox="1"/>
          <p:nvPr/>
        </p:nvSpPr>
        <p:spPr>
          <a:xfrm>
            <a:off x="7781361" y="1755648"/>
            <a:ext cx="14050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Invoice</a:t>
            </a:r>
            <a:endParaRPr lang="en-US" sz="1600" dirty="0"/>
          </a:p>
        </p:txBody>
      </p:sp>
      <p:sp>
        <p:nvSpPr>
          <p:cNvPr id="27" name="card_24"/>
          <p:cNvSpPr/>
          <p:nvPr/>
        </p:nvSpPr>
        <p:spPr>
          <a:xfrm>
            <a:off x="7232721" y="2898648"/>
            <a:ext cx="1953707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8" name="txt_25"/>
          <p:cNvSpPr txBox="1"/>
          <p:nvPr/>
        </p:nvSpPr>
        <p:spPr>
          <a:xfrm>
            <a:off x="7415601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9" name="txt_26"/>
          <p:cNvSpPr txBox="1"/>
          <p:nvPr/>
        </p:nvSpPr>
        <p:spPr>
          <a:xfrm>
            <a:off x="7415601" y="3264408"/>
            <a:ext cx="1587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d</a:t>
            </a:r>
            <a:endParaRPr lang="en-US" sz="2400" dirty="0"/>
          </a:p>
        </p:txBody>
      </p:sp>
      <p:sp>
        <p:nvSpPr>
          <p:cNvPr id="30" name="txt_27"/>
          <p:cNvSpPr txBox="1"/>
          <p:nvPr/>
        </p:nvSpPr>
        <p:spPr>
          <a:xfrm>
            <a:off x="7415601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1" name="txt_28"/>
          <p:cNvSpPr txBox="1"/>
          <p:nvPr/>
        </p:nvSpPr>
        <p:spPr>
          <a:xfrm>
            <a:off x="7415601" y="3995928"/>
            <a:ext cx="15879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d</a:t>
            </a:r>
            <a:endParaRPr lang="en-US" sz="1800" dirty="0"/>
          </a:p>
        </p:txBody>
      </p:sp>
      <p:sp>
        <p:nvSpPr>
          <p:cNvPr id="32" name="chev_29"/>
          <p:cNvSpPr/>
          <p:nvPr/>
        </p:nvSpPr>
        <p:spPr>
          <a:xfrm>
            <a:off x="9460748" y="1755648"/>
            <a:ext cx="2182307" cy="914400"/>
          </a:xfrm>
          <a:prstGeom prst="chevron">
            <a:avLst/>
          </a:prstGeom>
          <a:solidFill>
            <a:srgbClr val="FF5A4E"/>
          </a:solidFill>
          <a:ln w="25400">
            <a:solidFill>
              <a:srgbClr val="F5F4FB"/>
            </a:solidFill>
            <a:prstDash val="solid"/>
          </a:ln>
        </p:spPr>
      </p:sp>
      <p:sp>
        <p:nvSpPr>
          <p:cNvPr id="33" name="txt_30"/>
          <p:cNvSpPr txBox="1"/>
          <p:nvPr/>
        </p:nvSpPr>
        <p:spPr>
          <a:xfrm>
            <a:off x="10009388" y="1755648"/>
            <a:ext cx="14050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Collect</a:t>
            </a:r>
            <a:endParaRPr lang="en-US" sz="1600" dirty="0"/>
          </a:p>
        </p:txBody>
      </p:sp>
      <p:sp>
        <p:nvSpPr>
          <p:cNvPr id="34" name="card_31"/>
          <p:cNvSpPr/>
          <p:nvPr/>
        </p:nvSpPr>
        <p:spPr>
          <a:xfrm>
            <a:off x="9460748" y="2898648"/>
            <a:ext cx="1953707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35" name="txt_32"/>
          <p:cNvSpPr txBox="1"/>
          <p:nvPr/>
        </p:nvSpPr>
        <p:spPr>
          <a:xfrm>
            <a:off x="9643628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36" name="txt_33"/>
          <p:cNvSpPr txBox="1"/>
          <p:nvPr/>
        </p:nvSpPr>
        <p:spPr>
          <a:xfrm>
            <a:off x="9643628" y="3264408"/>
            <a:ext cx="1587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38.0 d</a:t>
            </a:r>
            <a:endParaRPr lang="en-US" sz="2400" dirty="0"/>
          </a:p>
        </p:txBody>
      </p:sp>
      <p:sp>
        <p:nvSpPr>
          <p:cNvPr id="37" name="txt_34"/>
          <p:cNvSpPr txBox="1"/>
          <p:nvPr/>
        </p:nvSpPr>
        <p:spPr>
          <a:xfrm>
            <a:off x="9643628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38" name="txt_35"/>
          <p:cNvSpPr txBox="1"/>
          <p:nvPr/>
        </p:nvSpPr>
        <p:spPr>
          <a:xfrm>
            <a:off x="9643628" y="3995928"/>
            <a:ext cx="15879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1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34.0 d</a:t>
            </a:r>
            <a:endParaRPr lang="en-US" sz="1800" dirty="0"/>
          </a:p>
        </p:txBody>
      </p:sp>
      <p:sp>
        <p:nvSpPr>
          <p:cNvPr id="39" name="card_36"/>
          <p:cNvSpPr/>
          <p:nvPr/>
        </p:nvSpPr>
        <p:spPr>
          <a:xfrm>
            <a:off x="548640" y="4727448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40" name="txt_37"/>
          <p:cNvSpPr txBox="1"/>
          <p:nvPr/>
        </p:nvSpPr>
        <p:spPr>
          <a:xfrm>
            <a:off x="822960" y="4928616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cycle, days</a:t>
            </a:r>
            <a:endParaRPr lang="en-US" sz="1500" dirty="0"/>
          </a:p>
        </p:txBody>
      </p:sp>
      <p:graphicFrame>
        <p:nvGraphicFramePr>
          <p:cNvPr id="41" name="chart_38" descr=""/>
          <p:cNvGraphicFramePr/>
          <p:nvPr/>
        </p:nvGraphicFramePr>
        <p:xfrm>
          <a:off x="2194560" y="4773168"/>
          <a:ext cx="9311335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txt_39"/>
          <p:cNvSpPr txBox="1"/>
          <p:nvPr/>
        </p:nvSpPr>
        <p:spPr>
          <a:xfrm>
            <a:off x="822960" y="5458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 → 42.0 days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9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3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7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1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Graphic spid="41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is tight in Data Engineering and Cloud Ops</a:t>
            </a:r>
            <a:endParaRPr lang="en-US" sz="3000" dirty="0"/>
          </a:p>
        </p:txBody>
      </p:sp>
      <p:graphicFrame>
        <p:nvGraphicFramePr>
          <p:cNvPr id="4" name="tabl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7406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914400"/>
                <a:gridCol w="914400"/>
                <a:gridCol w="91440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 ·  utilisation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9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9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9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9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9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Services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Desk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CE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 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_2"/>
          <p:cNvSpPr/>
          <p:nvPr/>
        </p:nvSpPr>
        <p:spPr>
          <a:xfrm>
            <a:off x="548640" y="57790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ECE8FE"/>
          </a:solidFill>
          <a:ln/>
        </p:spPr>
      </p:sp>
      <p:sp>
        <p:nvSpPr>
          <p:cNvPr id="6" name="txt_3"/>
          <p:cNvSpPr txBox="1"/>
          <p:nvPr/>
        </p:nvSpPr>
        <p:spPr>
          <a:xfrm>
            <a:off x="914400" y="57790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72</a:t>
            </a:r>
            <a:endParaRPr lang="en-US" sz="1100" dirty="0"/>
          </a:p>
        </p:txBody>
      </p:sp>
      <p:sp>
        <p:nvSpPr>
          <p:cNvPr id="7" name="rect_4"/>
          <p:cNvSpPr/>
          <p:nvPr/>
        </p:nvSpPr>
        <p:spPr>
          <a:xfrm>
            <a:off x="1828800" y="57790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6CEFD"/>
          </a:solidFill>
          <a:ln/>
        </p:spPr>
      </p:sp>
      <p:sp>
        <p:nvSpPr>
          <p:cNvPr id="8" name="txt_5"/>
          <p:cNvSpPr txBox="1"/>
          <p:nvPr/>
        </p:nvSpPr>
        <p:spPr>
          <a:xfrm>
            <a:off x="2194560" y="57790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72–77</a:t>
            </a:r>
            <a:endParaRPr lang="en-US" sz="1100" dirty="0"/>
          </a:p>
        </p:txBody>
      </p:sp>
      <p:sp>
        <p:nvSpPr>
          <p:cNvPr id="9" name="rect_6"/>
          <p:cNvSpPr/>
          <p:nvPr/>
        </p:nvSpPr>
        <p:spPr>
          <a:xfrm>
            <a:off x="3108960" y="57790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A797FA"/>
          </a:solidFill>
          <a:ln/>
        </p:spPr>
      </p:sp>
      <p:sp>
        <p:nvSpPr>
          <p:cNvPr id="10" name="txt_7"/>
          <p:cNvSpPr txBox="1"/>
          <p:nvPr/>
        </p:nvSpPr>
        <p:spPr>
          <a:xfrm>
            <a:off x="3474720" y="57790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78–84</a:t>
            </a:r>
            <a:endParaRPr lang="en-US" sz="1100" dirty="0"/>
          </a:p>
        </p:txBody>
      </p:sp>
      <p:sp>
        <p:nvSpPr>
          <p:cNvPr id="11" name="rect_8"/>
          <p:cNvSpPr/>
          <p:nvPr/>
        </p:nvSpPr>
        <p:spPr>
          <a:xfrm>
            <a:off x="4389120" y="57790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9A8F"/>
          </a:solidFill>
          <a:ln/>
        </p:spPr>
      </p:sp>
      <p:sp>
        <p:nvSpPr>
          <p:cNvPr id="12" name="txt_9"/>
          <p:cNvSpPr txBox="1"/>
          <p:nvPr/>
        </p:nvSpPr>
        <p:spPr>
          <a:xfrm>
            <a:off x="4754880" y="57790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85–89</a:t>
            </a:r>
            <a:endParaRPr lang="en-US" sz="1100" dirty="0"/>
          </a:p>
        </p:txBody>
      </p:sp>
      <p:sp>
        <p:nvSpPr>
          <p:cNvPr id="13" name="rect_10"/>
          <p:cNvSpPr/>
          <p:nvPr/>
        </p:nvSpPr>
        <p:spPr>
          <a:xfrm>
            <a:off x="5669280" y="577900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5A4E"/>
          </a:solidFill>
          <a:ln/>
        </p:spPr>
      </p:sp>
      <p:sp>
        <p:nvSpPr>
          <p:cNvPr id="14" name="txt_11"/>
          <p:cNvSpPr txBox="1"/>
          <p:nvPr/>
        </p:nvSpPr>
        <p:spPr>
          <a:xfrm>
            <a:off x="6035040" y="57790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</a:t>
            </a:r>
            <a:endParaRPr lang="en-US" sz="1100" dirty="0"/>
          </a:p>
        </p:txBody>
      </p:sp>
      <p:sp>
        <p:nvSpPr>
          <p:cNvPr id="15" name="card_12"/>
          <p:cNvSpPr/>
          <p:nvPr/>
        </p:nvSpPr>
        <p:spPr>
          <a:xfrm>
            <a:off x="8229600" y="1572768"/>
            <a:ext cx="3410712" cy="4572000"/>
          </a:xfrm>
          <a:prstGeom prst="roundRect">
            <a:avLst>
              <a:gd name="adj" fmla="val 2681"/>
            </a:avLst>
          </a:prstGeom>
          <a:solidFill>
            <a:srgbClr val="ECE8FE"/>
          </a:solidFill>
          <a:ln/>
        </p:spPr>
      </p:sp>
      <p:sp>
        <p:nvSpPr>
          <p:cNvPr id="16" name="txt_13"/>
          <p:cNvSpPr txBox="1"/>
          <p:nvPr/>
        </p:nvSpPr>
        <p:spPr>
          <a:xfrm>
            <a:off x="8503920" y="1828800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</a:t>
            </a:r>
            <a:endParaRPr lang="en-US" sz="1600" dirty="0"/>
          </a:p>
        </p:txBody>
      </p:sp>
      <p:sp>
        <p:nvSpPr>
          <p:cNvPr id="17" name="txt_14"/>
          <p:cNvSpPr txBox="1"/>
          <p:nvPr/>
        </p:nvSpPr>
        <p:spPr>
          <a:xfrm>
            <a:off x="8503920" y="2286000"/>
            <a:ext cx="28620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and Cloud Operations ran above 90% in Q4 — a burnout and delivery risk.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has ~15% spare capacity to redeploy.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hire 26 engineers in H1 FY27 and cross-train 12 consultants.</a:t>
            </a:r>
            <a:endParaRPr lang="en-US" sz="13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employee now generates $268k of revenue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(columns) and revenue per employee ($k, line)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8321040" y="1572768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8549640" y="1755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EMPLOYEE</a:t>
            </a:r>
            <a:endParaRPr lang="en-US" sz="1100" dirty="0"/>
          </a:p>
        </p:txBody>
      </p:sp>
      <p:sp>
        <p:nvSpPr>
          <p:cNvPr id="9" name="txt_6"/>
          <p:cNvSpPr txBox="1"/>
          <p:nvPr/>
        </p:nvSpPr>
        <p:spPr>
          <a:xfrm>
            <a:off x="8549640" y="2011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000" dirty="0"/>
          </a:p>
        </p:txBody>
      </p:sp>
      <p:sp>
        <p:nvSpPr>
          <p:cNvPr id="10" name="txt_7"/>
          <p:cNvSpPr txBox="1"/>
          <p:nvPr/>
        </p:nvSpPr>
        <p:spPr>
          <a:xfrm>
            <a:off x="8549640" y="25786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FY22 → FY26</a:t>
            </a:r>
            <a:endParaRPr lang="en-US" sz="1200" dirty="0"/>
          </a:p>
        </p:txBody>
      </p:sp>
      <p:sp>
        <p:nvSpPr>
          <p:cNvPr id="11" name="card_8"/>
          <p:cNvSpPr/>
          <p:nvPr/>
        </p:nvSpPr>
        <p:spPr>
          <a:xfrm>
            <a:off x="8321040" y="3145536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2" name="txt_9"/>
          <p:cNvSpPr txBox="1"/>
          <p:nvPr/>
        </p:nvSpPr>
        <p:spPr>
          <a:xfrm>
            <a:off x="8549640" y="332841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FY26 YEAR-END</a:t>
            </a:r>
            <a:endParaRPr lang="en-US" sz="1100" dirty="0"/>
          </a:p>
        </p:txBody>
      </p:sp>
      <p:sp>
        <p:nvSpPr>
          <p:cNvPr id="13" name="txt_10"/>
          <p:cNvSpPr txBox="1"/>
          <p:nvPr/>
        </p:nvSpPr>
        <p:spPr>
          <a:xfrm>
            <a:off x="8549640" y="3584448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2,881</a:t>
            </a:r>
            <a:endParaRPr lang="en-US" sz="3000" dirty="0"/>
          </a:p>
        </p:txBody>
      </p:sp>
      <p:sp>
        <p:nvSpPr>
          <p:cNvPr id="14" name="txt_11"/>
          <p:cNvSpPr txBox="1"/>
          <p:nvPr/>
        </p:nvSpPr>
        <p:spPr>
          <a:xfrm>
            <a:off x="8549640" y="415137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vs FY25</a:t>
            </a:r>
            <a:endParaRPr lang="en-US" sz="1200" dirty="0"/>
          </a:p>
        </p:txBody>
      </p:sp>
      <p:sp>
        <p:nvSpPr>
          <p:cNvPr id="15" name="card_12"/>
          <p:cNvSpPr/>
          <p:nvPr/>
        </p:nvSpPr>
        <p:spPr>
          <a:xfrm>
            <a:off x="8321040" y="4718304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ECE8FE"/>
          </a:solidFill>
          <a:ln/>
        </p:spPr>
      </p:sp>
      <p:sp>
        <p:nvSpPr>
          <p:cNvPr id="16" name="txt_13"/>
          <p:cNvSpPr txBox="1"/>
          <p:nvPr/>
        </p:nvSpPr>
        <p:spPr>
          <a:xfrm>
            <a:off x="8595360" y="4974336"/>
            <a:ext cx="2770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driver</a:t>
            </a:r>
            <a:endParaRPr lang="en-US" sz="1600" dirty="0"/>
          </a:p>
        </p:txBody>
      </p:sp>
      <p:sp>
        <p:nvSpPr>
          <p:cNvPr id="17" name="txt_14"/>
          <p:cNvSpPr txBox="1"/>
          <p:nvPr/>
        </p:nvSpPr>
        <p:spPr>
          <a:xfrm>
            <a:off x="8595360" y="5431536"/>
            <a:ext cx="2770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absorbed growth in support and finance.</a:t>
            </a:r>
            <a:endParaRPr lang="en-US" sz="13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7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incidents are down by more than half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−52%</a:t>
            </a:r>
            <a:endParaRPr lang="en-US" sz="3000" dirty="0"/>
          </a:p>
        </p:txBody>
      </p:sp>
      <p:sp>
        <p:nvSpPr>
          <p:cNvPr id="6" name="txt_3"/>
          <p:cNvSpPr txBox="1"/>
          <p:nvPr/>
        </p:nvSpPr>
        <p:spPr>
          <a:xfrm>
            <a:off x="822960" y="23591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rate since Q1 FY25</a:t>
            </a:r>
            <a:endParaRPr lang="en-US" sz="1300" dirty="0"/>
          </a:p>
        </p:txBody>
      </p:sp>
      <p:sp>
        <p:nvSpPr>
          <p:cNvPr id="7" name="card_4"/>
          <p:cNvSpPr/>
          <p:nvPr/>
        </p:nvSpPr>
        <p:spPr>
          <a:xfrm>
            <a:off x="548640" y="3145536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822960" y="33467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99.95%</a:t>
            </a:r>
            <a:endParaRPr lang="en-US" sz="3000" dirty="0"/>
          </a:p>
        </p:txBody>
      </p:sp>
      <p:sp>
        <p:nvSpPr>
          <p:cNvPr id="9" name="txt_6"/>
          <p:cNvSpPr txBox="1"/>
          <p:nvPr/>
        </p:nvSpPr>
        <p:spPr>
          <a:xfrm>
            <a:off x="822960" y="3931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availability, FY26</a:t>
            </a:r>
            <a:endParaRPr lang="en-US" sz="1300" dirty="0"/>
          </a:p>
        </p:txBody>
      </p:sp>
      <p:sp>
        <p:nvSpPr>
          <p:cNvPr id="10" name="card_7"/>
          <p:cNvSpPr/>
          <p:nvPr/>
        </p:nvSpPr>
        <p:spPr>
          <a:xfrm>
            <a:off x="548640" y="4718304"/>
            <a:ext cx="331927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1" name="txt_8"/>
          <p:cNvSpPr txBox="1"/>
          <p:nvPr/>
        </p:nvSpPr>
        <p:spPr>
          <a:xfrm>
            <a:off x="822960" y="4919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min</a:t>
            </a:r>
            <a:endParaRPr lang="en-US" sz="3000" dirty="0"/>
          </a:p>
        </p:txBody>
      </p:sp>
      <p:sp>
        <p:nvSpPr>
          <p:cNvPr id="12" name="txt_9"/>
          <p:cNvSpPr txBox="1"/>
          <p:nvPr/>
        </p:nvSpPr>
        <p:spPr>
          <a:xfrm>
            <a:off x="822960" y="55046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recover, down from 71</a:t>
            </a:r>
            <a:endParaRPr lang="en-US" sz="1300" dirty="0"/>
          </a:p>
        </p:txBody>
      </p:sp>
      <p:sp>
        <p:nvSpPr>
          <p:cNvPr id="13" name="card_10"/>
          <p:cNvSpPr/>
          <p:nvPr/>
        </p:nvSpPr>
        <p:spPr>
          <a:xfrm>
            <a:off x="4142232" y="1572768"/>
            <a:ext cx="74980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txt_11"/>
          <p:cNvSpPr txBox="1"/>
          <p:nvPr/>
        </p:nvSpPr>
        <p:spPr>
          <a:xfrm>
            <a:off x="4416552" y="17739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1–2 incidents per 1,000 deployments</a:t>
            </a:r>
            <a:endParaRPr lang="en-US" sz="1500" dirty="0"/>
          </a:p>
        </p:txBody>
      </p:sp>
      <p:graphicFrame>
        <p:nvGraphicFramePr>
          <p:cNvPr id="15" name="chart_12" descr=""/>
          <p:cNvGraphicFramePr/>
          <p:nvPr/>
        </p:nvGraphicFramePr>
        <p:xfrm>
          <a:off x="4279392" y="2121408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3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Graphic spid="15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opportunities, prioritised by value and our ability to win.</a:t>
            </a:r>
            <a:endParaRPr lang="en-US" sz="16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map and sizing</a:t>
            </a:r>
            <a:endParaRPr lang="en-US" sz="1300" dirty="0"/>
          </a:p>
        </p:txBody>
      </p:sp>
      <p:sp>
        <p:nvSpPr>
          <p:cNvPr id="6" name="txt_2"/>
          <p:cNvSpPr txBox="1"/>
          <p:nvPr/>
        </p:nvSpPr>
        <p:spPr>
          <a:xfrm>
            <a:off x="32918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pipeline</a:t>
            </a:r>
            <a:endParaRPr lang="en-US" sz="1300" dirty="0"/>
          </a:p>
        </p:txBody>
      </p:sp>
      <p:sp>
        <p:nvSpPr>
          <p:cNvPr id="7" name="txt_3"/>
          <p:cNvSpPr txBox="1"/>
          <p:nvPr/>
        </p:nvSpPr>
        <p:spPr>
          <a:xfrm>
            <a:off x="60350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investment</a:t>
            </a:r>
            <a:endParaRPr lang="en-US" sz="1300" dirty="0"/>
          </a:p>
        </p:txBody>
      </p:sp>
      <p:sp>
        <p:nvSpPr>
          <p:cNvPr id="8" name="icbg_4"/>
          <p:cNvSpPr/>
          <p:nvPr/>
        </p:nvSpPr>
        <p:spPr>
          <a:xfrm>
            <a:off x="9921240" y="2194560"/>
            <a:ext cx="1463040" cy="1463040"/>
          </a:xfrm>
          <a:prstGeom prst="ellipse">
            <a:avLst/>
          </a:prstGeom>
          <a:solidFill>
            <a:srgbClr val="5B3DF5"/>
          </a:solidFill>
          <a:ln/>
        </p:spPr>
      </p:sp>
      <p:pic>
        <p:nvPicPr>
          <p:cNvPr id="9" name="ic_5" descr="Roc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0"/>
            <a:ext cx="731520" cy="731520"/>
          </a:xfrm>
          <a:prstGeom prst="rect">
            <a:avLst/>
          </a:prstGeom>
        </p:spPr>
      </p:pic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5" grpId="0" animBg="1"/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GROWTH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play: six opportunities mapped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2237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attractiveness (x) vs ability to win (y); bubble = FY29 revenue potential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_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572768"/>
          <a:ext cx="359359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76272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FY29 $M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 expansion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bundle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vertical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Usage-based 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marketplace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potential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xt_5"/>
          <p:cNvSpPr txBox="1"/>
          <p:nvPr/>
        </p:nvSpPr>
        <p:spPr>
          <a:xfrm>
            <a:off x="8046720" y="5458968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= pursue now. Bubble positions are in the chart's editable data.</a:t>
            </a:r>
            <a:endParaRPr lang="en-US" sz="12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8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Graphic spid="7" grpId="0">
        <p:bldAsOne/>
      </p:bldGraphic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GROWTH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opportunity returns at least 2.5 times its investment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589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revenue potential vs investment required, $M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8412480" y="1572768"/>
            <a:ext cx="3227832" cy="4572000"/>
          </a:xfrm>
          <a:prstGeom prst="roundRect">
            <a:avLst>
              <a:gd name="adj" fmla="val 2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8641080" y="17739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$ invested</a:t>
            </a:r>
            <a:endParaRPr lang="en-US" sz="1500" dirty="0"/>
          </a:p>
        </p:txBody>
      </p:sp>
      <p:sp>
        <p:nvSpPr>
          <p:cNvPr id="9" name="txt_6"/>
          <p:cNvSpPr txBox="1"/>
          <p:nvPr/>
        </p:nvSpPr>
        <p:spPr>
          <a:xfrm>
            <a:off x="8641080" y="225856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6.1×</a:t>
            </a:r>
            <a:endParaRPr lang="en-US" sz="2000" dirty="0"/>
          </a:p>
        </p:txBody>
      </p:sp>
      <p:sp>
        <p:nvSpPr>
          <p:cNvPr id="10" name="txt_7"/>
          <p:cNvSpPr txBox="1"/>
          <p:nvPr/>
        </p:nvSpPr>
        <p:spPr>
          <a:xfrm>
            <a:off x="955548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</a:t>
            </a:r>
            <a:endParaRPr lang="en-US" sz="1300" dirty="0"/>
          </a:p>
        </p:txBody>
      </p:sp>
      <p:sp>
        <p:nvSpPr>
          <p:cNvPr id="11" name="txt_8"/>
          <p:cNvSpPr txBox="1"/>
          <p:nvPr/>
        </p:nvSpPr>
        <p:spPr>
          <a:xfrm>
            <a:off x="8641080" y="2880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5.4×</a:t>
            </a:r>
            <a:endParaRPr lang="en-US" sz="2000" dirty="0"/>
          </a:p>
        </p:txBody>
      </p:sp>
      <p:sp>
        <p:nvSpPr>
          <p:cNvPr id="12" name="txt_9"/>
          <p:cNvSpPr txBox="1"/>
          <p:nvPr/>
        </p:nvSpPr>
        <p:spPr>
          <a:xfrm>
            <a:off x="9555480" y="29535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bundle</a:t>
            </a:r>
            <a:endParaRPr lang="en-US" sz="1300" dirty="0"/>
          </a:p>
        </p:txBody>
      </p:sp>
      <p:sp>
        <p:nvSpPr>
          <p:cNvPr id="13" name="txt_10"/>
          <p:cNvSpPr txBox="1"/>
          <p:nvPr/>
        </p:nvSpPr>
        <p:spPr>
          <a:xfrm>
            <a:off x="8641080" y="350215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3.6×</a:t>
            </a:r>
            <a:endParaRPr lang="en-US" sz="2000" dirty="0"/>
          </a:p>
        </p:txBody>
      </p:sp>
      <p:sp>
        <p:nvSpPr>
          <p:cNvPr id="14" name="txt_11"/>
          <p:cNvSpPr txBox="1"/>
          <p:nvPr/>
        </p:nvSpPr>
        <p:spPr>
          <a:xfrm>
            <a:off x="9555480" y="35753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marketplace</a:t>
            </a:r>
            <a:endParaRPr lang="en-US" sz="1300" dirty="0"/>
          </a:p>
        </p:txBody>
      </p:sp>
      <p:sp>
        <p:nvSpPr>
          <p:cNvPr id="15" name="txt_12"/>
          <p:cNvSpPr txBox="1"/>
          <p:nvPr/>
        </p:nvSpPr>
        <p:spPr>
          <a:xfrm>
            <a:off x="8641080" y="412394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3.2×</a:t>
            </a:r>
            <a:endParaRPr lang="en-US" sz="2000" dirty="0"/>
          </a:p>
        </p:txBody>
      </p:sp>
      <p:sp>
        <p:nvSpPr>
          <p:cNvPr id="16" name="txt_13"/>
          <p:cNvSpPr txBox="1"/>
          <p:nvPr/>
        </p:nvSpPr>
        <p:spPr>
          <a:xfrm>
            <a:off x="9555480" y="419709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analytics</a:t>
            </a:r>
            <a:endParaRPr lang="en-US" sz="1300" dirty="0"/>
          </a:p>
        </p:txBody>
      </p:sp>
      <p:sp>
        <p:nvSpPr>
          <p:cNvPr id="17" name="txt_14"/>
          <p:cNvSpPr txBox="1"/>
          <p:nvPr/>
        </p:nvSpPr>
        <p:spPr>
          <a:xfrm>
            <a:off x="8641080" y="474573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3.1×</a:t>
            </a:r>
            <a:endParaRPr lang="en-US" sz="2000" dirty="0"/>
          </a:p>
        </p:txBody>
      </p:sp>
      <p:sp>
        <p:nvSpPr>
          <p:cNvPr id="18" name="txt_15"/>
          <p:cNvSpPr txBox="1"/>
          <p:nvPr/>
        </p:nvSpPr>
        <p:spPr>
          <a:xfrm>
            <a:off x="9555480" y="48188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expansion</a:t>
            </a:r>
            <a:endParaRPr lang="en-US" sz="1300" dirty="0"/>
          </a:p>
        </p:txBody>
      </p:sp>
      <p:sp>
        <p:nvSpPr>
          <p:cNvPr id="19" name="txt_16"/>
          <p:cNvSpPr txBox="1"/>
          <p:nvPr/>
        </p:nvSpPr>
        <p:spPr>
          <a:xfrm>
            <a:off x="8641080" y="536752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endParaRPr lang="en-US" sz="2000" dirty="0"/>
          </a:p>
        </p:txBody>
      </p:sp>
      <p:sp>
        <p:nvSpPr>
          <p:cNvPr id="20" name="txt_17"/>
          <p:cNvSpPr txBox="1"/>
          <p:nvPr/>
        </p:nvSpPr>
        <p:spPr>
          <a:xfrm>
            <a:off x="9555480" y="54406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vertical</a:t>
            </a:r>
            <a:endParaRPr lang="en-US" sz="13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GROWTH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disciplined product pipeline feeds the roadmap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66420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dot_2"/>
          <p:cNvSpPr/>
          <p:nvPr/>
        </p:nvSpPr>
        <p:spPr>
          <a:xfrm>
            <a:off x="1051560" y="1938528"/>
            <a:ext cx="1005840" cy="1005840"/>
          </a:xfrm>
          <a:prstGeom prst="ellipse">
            <a:avLst/>
          </a:prstGeom>
          <a:solidFill>
            <a:srgbClr val="A797FA"/>
          </a:solidFill>
          <a:ln/>
        </p:spPr>
      </p:sp>
      <p:sp>
        <p:nvSpPr>
          <p:cNvPr id="6" name="txt_3"/>
          <p:cNvSpPr txBox="1"/>
          <p:nvPr/>
        </p:nvSpPr>
        <p:spPr>
          <a:xfrm>
            <a:off x="1051560" y="19385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7" name="txt_4"/>
          <p:cNvSpPr txBox="1"/>
          <p:nvPr/>
        </p:nvSpPr>
        <p:spPr>
          <a:xfrm>
            <a:off x="685800" y="3081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700" dirty="0"/>
          </a:p>
        </p:txBody>
      </p:sp>
      <p:sp>
        <p:nvSpPr>
          <p:cNvPr id="8" name="txt_5"/>
          <p:cNvSpPr txBox="1"/>
          <p:nvPr/>
        </p:nvSpPr>
        <p:spPr>
          <a:xfrm>
            <a:off x="731520" y="3447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market validated</a:t>
            </a:r>
            <a:endParaRPr lang="en-US" sz="1200" dirty="0"/>
          </a:p>
        </p:txBody>
      </p:sp>
      <p:sp>
        <p:nvSpPr>
          <p:cNvPr id="9" name="line_6"/>
          <p:cNvSpPr/>
          <p:nvPr/>
        </p:nvSpPr>
        <p:spPr>
          <a:xfrm>
            <a:off x="2587752" y="2441448"/>
            <a:ext cx="203911" cy="0"/>
          </a:xfrm>
          <a:prstGeom prst="line">
            <a:avLst/>
          </a:prstGeom>
          <a:noFill/>
          <a:ln w="19050">
            <a:solidFill>
              <a:srgbClr val="9C99BC"/>
            </a:solidFill>
            <a:prstDash val="solid"/>
            <a:tailEnd type="triangle"/>
          </a:ln>
        </p:spPr>
      </p:sp>
      <p:sp>
        <p:nvSpPr>
          <p:cNvPr id="10" name="card_7"/>
          <p:cNvSpPr/>
          <p:nvPr/>
        </p:nvSpPr>
        <p:spPr>
          <a:xfrm>
            <a:off x="2819095" y="166420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1" name="dot_8"/>
          <p:cNvSpPr/>
          <p:nvPr/>
        </p:nvSpPr>
        <p:spPr>
          <a:xfrm>
            <a:off x="3322015" y="1938528"/>
            <a:ext cx="1005840" cy="1005840"/>
          </a:xfrm>
          <a:prstGeom prst="ellipse">
            <a:avLst/>
          </a:prstGeom>
          <a:solidFill>
            <a:srgbClr val="8C78F8"/>
          </a:solidFill>
          <a:ln/>
        </p:spPr>
      </p:sp>
      <p:sp>
        <p:nvSpPr>
          <p:cNvPr id="12" name="txt_9"/>
          <p:cNvSpPr txBox="1"/>
          <p:nvPr/>
        </p:nvSpPr>
        <p:spPr>
          <a:xfrm>
            <a:off x="3322015" y="19385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xt_10"/>
          <p:cNvSpPr txBox="1"/>
          <p:nvPr/>
        </p:nvSpPr>
        <p:spPr>
          <a:xfrm>
            <a:off x="2956255" y="3081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4" name="txt_11"/>
          <p:cNvSpPr txBox="1"/>
          <p:nvPr/>
        </p:nvSpPr>
        <p:spPr>
          <a:xfrm>
            <a:off x="3001975" y="3447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tested with customers</a:t>
            </a:r>
            <a:endParaRPr lang="en-US" sz="1200" dirty="0"/>
          </a:p>
        </p:txBody>
      </p:sp>
      <p:sp>
        <p:nvSpPr>
          <p:cNvPr id="15" name="line_12"/>
          <p:cNvSpPr/>
          <p:nvPr/>
        </p:nvSpPr>
        <p:spPr>
          <a:xfrm>
            <a:off x="4858207" y="2441448"/>
            <a:ext cx="203911" cy="0"/>
          </a:xfrm>
          <a:prstGeom prst="line">
            <a:avLst/>
          </a:prstGeom>
          <a:noFill/>
          <a:ln w="19050">
            <a:solidFill>
              <a:srgbClr val="9C99BC"/>
            </a:solidFill>
            <a:prstDash val="solid"/>
            <a:tailEnd type="triangle"/>
          </a:ln>
        </p:spPr>
      </p:sp>
      <p:sp>
        <p:nvSpPr>
          <p:cNvPr id="16" name="card_13"/>
          <p:cNvSpPr/>
          <p:nvPr/>
        </p:nvSpPr>
        <p:spPr>
          <a:xfrm>
            <a:off x="5089550" y="166420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7" name="dot_14"/>
          <p:cNvSpPr/>
          <p:nvPr/>
        </p:nvSpPr>
        <p:spPr>
          <a:xfrm>
            <a:off x="5592470" y="1938528"/>
            <a:ext cx="1005840" cy="1005840"/>
          </a:xfrm>
          <a:prstGeom prst="ellipse">
            <a:avLst/>
          </a:prstGeom>
          <a:solidFill>
            <a:srgbClr val="5B3DF5"/>
          </a:solidFill>
          <a:ln/>
        </p:spPr>
      </p:sp>
      <p:sp>
        <p:nvSpPr>
          <p:cNvPr id="18" name="txt_15"/>
          <p:cNvSpPr txBox="1"/>
          <p:nvPr/>
        </p:nvSpPr>
        <p:spPr>
          <a:xfrm>
            <a:off x="5592470" y="19385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xt_16"/>
          <p:cNvSpPr txBox="1"/>
          <p:nvPr/>
        </p:nvSpPr>
        <p:spPr>
          <a:xfrm>
            <a:off x="5226710" y="3081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700" dirty="0"/>
          </a:p>
        </p:txBody>
      </p:sp>
      <p:sp>
        <p:nvSpPr>
          <p:cNvPr id="20" name="txt_17"/>
          <p:cNvSpPr txBox="1"/>
          <p:nvPr/>
        </p:nvSpPr>
        <p:spPr>
          <a:xfrm>
            <a:off x="5272430" y="3447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and in development</a:t>
            </a:r>
            <a:endParaRPr lang="en-US" sz="1200" dirty="0"/>
          </a:p>
        </p:txBody>
      </p:sp>
      <p:sp>
        <p:nvSpPr>
          <p:cNvPr id="21" name="line_18"/>
          <p:cNvSpPr/>
          <p:nvPr/>
        </p:nvSpPr>
        <p:spPr>
          <a:xfrm>
            <a:off x="7128662" y="2441448"/>
            <a:ext cx="203911" cy="0"/>
          </a:xfrm>
          <a:prstGeom prst="line">
            <a:avLst/>
          </a:prstGeom>
          <a:noFill/>
          <a:ln w="19050">
            <a:solidFill>
              <a:srgbClr val="9C99BC"/>
            </a:solidFill>
            <a:prstDash val="solid"/>
            <a:tailEnd type="triangle"/>
          </a:ln>
        </p:spPr>
      </p:sp>
      <p:sp>
        <p:nvSpPr>
          <p:cNvPr id="22" name="card_19"/>
          <p:cNvSpPr/>
          <p:nvPr/>
        </p:nvSpPr>
        <p:spPr>
          <a:xfrm>
            <a:off x="7360006" y="166420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3" name="dot_20"/>
          <p:cNvSpPr/>
          <p:nvPr/>
        </p:nvSpPr>
        <p:spPr>
          <a:xfrm>
            <a:off x="7862926" y="1938528"/>
            <a:ext cx="1005840" cy="1005840"/>
          </a:xfrm>
          <a:prstGeom prst="ellipse">
            <a:avLst/>
          </a:prstGeom>
          <a:solidFill>
            <a:srgbClr val="0FB5A5"/>
          </a:solidFill>
          <a:ln/>
        </p:spPr>
      </p:sp>
      <p:sp>
        <p:nvSpPr>
          <p:cNvPr id="24" name="txt_21"/>
          <p:cNvSpPr txBox="1"/>
          <p:nvPr/>
        </p:nvSpPr>
        <p:spPr>
          <a:xfrm>
            <a:off x="7862926" y="19385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xt_22"/>
          <p:cNvSpPr txBox="1"/>
          <p:nvPr/>
        </p:nvSpPr>
        <p:spPr>
          <a:xfrm>
            <a:off x="7497166" y="3081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26" name="txt_23"/>
          <p:cNvSpPr txBox="1"/>
          <p:nvPr/>
        </p:nvSpPr>
        <p:spPr>
          <a:xfrm>
            <a:off x="7542886" y="3447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 design partners</a:t>
            </a:r>
            <a:endParaRPr lang="en-US" sz="1200" dirty="0"/>
          </a:p>
        </p:txBody>
      </p:sp>
      <p:sp>
        <p:nvSpPr>
          <p:cNvPr id="27" name="line_24"/>
          <p:cNvSpPr/>
          <p:nvPr/>
        </p:nvSpPr>
        <p:spPr>
          <a:xfrm>
            <a:off x="9399118" y="2441448"/>
            <a:ext cx="203911" cy="0"/>
          </a:xfrm>
          <a:prstGeom prst="line">
            <a:avLst/>
          </a:prstGeom>
          <a:noFill/>
          <a:ln w="19050">
            <a:solidFill>
              <a:srgbClr val="9C99BC"/>
            </a:solidFill>
            <a:prstDash val="solid"/>
            <a:tailEnd type="triangle"/>
          </a:ln>
        </p:spPr>
      </p:sp>
      <p:sp>
        <p:nvSpPr>
          <p:cNvPr id="28" name="card_25"/>
          <p:cNvSpPr/>
          <p:nvPr/>
        </p:nvSpPr>
        <p:spPr>
          <a:xfrm>
            <a:off x="9630461" y="166420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9" name="dot_26"/>
          <p:cNvSpPr/>
          <p:nvPr/>
        </p:nvSpPr>
        <p:spPr>
          <a:xfrm>
            <a:off x="10133381" y="1938528"/>
            <a:ext cx="1005840" cy="1005840"/>
          </a:xfrm>
          <a:prstGeom prst="ellipse">
            <a:avLst/>
          </a:prstGeom>
          <a:solidFill>
            <a:srgbClr val="FF5A4E"/>
          </a:solidFill>
          <a:ln/>
        </p:spPr>
      </p:sp>
      <p:sp>
        <p:nvSpPr>
          <p:cNvPr id="30" name="txt_27"/>
          <p:cNvSpPr txBox="1"/>
          <p:nvPr/>
        </p:nvSpPr>
        <p:spPr>
          <a:xfrm>
            <a:off x="10133381" y="19385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1" name="txt_28"/>
          <p:cNvSpPr txBox="1"/>
          <p:nvPr/>
        </p:nvSpPr>
        <p:spPr>
          <a:xfrm>
            <a:off x="9767621" y="3081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700" dirty="0"/>
          </a:p>
        </p:txBody>
      </p:sp>
      <p:sp>
        <p:nvSpPr>
          <p:cNvPr id="32" name="txt_29"/>
          <p:cNvSpPr txBox="1"/>
          <p:nvPr/>
        </p:nvSpPr>
        <p:spPr>
          <a:xfrm>
            <a:off x="9813341" y="34472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availability in FY27</a:t>
            </a:r>
            <a:endParaRPr lang="en-US" sz="1200" dirty="0"/>
          </a:p>
        </p:txBody>
      </p:sp>
      <p:sp>
        <p:nvSpPr>
          <p:cNvPr id="33" name="card_30"/>
          <p:cNvSpPr/>
          <p:nvPr/>
        </p:nvSpPr>
        <p:spPr>
          <a:xfrm>
            <a:off x="548640" y="4544568"/>
            <a:ext cx="5422392" cy="1600200"/>
          </a:xfrm>
          <a:prstGeom prst="roundRect">
            <a:avLst>
              <a:gd name="adj" fmla="val 5714"/>
            </a:avLst>
          </a:prstGeom>
          <a:solidFill>
            <a:srgbClr val="14112F"/>
          </a:solidFill>
          <a:ln/>
        </p:spPr>
      </p:sp>
      <p:sp>
        <p:nvSpPr>
          <p:cNvPr id="34" name="icbg_31"/>
          <p:cNvSpPr/>
          <p:nvPr/>
        </p:nvSpPr>
        <p:spPr>
          <a:xfrm>
            <a:off x="822960" y="5001768"/>
            <a:ext cx="685800" cy="685800"/>
          </a:xfrm>
          <a:prstGeom prst="ellipse">
            <a:avLst/>
          </a:prstGeom>
          <a:solidFill>
            <a:srgbClr val="221E4A"/>
          </a:solidFill>
          <a:ln/>
        </p:spPr>
      </p:sp>
      <p:pic>
        <p:nvPicPr>
          <p:cNvPr id="35" name="ic_32" descr="Sparkl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5173218"/>
            <a:ext cx="342900" cy="342900"/>
          </a:xfrm>
          <a:prstGeom prst="rect">
            <a:avLst/>
          </a:prstGeom>
        </p:spPr>
      </p:pic>
      <p:sp>
        <p:nvSpPr>
          <p:cNvPr id="36" name="txt_33"/>
          <p:cNvSpPr txBox="1"/>
          <p:nvPr/>
        </p:nvSpPr>
        <p:spPr>
          <a:xfrm>
            <a:off x="173736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LAUNCH</a:t>
            </a:r>
            <a:endParaRPr lang="en-US" sz="1000" dirty="0"/>
          </a:p>
        </p:txBody>
      </p:sp>
      <p:sp>
        <p:nvSpPr>
          <p:cNvPr id="37" name="txt_34"/>
          <p:cNvSpPr txBox="1"/>
          <p:nvPr/>
        </p:nvSpPr>
        <p:spPr>
          <a:xfrm>
            <a:off x="1737360" y="51114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Copilot</a:t>
            </a:r>
            <a:endParaRPr lang="en-US" sz="2000" dirty="0"/>
          </a:p>
        </p:txBody>
      </p:sp>
      <p:sp>
        <p:nvSpPr>
          <p:cNvPr id="38" name="txt_35"/>
          <p:cNvSpPr txBox="1"/>
          <p:nvPr/>
        </p:nvSpPr>
        <p:spPr>
          <a:xfrm>
            <a:off x="1737360" y="55229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analysts · GA Q2 FY27</a:t>
            </a:r>
            <a:endParaRPr lang="en-US" sz="1300" dirty="0"/>
          </a:p>
        </p:txBody>
      </p:sp>
      <p:sp>
        <p:nvSpPr>
          <p:cNvPr id="39" name="card_36"/>
          <p:cNvSpPr/>
          <p:nvPr/>
        </p:nvSpPr>
        <p:spPr>
          <a:xfrm>
            <a:off x="6217920" y="4544568"/>
            <a:ext cx="5422392" cy="1600200"/>
          </a:xfrm>
          <a:prstGeom prst="roundRect">
            <a:avLst>
              <a:gd name="adj" fmla="val 5714"/>
            </a:avLst>
          </a:prstGeom>
          <a:solidFill>
            <a:srgbClr val="14112F"/>
          </a:solidFill>
          <a:ln/>
        </p:spPr>
      </p:sp>
      <p:sp>
        <p:nvSpPr>
          <p:cNvPr id="40" name="icbg_37"/>
          <p:cNvSpPr/>
          <p:nvPr/>
        </p:nvSpPr>
        <p:spPr>
          <a:xfrm>
            <a:off x="6492240" y="5001768"/>
            <a:ext cx="685800" cy="685800"/>
          </a:xfrm>
          <a:prstGeom prst="ellipse">
            <a:avLst/>
          </a:prstGeom>
          <a:solidFill>
            <a:srgbClr val="221E4A"/>
          </a:solidFill>
          <a:ln/>
        </p:spPr>
      </p:sp>
      <p:pic>
        <p:nvPicPr>
          <p:cNvPr id="41" name="ic_38" descr="Box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5173218"/>
            <a:ext cx="342900" cy="342900"/>
          </a:xfrm>
          <a:prstGeom prst="rect">
            <a:avLst/>
          </a:prstGeom>
        </p:spPr>
      </p:pic>
      <p:sp>
        <p:nvSpPr>
          <p:cNvPr id="42" name="txt_39"/>
          <p:cNvSpPr txBox="1"/>
          <p:nvPr/>
        </p:nvSpPr>
        <p:spPr>
          <a:xfrm>
            <a:off x="740664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LAUNCH</a:t>
            </a:r>
            <a:endParaRPr lang="en-US" sz="1000" dirty="0"/>
          </a:p>
        </p:txBody>
      </p:sp>
      <p:sp>
        <p:nvSpPr>
          <p:cNvPr id="43" name="txt_40"/>
          <p:cNvSpPr txBox="1"/>
          <p:nvPr/>
        </p:nvSpPr>
        <p:spPr>
          <a:xfrm>
            <a:off x="7406640" y="51114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Mid-market Bundle</a:t>
            </a:r>
            <a:endParaRPr lang="en-US" sz="2000" dirty="0"/>
          </a:p>
        </p:txBody>
      </p:sp>
      <p:sp>
        <p:nvSpPr>
          <p:cNvPr id="44" name="txt_41"/>
          <p:cNvSpPr txBox="1"/>
          <p:nvPr/>
        </p:nvSpPr>
        <p:spPr>
          <a:xfrm>
            <a:off x="7406640" y="55229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platform tiers · GA Q3 FY27</a:t>
            </a:r>
            <a:endParaRPr lang="en-US" sz="13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8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2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5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9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250"/>
                            </p:stCondLst>
                            <p:childTnLst>
                              <p:par>
                                <p:cTn id="9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GROWTH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targets: three markets in two waves</a:t>
            </a:r>
            <a:endParaRPr lang="en-US" sz="3000" dirty="0"/>
          </a:p>
        </p:txBody>
      </p:sp>
      <p:graphicFrame>
        <p:nvGraphicFramePr>
          <p:cNvPr id="4" name="tabl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2651760"/>
                <a:gridCol w="2773375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 $B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Partner-led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1 · Q1 FY27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 partner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1 · Q2 FY27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Arabia &amp; UAE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 venture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2 · Q1 FY28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_2"/>
          <p:cNvSpPr/>
          <p:nvPr/>
        </p:nvSpPr>
        <p:spPr>
          <a:xfrm>
            <a:off x="548640" y="3630168"/>
            <a:ext cx="6949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6" name="txt_3"/>
          <p:cNvSpPr txBox="1"/>
          <p:nvPr/>
        </p:nvSpPr>
        <p:spPr>
          <a:xfrm>
            <a:off x="822960" y="38313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from new markets, $M</a:t>
            </a:r>
            <a:endParaRPr lang="en-US" sz="1500" dirty="0"/>
          </a:p>
        </p:txBody>
      </p:sp>
      <p:graphicFrame>
        <p:nvGraphicFramePr>
          <p:cNvPr id="7" name="chart_4" descr=""/>
          <p:cNvGraphicFramePr/>
          <p:nvPr/>
        </p:nvGraphicFramePr>
        <p:xfrm>
          <a:off x="685800" y="3995928"/>
          <a:ext cx="6675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card_5"/>
          <p:cNvSpPr/>
          <p:nvPr/>
        </p:nvSpPr>
        <p:spPr>
          <a:xfrm>
            <a:off x="7772400" y="3630168"/>
            <a:ext cx="386791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9" name="txt_6"/>
          <p:cNvSpPr txBox="1"/>
          <p:nvPr/>
        </p:nvSpPr>
        <p:spPr>
          <a:xfrm>
            <a:off x="8001000" y="3813048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REVENUE FROM NEW MARKETS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8001000" y="406908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$95M</a:t>
            </a:r>
            <a:endParaRPr lang="en-US" sz="3000" dirty="0"/>
          </a:p>
        </p:txBody>
      </p:sp>
      <p:sp>
        <p:nvSpPr>
          <p:cNvPr id="11" name="txt_8"/>
          <p:cNvSpPr txBox="1"/>
          <p:nvPr/>
        </p:nvSpPr>
        <p:spPr>
          <a:xfrm>
            <a:off x="8001000" y="4636008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FY26–29 growth</a:t>
            </a:r>
            <a:endParaRPr lang="en-US" sz="1200" dirty="0"/>
          </a:p>
        </p:txBody>
      </p:sp>
      <p:sp>
        <p:nvSpPr>
          <p:cNvPr id="12" name="txt_9"/>
          <p:cNvSpPr txBox="1"/>
          <p:nvPr/>
        </p:nvSpPr>
        <p:spPr>
          <a:xfrm>
            <a:off x="8001000" y="5001768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$31M entry investment returns 3.1× by FY29. Japan breaks even in FY28; India in FY29.</a:t>
            </a:r>
            <a:endParaRPr lang="en-US" sz="13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  <p:bldP spid="6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GROWTH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invest $120M of growth capital in FY27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graphicFrame>
        <p:nvGraphicFramePr>
          <p:cNvPr id="5" name="chart_2" descr=""/>
          <p:cNvGraphicFramePr/>
          <p:nvPr/>
        </p:nvGraphicFramePr>
        <p:xfrm>
          <a:off x="777240" y="1801368"/>
          <a:ext cx="4114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xt_3"/>
          <p:cNvSpPr txBox="1"/>
          <p:nvPr/>
        </p:nvSpPr>
        <p:spPr>
          <a:xfrm>
            <a:off x="1828800" y="340156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$120M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growth capital</a:t>
            </a:r>
            <a:endParaRPr lang="en-US" sz="1400" dirty="0"/>
          </a:p>
        </p:txBody>
      </p:sp>
      <p:sp>
        <p:nvSpPr>
          <p:cNvPr id="7" name="card_4"/>
          <p:cNvSpPr/>
          <p:nvPr/>
        </p:nvSpPr>
        <p:spPr>
          <a:xfrm>
            <a:off x="5394960" y="1572768"/>
            <a:ext cx="624535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rect_5"/>
          <p:cNvSpPr/>
          <p:nvPr/>
        </p:nvSpPr>
        <p:spPr>
          <a:xfrm>
            <a:off x="5623560" y="18288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5B3DF5"/>
          </a:solidFill>
          <a:ln/>
        </p:spPr>
      </p:sp>
      <p:sp>
        <p:nvSpPr>
          <p:cNvPr id="9" name="txt_6"/>
          <p:cNvSpPr txBox="1"/>
          <p:nvPr/>
        </p:nvSpPr>
        <p:spPr>
          <a:xfrm>
            <a:off x="6080760" y="1682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</a:t>
            </a:r>
            <a:endParaRPr lang="en-US" sz="1400" dirty="0"/>
          </a:p>
        </p:txBody>
      </p:sp>
      <p:sp>
        <p:nvSpPr>
          <p:cNvPr id="10" name="txt_7"/>
          <p:cNvSpPr txBox="1"/>
          <p:nvPr/>
        </p:nvSpPr>
        <p:spPr>
          <a:xfrm>
            <a:off x="6080760" y="1984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Copilot, platform scale and security certifications</a:t>
            </a:r>
            <a:endParaRPr lang="en-US" sz="1100" dirty="0"/>
          </a:p>
        </p:txBody>
      </p:sp>
      <p:sp>
        <p:nvSpPr>
          <p:cNvPr id="11" name="txt_8"/>
          <p:cNvSpPr txBox="1"/>
          <p:nvPr/>
        </p:nvSpPr>
        <p:spPr>
          <a:xfrm>
            <a:off x="10424160" y="17556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$46M</a:t>
            </a:r>
            <a:endParaRPr lang="en-US" sz="2000" dirty="0"/>
          </a:p>
        </p:txBody>
      </p:sp>
      <p:sp>
        <p:nvSpPr>
          <p:cNvPr id="12" name="card_9"/>
          <p:cNvSpPr/>
          <p:nvPr/>
        </p:nvSpPr>
        <p:spPr>
          <a:xfrm>
            <a:off x="5394960" y="2487168"/>
            <a:ext cx="624535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rect_10"/>
          <p:cNvSpPr/>
          <p:nvPr/>
        </p:nvSpPr>
        <p:spPr>
          <a:xfrm>
            <a:off x="5623560" y="27432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FB5A5"/>
          </a:solidFill>
          <a:ln/>
        </p:spPr>
      </p:sp>
      <p:sp>
        <p:nvSpPr>
          <p:cNvPr id="14" name="txt_11"/>
          <p:cNvSpPr txBox="1"/>
          <p:nvPr/>
        </p:nvSpPr>
        <p:spPr>
          <a:xfrm>
            <a:off x="6080760" y="2596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5" name="txt_12"/>
          <p:cNvSpPr txBox="1"/>
          <p:nvPr/>
        </p:nvSpPr>
        <p:spPr>
          <a:xfrm>
            <a:off x="6080760" y="2898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sales pod, partner incentives and brand</a:t>
            </a:r>
            <a:endParaRPr lang="en-US" sz="1100" dirty="0"/>
          </a:p>
        </p:txBody>
      </p:sp>
      <p:sp>
        <p:nvSpPr>
          <p:cNvPr id="16" name="txt_13"/>
          <p:cNvSpPr txBox="1"/>
          <p:nvPr/>
        </p:nvSpPr>
        <p:spPr>
          <a:xfrm>
            <a:off x="10424160" y="26700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$34M</a:t>
            </a:r>
            <a:endParaRPr lang="en-US" sz="2000" dirty="0"/>
          </a:p>
        </p:txBody>
      </p:sp>
      <p:sp>
        <p:nvSpPr>
          <p:cNvPr id="17" name="card_14"/>
          <p:cNvSpPr/>
          <p:nvPr/>
        </p:nvSpPr>
        <p:spPr>
          <a:xfrm>
            <a:off x="5394960" y="3401568"/>
            <a:ext cx="624535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8" name="rect_15"/>
          <p:cNvSpPr/>
          <p:nvPr/>
        </p:nvSpPr>
        <p:spPr>
          <a:xfrm>
            <a:off x="5623560" y="36576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5A4E"/>
          </a:solidFill>
          <a:ln/>
        </p:spPr>
      </p:sp>
      <p:sp>
        <p:nvSpPr>
          <p:cNvPr id="19" name="txt_16"/>
          <p:cNvSpPr txBox="1"/>
          <p:nvPr/>
        </p:nvSpPr>
        <p:spPr>
          <a:xfrm>
            <a:off x="6080760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400" dirty="0"/>
          </a:p>
        </p:txBody>
      </p:sp>
      <p:sp>
        <p:nvSpPr>
          <p:cNvPr id="20" name="txt_17"/>
          <p:cNvSpPr txBox="1"/>
          <p:nvPr/>
        </p:nvSpPr>
        <p:spPr>
          <a:xfrm>
            <a:off x="6080760" y="3813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and India entry; Gulf joint venture preparation</a:t>
            </a:r>
            <a:endParaRPr lang="en-US" sz="1100" dirty="0"/>
          </a:p>
        </p:txBody>
      </p:sp>
      <p:sp>
        <p:nvSpPr>
          <p:cNvPr id="21" name="txt_18"/>
          <p:cNvSpPr txBox="1"/>
          <p:nvPr/>
        </p:nvSpPr>
        <p:spPr>
          <a:xfrm>
            <a:off x="10424160" y="35844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$22M</a:t>
            </a:r>
            <a:endParaRPr lang="en-US" sz="2000" dirty="0"/>
          </a:p>
        </p:txBody>
      </p:sp>
      <p:sp>
        <p:nvSpPr>
          <p:cNvPr id="22" name="card_19"/>
          <p:cNvSpPr/>
          <p:nvPr/>
        </p:nvSpPr>
        <p:spPr>
          <a:xfrm>
            <a:off x="5394960" y="4315968"/>
            <a:ext cx="624535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3" name="rect_20"/>
          <p:cNvSpPr/>
          <p:nvPr/>
        </p:nvSpPr>
        <p:spPr>
          <a:xfrm>
            <a:off x="5623560" y="45720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B224"/>
          </a:solidFill>
          <a:ln/>
        </p:spPr>
      </p:sp>
      <p:sp>
        <p:nvSpPr>
          <p:cNvPr id="24" name="txt_21"/>
          <p:cNvSpPr txBox="1"/>
          <p:nvPr/>
        </p:nvSpPr>
        <p:spPr>
          <a:xfrm>
            <a:off x="6080760" y="44256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automation</a:t>
            </a:r>
            <a:endParaRPr lang="en-US" sz="1400" dirty="0"/>
          </a:p>
        </p:txBody>
      </p:sp>
      <p:sp>
        <p:nvSpPr>
          <p:cNvPr id="25" name="txt_22"/>
          <p:cNvSpPr txBox="1"/>
          <p:nvPr/>
        </p:nvSpPr>
        <p:spPr>
          <a:xfrm>
            <a:off x="6080760" y="47274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automation and capacity tooling</a:t>
            </a:r>
            <a:endParaRPr lang="en-US" sz="1100" dirty="0"/>
          </a:p>
        </p:txBody>
      </p:sp>
      <p:sp>
        <p:nvSpPr>
          <p:cNvPr id="26" name="txt_23"/>
          <p:cNvSpPr txBox="1"/>
          <p:nvPr/>
        </p:nvSpPr>
        <p:spPr>
          <a:xfrm>
            <a:off x="10424160" y="44988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9E6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$12M</a:t>
            </a:r>
            <a:endParaRPr lang="en-US" sz="2000" dirty="0"/>
          </a:p>
        </p:txBody>
      </p:sp>
      <p:sp>
        <p:nvSpPr>
          <p:cNvPr id="27" name="card_24"/>
          <p:cNvSpPr/>
          <p:nvPr/>
        </p:nvSpPr>
        <p:spPr>
          <a:xfrm>
            <a:off x="5394960" y="5230368"/>
            <a:ext cx="624535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8" name="rect_25"/>
          <p:cNvSpPr/>
          <p:nvPr/>
        </p:nvSpPr>
        <p:spPr>
          <a:xfrm>
            <a:off x="5623560" y="54864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A797FA"/>
          </a:solidFill>
          <a:ln/>
        </p:spPr>
      </p:sp>
      <p:sp>
        <p:nvSpPr>
          <p:cNvPr id="29" name="txt_26"/>
          <p:cNvSpPr txBox="1"/>
          <p:nvPr/>
        </p:nvSpPr>
        <p:spPr>
          <a:xfrm>
            <a:off x="6080760" y="53400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capabilities</a:t>
            </a:r>
            <a:endParaRPr lang="en-US" sz="1400" dirty="0"/>
          </a:p>
        </p:txBody>
      </p:sp>
      <p:sp>
        <p:nvSpPr>
          <p:cNvPr id="30" name="txt_27"/>
          <p:cNvSpPr txBox="1"/>
          <p:nvPr/>
        </p:nvSpPr>
        <p:spPr>
          <a:xfrm>
            <a:off x="6080760" y="5641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and leadership development programmes</a:t>
            </a:r>
            <a:endParaRPr lang="en-US" sz="1100" dirty="0"/>
          </a:p>
        </p:txBody>
      </p:sp>
      <p:sp>
        <p:nvSpPr>
          <p:cNvPr id="31" name="txt_28"/>
          <p:cNvSpPr txBox="1"/>
          <p:nvPr/>
        </p:nvSpPr>
        <p:spPr>
          <a:xfrm>
            <a:off x="10424160" y="541324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$6M</a:t>
            </a:r>
            <a:endParaRPr lang="en-US" sz="2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45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8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Graphic spid="5" grpId="0">
        <p:bldAsOne/>
      </p:bldGraphic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case of $1.18B by FY2029, with a clear view of the range.</a:t>
            </a:r>
            <a:endParaRPr lang="en-US" sz="16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forecast</a:t>
            </a:r>
            <a:endParaRPr lang="en-US" sz="1300" dirty="0"/>
          </a:p>
        </p:txBody>
      </p:sp>
      <p:sp>
        <p:nvSpPr>
          <p:cNvPr id="6" name="txt_2"/>
          <p:cNvSpPr txBox="1"/>
          <p:nvPr/>
        </p:nvSpPr>
        <p:spPr>
          <a:xfrm>
            <a:off x="32918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assumptions</a:t>
            </a:r>
            <a:endParaRPr lang="en-US" sz="1300" dirty="0"/>
          </a:p>
        </p:txBody>
      </p:sp>
      <p:sp>
        <p:nvSpPr>
          <p:cNvPr id="7" name="txt_3"/>
          <p:cNvSpPr txBox="1"/>
          <p:nvPr/>
        </p:nvSpPr>
        <p:spPr>
          <a:xfrm>
            <a:off x="60350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Sensitivities and targets</a:t>
            </a:r>
            <a:endParaRPr lang="en-US" sz="1300" dirty="0"/>
          </a:p>
        </p:txBody>
      </p:sp>
      <p:sp>
        <p:nvSpPr>
          <p:cNvPr id="8" name="icbg_4"/>
          <p:cNvSpPr/>
          <p:nvPr/>
        </p:nvSpPr>
        <p:spPr>
          <a:xfrm>
            <a:off x="9921240" y="2194560"/>
            <a:ext cx="1463040" cy="1463040"/>
          </a:xfrm>
          <a:prstGeom prst="ellipse">
            <a:avLst/>
          </a:prstGeom>
          <a:solidFill>
            <a:srgbClr val="5B3DF5"/>
          </a:solidFill>
          <a:ln/>
        </p:spPr>
      </p:sp>
      <p:pic>
        <p:nvPicPr>
          <p:cNvPr id="9" name="ic_5" descr="TrendingU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0"/>
            <a:ext cx="731520" cy="731520"/>
          </a:xfrm>
          <a:prstGeom prst="rect">
            <a:avLst/>
          </a:prstGeom>
        </p:spPr>
      </p:pic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5" grpId="0" animBg="1"/>
      <p:bldP spid="6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OUTLOOK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case: revenue reaches $1.18B in FY2029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8638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$M — actuals, base-case forecast and bear-to-bull range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7589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8686800" y="1572768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8915400" y="175564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CAGR FY26–29</a:t>
            </a:r>
            <a:endParaRPr lang="en-US" sz="1100" dirty="0"/>
          </a:p>
        </p:txBody>
      </p:sp>
      <p:sp>
        <p:nvSpPr>
          <p:cNvPr id="9" name="txt_6"/>
          <p:cNvSpPr txBox="1"/>
          <p:nvPr/>
        </p:nvSpPr>
        <p:spPr>
          <a:xfrm>
            <a:off x="8915400" y="201168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3000" dirty="0"/>
          </a:p>
        </p:txBody>
      </p:sp>
      <p:sp>
        <p:nvSpPr>
          <p:cNvPr id="10" name="txt_7"/>
          <p:cNvSpPr txBox="1"/>
          <p:nvPr/>
        </p:nvSpPr>
        <p:spPr>
          <a:xfrm>
            <a:off x="8915400" y="257860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17.0% FY22–26</a:t>
            </a:r>
            <a:endParaRPr lang="en-US" sz="1200" dirty="0"/>
          </a:p>
        </p:txBody>
      </p:sp>
      <p:sp>
        <p:nvSpPr>
          <p:cNvPr id="11" name="card_8"/>
          <p:cNvSpPr/>
          <p:nvPr/>
        </p:nvSpPr>
        <p:spPr>
          <a:xfrm>
            <a:off x="8686800" y="3145536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2" name="txt_9"/>
          <p:cNvSpPr txBox="1"/>
          <p:nvPr/>
        </p:nvSpPr>
        <p:spPr>
          <a:xfrm>
            <a:off x="8915400" y="332841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BASE CASE</a:t>
            </a:r>
            <a:endParaRPr lang="en-US" sz="1100" dirty="0"/>
          </a:p>
        </p:txBody>
      </p:sp>
      <p:sp>
        <p:nvSpPr>
          <p:cNvPr id="13" name="txt_10"/>
          <p:cNvSpPr txBox="1"/>
          <p:nvPr/>
        </p:nvSpPr>
        <p:spPr>
          <a:xfrm>
            <a:off x="8915400" y="3584448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$1,176M</a:t>
            </a:r>
            <a:endParaRPr lang="en-US" sz="3000" dirty="0"/>
          </a:p>
        </p:txBody>
      </p:sp>
      <p:sp>
        <p:nvSpPr>
          <p:cNvPr id="14" name="txt_11"/>
          <p:cNvSpPr txBox="1"/>
          <p:nvPr/>
        </p:nvSpPr>
        <p:spPr>
          <a:xfrm>
            <a:off x="8915400" y="4151376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$1,045M – $1,276M</a:t>
            </a:r>
            <a:endParaRPr lang="en-US" sz="1200" dirty="0"/>
          </a:p>
        </p:txBody>
      </p:sp>
      <p:sp>
        <p:nvSpPr>
          <p:cNvPr id="15" name="card_12"/>
          <p:cNvSpPr/>
          <p:nvPr/>
        </p:nvSpPr>
        <p:spPr>
          <a:xfrm>
            <a:off x="8686800" y="4718304"/>
            <a:ext cx="2953512" cy="1426464"/>
          </a:xfrm>
          <a:prstGeom prst="roundRect">
            <a:avLst>
              <a:gd name="adj" fmla="val 6410"/>
            </a:avLst>
          </a:prstGeom>
          <a:solidFill>
            <a:srgbClr val="ECE8FE"/>
          </a:solidFill>
          <a:ln/>
        </p:spPr>
      </p:sp>
      <p:sp>
        <p:nvSpPr>
          <p:cNvPr id="16" name="txt_13"/>
          <p:cNvSpPr txBox="1"/>
          <p:nvPr/>
        </p:nvSpPr>
        <p:spPr>
          <a:xfrm>
            <a:off x="8961120" y="4974336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bottom-up</a:t>
            </a:r>
            <a:endParaRPr lang="en-US" sz="1600" dirty="0"/>
          </a:p>
        </p:txBody>
      </p:sp>
      <p:sp>
        <p:nvSpPr>
          <p:cNvPr id="17" name="txt_14"/>
          <p:cNvSpPr txBox="1"/>
          <p:nvPr/>
        </p:nvSpPr>
        <p:spPr>
          <a:xfrm>
            <a:off x="8961120" y="5431536"/>
            <a:ext cx="240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region and channel plans.</a:t>
            </a:r>
            <a:endParaRPr lang="en-US" sz="13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9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OUTLOOK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scenarios frame the planning range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6400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scenario, $M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7223760" y="1572768"/>
            <a:ext cx="441655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rect_5"/>
          <p:cNvSpPr/>
          <p:nvPr/>
        </p:nvSpPr>
        <p:spPr>
          <a:xfrm>
            <a:off x="7452360" y="180136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DCF5F2"/>
          </a:solidFill>
          <a:ln/>
        </p:spPr>
      </p:sp>
      <p:sp>
        <p:nvSpPr>
          <p:cNvPr id="9" name="txt_6"/>
          <p:cNvSpPr txBox="1"/>
          <p:nvPr/>
        </p:nvSpPr>
        <p:spPr>
          <a:xfrm>
            <a:off x="7452360" y="180136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10" name="txt_7"/>
          <p:cNvSpPr txBox="1"/>
          <p:nvPr/>
        </p:nvSpPr>
        <p:spPr>
          <a:xfrm>
            <a:off x="8321040" y="1755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$1,276M</a:t>
            </a:r>
            <a:endParaRPr lang="en-US" sz="2000" dirty="0"/>
          </a:p>
        </p:txBody>
      </p:sp>
      <p:sp>
        <p:nvSpPr>
          <p:cNvPr id="11" name="txt_8"/>
          <p:cNvSpPr txBox="1"/>
          <p:nvPr/>
        </p:nvSpPr>
        <p:spPr>
          <a:xfrm>
            <a:off x="9966960" y="18196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 CAGR</a:t>
            </a:r>
            <a:endParaRPr lang="en-US" sz="1200" dirty="0"/>
          </a:p>
        </p:txBody>
      </p:sp>
      <p:sp>
        <p:nvSpPr>
          <p:cNvPr id="12" name="txt_9"/>
          <p:cNvSpPr txBox="1"/>
          <p:nvPr/>
        </p:nvSpPr>
        <p:spPr>
          <a:xfrm>
            <a:off x="7452360" y="225856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products scale fast; NRR reaches 124%; both expansion waves on time.</a:t>
            </a:r>
            <a:endParaRPr lang="en-US" sz="1200" dirty="0"/>
          </a:p>
        </p:txBody>
      </p:sp>
      <p:sp>
        <p:nvSpPr>
          <p:cNvPr id="13" name="card_10"/>
          <p:cNvSpPr/>
          <p:nvPr/>
        </p:nvSpPr>
        <p:spPr>
          <a:xfrm>
            <a:off x="7223760" y="3145536"/>
            <a:ext cx="441655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rect_11"/>
          <p:cNvSpPr/>
          <p:nvPr/>
        </p:nvSpPr>
        <p:spPr>
          <a:xfrm>
            <a:off x="7452360" y="3374136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CE8FE"/>
          </a:solidFill>
          <a:ln/>
        </p:spPr>
      </p:sp>
      <p:sp>
        <p:nvSpPr>
          <p:cNvPr id="15" name="txt_12"/>
          <p:cNvSpPr txBox="1"/>
          <p:nvPr/>
        </p:nvSpPr>
        <p:spPr>
          <a:xfrm>
            <a:off x="7452360" y="33741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16" name="txt_13"/>
          <p:cNvSpPr txBox="1"/>
          <p:nvPr/>
        </p:nvSpPr>
        <p:spPr>
          <a:xfrm>
            <a:off x="8321040" y="33284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$1,176M</a:t>
            </a:r>
            <a:endParaRPr lang="en-US" sz="2000" dirty="0"/>
          </a:p>
        </p:txBody>
      </p:sp>
      <p:sp>
        <p:nvSpPr>
          <p:cNvPr id="17" name="txt_14"/>
          <p:cNvSpPr txBox="1"/>
          <p:nvPr/>
        </p:nvSpPr>
        <p:spPr>
          <a:xfrm>
            <a:off x="9966960" y="33924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CAGR</a:t>
            </a:r>
            <a:endParaRPr lang="en-US" sz="1200" dirty="0"/>
          </a:p>
        </p:txBody>
      </p:sp>
      <p:sp>
        <p:nvSpPr>
          <p:cNvPr id="18" name="txt_15"/>
          <p:cNvSpPr txBox="1"/>
          <p:nvPr/>
        </p:nvSpPr>
        <p:spPr>
          <a:xfrm>
            <a:off x="7452360" y="3831336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momentum continues; NRR 120%; Wave 2 slips one quarter.</a:t>
            </a:r>
            <a:endParaRPr lang="en-US" sz="1200" dirty="0"/>
          </a:p>
        </p:txBody>
      </p:sp>
      <p:sp>
        <p:nvSpPr>
          <p:cNvPr id="19" name="card_16"/>
          <p:cNvSpPr/>
          <p:nvPr/>
        </p:nvSpPr>
        <p:spPr>
          <a:xfrm>
            <a:off x="7223760" y="4718304"/>
            <a:ext cx="4416552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0" name="rect_17"/>
          <p:cNvSpPr/>
          <p:nvPr/>
        </p:nvSpPr>
        <p:spPr>
          <a:xfrm>
            <a:off x="7452360" y="4946904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FFE7E4"/>
          </a:solidFill>
          <a:ln/>
        </p:spPr>
      </p:sp>
      <p:sp>
        <p:nvSpPr>
          <p:cNvPr id="21" name="txt_18"/>
          <p:cNvSpPr txBox="1"/>
          <p:nvPr/>
        </p:nvSpPr>
        <p:spPr>
          <a:xfrm>
            <a:off x="7452360" y="49469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22" name="txt_19"/>
          <p:cNvSpPr txBox="1"/>
          <p:nvPr/>
        </p:nvSpPr>
        <p:spPr>
          <a:xfrm>
            <a:off x="8321040" y="49011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$1,045M</a:t>
            </a:r>
            <a:endParaRPr lang="en-US" sz="2000" dirty="0"/>
          </a:p>
        </p:txBody>
      </p:sp>
      <p:sp>
        <p:nvSpPr>
          <p:cNvPr id="23" name="txt_20"/>
          <p:cNvSpPr txBox="1"/>
          <p:nvPr/>
        </p:nvSpPr>
        <p:spPr>
          <a:xfrm>
            <a:off x="9966960" y="4965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 CAGR</a:t>
            </a:r>
            <a:endParaRPr lang="en-US" sz="1200" dirty="0"/>
          </a:p>
        </p:txBody>
      </p:sp>
      <p:sp>
        <p:nvSpPr>
          <p:cNvPr id="24" name="txt_21"/>
          <p:cNvSpPr txBox="1"/>
          <p:nvPr/>
        </p:nvSpPr>
        <p:spPr>
          <a:xfrm>
            <a:off x="7452360" y="5404104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slowdown lengthens cycles; NRR falls to 112%; Wave 2 deferred.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9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3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OUTLOOK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planning assumptions behind the base case</a:t>
            </a:r>
            <a:endParaRPr lang="en-US" sz="3000" dirty="0"/>
          </a:p>
        </p:txBody>
      </p:sp>
      <p:graphicFrame>
        <p:nvGraphicFramePr>
          <p:cNvPr id="4" name="tabl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463040"/>
                <a:gridCol w="1463040"/>
                <a:gridCol w="1645920"/>
                <a:gridCol w="1676095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 actual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price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New-market revenue ($M)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Headcount, year-end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</a:tr>
            </a:tbl>
          </a:graphicData>
        </a:graphic>
      </p:graphicFrame>
      <p:sp>
        <p:nvSpPr>
          <p:cNvPr id="5" name="txt_2"/>
          <p:cNvSpPr txBox="1"/>
          <p:nvPr/>
        </p:nvSpPr>
        <p:spPr>
          <a:xfrm>
            <a:off x="548640" y="564184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reflects data quality and controllability of each driver. New-market revenue carries the widest range and is excluded from management bonus targets until Wave 1 is live.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OUTLOOK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is the biggest swing factor for FY2029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7589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77393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FY29 base-case revenue of $1,176M, $M</a:t>
            </a:r>
            <a:endParaRPr lang="en-US" sz="1500" dirty="0"/>
          </a:p>
        </p:txBody>
      </p:sp>
      <p:graphicFrame>
        <p:nvGraphicFramePr>
          <p:cNvPr id="6" name="chart_3" descr=""/>
          <p:cNvGraphicFramePr/>
          <p:nvPr/>
        </p:nvGraphicFramePr>
        <p:xfrm>
          <a:off x="685800" y="2121408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_4"/>
          <p:cNvSpPr/>
          <p:nvPr/>
        </p:nvSpPr>
        <p:spPr>
          <a:xfrm>
            <a:off x="8412480" y="1572768"/>
            <a:ext cx="3227832" cy="4572000"/>
          </a:xfrm>
          <a:prstGeom prst="roundRect">
            <a:avLst>
              <a:gd name="adj" fmla="val 2833"/>
            </a:avLst>
          </a:prstGeom>
          <a:solidFill>
            <a:srgbClr val="ECE8FE"/>
          </a:solidFill>
          <a:ln/>
        </p:spPr>
      </p:sp>
      <p:sp>
        <p:nvSpPr>
          <p:cNvPr id="8" name="txt_5"/>
          <p:cNvSpPr txBox="1"/>
          <p:nvPr/>
        </p:nvSpPr>
        <p:spPr>
          <a:xfrm>
            <a:off x="8686800" y="18288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</a:t>
            </a:r>
            <a:endParaRPr lang="en-US" sz="1600" dirty="0"/>
          </a:p>
        </p:txBody>
      </p:sp>
      <p:sp>
        <p:nvSpPr>
          <p:cNvPr id="9" name="txt_6"/>
          <p:cNvSpPr txBox="1"/>
          <p:nvPr/>
        </p:nvSpPr>
        <p:spPr>
          <a:xfrm>
            <a:off x="8686800" y="2286000"/>
            <a:ext cx="26791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NRR is worth about $12M of FY29 revenue.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capacity is therefore a revenue lever, not a cost line.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exposure is modest and partly hedged.</a:t>
            </a:r>
            <a:endParaRPr lang="en-US" sz="13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Graphic spid="6" grpId="0">
        <p:bldAsOne/>
      </p:bldGraphic>
      <p:bldP spid="7" grpId="0" animBg="1"/>
      <p:bldP spid="8" grpId="0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OUTLOOK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FY2029 ambition at a glance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664208"/>
            <a:ext cx="2567864" cy="4434840"/>
          </a:xfrm>
          <a:prstGeom prst="roundRect">
            <a:avLst>
              <a:gd name="adj" fmla="val 3561"/>
            </a:avLst>
          </a:prstGeom>
          <a:solidFill>
            <a:srgbClr val="221E4A"/>
          </a:solidFill>
          <a:ln/>
        </p:spPr>
      </p:sp>
      <p:sp>
        <p:nvSpPr>
          <p:cNvPr id="5" name="icbg_2"/>
          <p:cNvSpPr/>
          <p:nvPr/>
        </p:nvSpPr>
        <p:spPr>
          <a:xfrm>
            <a:off x="822960" y="1938528"/>
            <a:ext cx="566928" cy="566928"/>
          </a:xfrm>
          <a:prstGeom prst="ellipse">
            <a:avLst/>
          </a:prstGeom>
          <a:solidFill>
            <a:srgbClr val="322C6A"/>
          </a:solidFill>
          <a:ln/>
        </p:spPr>
      </p:sp>
      <p:pic>
        <p:nvPicPr>
          <p:cNvPr id="6" name="ic_3" descr="CircleDollarSig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080260"/>
            <a:ext cx="283464" cy="283464"/>
          </a:xfrm>
          <a:prstGeom prst="rect">
            <a:avLst/>
          </a:prstGeom>
        </p:spPr>
      </p:pic>
      <p:sp>
        <p:nvSpPr>
          <p:cNvPr id="7" name="txt_4"/>
          <p:cNvSpPr txBox="1"/>
          <p:nvPr/>
        </p:nvSpPr>
        <p:spPr>
          <a:xfrm>
            <a:off x="822960" y="271576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8" name="txt_5"/>
          <p:cNvSpPr txBox="1"/>
          <p:nvPr/>
        </p:nvSpPr>
        <p:spPr>
          <a:xfrm>
            <a:off x="822960" y="2990088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$1.18B</a:t>
            </a:r>
            <a:endParaRPr lang="en-US" sz="3600" dirty="0"/>
          </a:p>
        </p:txBody>
      </p:sp>
      <p:sp>
        <p:nvSpPr>
          <p:cNvPr id="9" name="txt_6"/>
          <p:cNvSpPr txBox="1"/>
          <p:nvPr/>
        </p:nvSpPr>
        <p:spPr>
          <a:xfrm>
            <a:off x="822960" y="367588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9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$772M in FY26</a:t>
            </a:r>
            <a:endParaRPr lang="en-US" sz="1300" dirty="0"/>
          </a:p>
        </p:txBody>
      </p:sp>
      <p:graphicFrame>
        <p:nvGraphicFramePr>
          <p:cNvPr id="10" name="chart_7" descr=""/>
          <p:cNvGraphicFramePr/>
          <p:nvPr/>
        </p:nvGraphicFramePr>
        <p:xfrm>
          <a:off x="685800" y="4087368"/>
          <a:ext cx="2293544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ard_8"/>
          <p:cNvSpPr/>
          <p:nvPr/>
        </p:nvSpPr>
        <p:spPr>
          <a:xfrm>
            <a:off x="3390824" y="1664208"/>
            <a:ext cx="2567864" cy="4434840"/>
          </a:xfrm>
          <a:prstGeom prst="roundRect">
            <a:avLst>
              <a:gd name="adj" fmla="val 3561"/>
            </a:avLst>
          </a:prstGeom>
          <a:solidFill>
            <a:srgbClr val="221E4A"/>
          </a:solidFill>
          <a:ln/>
        </p:spPr>
      </p:sp>
      <p:sp>
        <p:nvSpPr>
          <p:cNvPr id="12" name="icbg_9"/>
          <p:cNvSpPr/>
          <p:nvPr/>
        </p:nvSpPr>
        <p:spPr>
          <a:xfrm>
            <a:off x="3665144" y="1938528"/>
            <a:ext cx="566928" cy="566928"/>
          </a:xfrm>
          <a:prstGeom prst="ellipse">
            <a:avLst/>
          </a:prstGeom>
          <a:solidFill>
            <a:srgbClr val="322C6A"/>
          </a:solidFill>
          <a:ln/>
        </p:spPr>
      </p:sp>
      <p:pic>
        <p:nvPicPr>
          <p:cNvPr id="13" name="ic_10" descr="Gaug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876" y="2080260"/>
            <a:ext cx="283464" cy="283464"/>
          </a:xfrm>
          <a:prstGeom prst="rect">
            <a:avLst/>
          </a:prstGeom>
        </p:spPr>
      </p:pic>
      <p:sp>
        <p:nvSpPr>
          <p:cNvPr id="14" name="txt_11"/>
          <p:cNvSpPr txBox="1"/>
          <p:nvPr/>
        </p:nvSpPr>
        <p:spPr>
          <a:xfrm>
            <a:off x="3665144" y="271576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00" dirty="0"/>
          </a:p>
        </p:txBody>
      </p:sp>
      <p:sp>
        <p:nvSpPr>
          <p:cNvPr id="15" name="txt_12"/>
          <p:cNvSpPr txBox="1"/>
          <p:nvPr/>
        </p:nvSpPr>
        <p:spPr>
          <a:xfrm>
            <a:off x="3665144" y="2990088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27.0%</a:t>
            </a:r>
            <a:endParaRPr lang="en-US" sz="3600" dirty="0"/>
          </a:p>
        </p:txBody>
      </p:sp>
      <p:sp>
        <p:nvSpPr>
          <p:cNvPr id="16" name="txt_13"/>
          <p:cNvSpPr txBox="1"/>
          <p:nvPr/>
        </p:nvSpPr>
        <p:spPr>
          <a:xfrm>
            <a:off x="3665144" y="367588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23.4% in FY26</a:t>
            </a:r>
            <a:endParaRPr lang="en-US" sz="1300" dirty="0"/>
          </a:p>
        </p:txBody>
      </p:sp>
      <p:graphicFrame>
        <p:nvGraphicFramePr>
          <p:cNvPr id="17" name="chart_14" descr=""/>
          <p:cNvGraphicFramePr/>
          <p:nvPr/>
        </p:nvGraphicFramePr>
        <p:xfrm>
          <a:off x="3527984" y="4087368"/>
          <a:ext cx="2293544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8" name="card_15"/>
          <p:cNvSpPr/>
          <p:nvPr/>
        </p:nvSpPr>
        <p:spPr>
          <a:xfrm>
            <a:off x="6233008" y="1664208"/>
            <a:ext cx="2567864" cy="4434840"/>
          </a:xfrm>
          <a:prstGeom prst="roundRect">
            <a:avLst>
              <a:gd name="adj" fmla="val 3561"/>
            </a:avLst>
          </a:prstGeom>
          <a:solidFill>
            <a:srgbClr val="221E4A"/>
          </a:solidFill>
          <a:ln/>
        </p:spPr>
      </p:sp>
      <p:sp>
        <p:nvSpPr>
          <p:cNvPr id="19" name="icbg_16"/>
          <p:cNvSpPr/>
          <p:nvPr/>
        </p:nvSpPr>
        <p:spPr>
          <a:xfrm>
            <a:off x="6507328" y="1938528"/>
            <a:ext cx="566928" cy="566928"/>
          </a:xfrm>
          <a:prstGeom prst="ellipse">
            <a:avLst/>
          </a:prstGeom>
          <a:solidFill>
            <a:srgbClr val="322C6A"/>
          </a:solidFill>
          <a:ln/>
        </p:spPr>
      </p:sp>
      <p:pic>
        <p:nvPicPr>
          <p:cNvPr id="20" name="ic_17" descr="RefreshCw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060" y="2080260"/>
            <a:ext cx="283464" cy="283464"/>
          </a:xfrm>
          <a:prstGeom prst="rect">
            <a:avLst/>
          </a:prstGeom>
        </p:spPr>
      </p:pic>
      <p:sp>
        <p:nvSpPr>
          <p:cNvPr id="21" name="txt_18"/>
          <p:cNvSpPr txBox="1"/>
          <p:nvPr/>
        </p:nvSpPr>
        <p:spPr>
          <a:xfrm>
            <a:off x="6507328" y="271576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22" name="txt_19"/>
          <p:cNvSpPr txBox="1"/>
          <p:nvPr/>
        </p:nvSpPr>
        <p:spPr>
          <a:xfrm>
            <a:off x="6507328" y="2990088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121%</a:t>
            </a:r>
            <a:endParaRPr lang="en-US" sz="3600" dirty="0"/>
          </a:p>
        </p:txBody>
      </p:sp>
      <p:sp>
        <p:nvSpPr>
          <p:cNvPr id="23" name="txt_20"/>
          <p:cNvSpPr txBox="1"/>
          <p:nvPr/>
        </p:nvSpPr>
        <p:spPr>
          <a:xfrm>
            <a:off x="6507328" y="367588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119% in FY26</a:t>
            </a:r>
            <a:endParaRPr lang="en-US" sz="1300" dirty="0"/>
          </a:p>
        </p:txBody>
      </p:sp>
      <p:graphicFrame>
        <p:nvGraphicFramePr>
          <p:cNvPr id="24" name="chart_21" descr=""/>
          <p:cNvGraphicFramePr/>
          <p:nvPr/>
        </p:nvGraphicFramePr>
        <p:xfrm>
          <a:off x="6370168" y="4087368"/>
          <a:ext cx="2293544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card_22"/>
          <p:cNvSpPr/>
          <p:nvPr/>
        </p:nvSpPr>
        <p:spPr>
          <a:xfrm>
            <a:off x="9075191" y="1664208"/>
            <a:ext cx="2567864" cy="4434840"/>
          </a:xfrm>
          <a:prstGeom prst="roundRect">
            <a:avLst>
              <a:gd name="adj" fmla="val 3561"/>
            </a:avLst>
          </a:prstGeom>
          <a:solidFill>
            <a:srgbClr val="221E4A"/>
          </a:solidFill>
          <a:ln/>
        </p:spPr>
      </p:sp>
      <p:sp>
        <p:nvSpPr>
          <p:cNvPr id="26" name="icbg_23"/>
          <p:cNvSpPr/>
          <p:nvPr/>
        </p:nvSpPr>
        <p:spPr>
          <a:xfrm>
            <a:off x="9349511" y="1938528"/>
            <a:ext cx="566928" cy="566928"/>
          </a:xfrm>
          <a:prstGeom prst="ellipse">
            <a:avLst/>
          </a:prstGeom>
          <a:solidFill>
            <a:srgbClr val="322C6A"/>
          </a:solidFill>
          <a:ln/>
        </p:spPr>
      </p:sp>
      <p:pic>
        <p:nvPicPr>
          <p:cNvPr id="27" name="ic_24" descr="TrendingU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1243" y="2080260"/>
            <a:ext cx="283464" cy="283464"/>
          </a:xfrm>
          <a:prstGeom prst="rect">
            <a:avLst/>
          </a:prstGeom>
        </p:spPr>
      </p:pic>
      <p:sp>
        <p:nvSpPr>
          <p:cNvPr id="28" name="txt_25"/>
          <p:cNvSpPr txBox="1"/>
          <p:nvPr/>
        </p:nvSpPr>
        <p:spPr>
          <a:xfrm>
            <a:off x="9349511" y="271576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00" dirty="0"/>
          </a:p>
        </p:txBody>
      </p:sp>
      <p:sp>
        <p:nvSpPr>
          <p:cNvPr id="29" name="txt_26"/>
          <p:cNvSpPr txBox="1"/>
          <p:nvPr/>
        </p:nvSpPr>
        <p:spPr>
          <a:xfrm>
            <a:off x="9349511" y="2990088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$230M</a:t>
            </a:r>
            <a:endParaRPr lang="en-US" sz="3600" dirty="0"/>
          </a:p>
        </p:txBody>
      </p:sp>
      <p:sp>
        <p:nvSpPr>
          <p:cNvPr id="30" name="txt_27"/>
          <p:cNvSpPr txBox="1"/>
          <p:nvPr/>
        </p:nvSpPr>
        <p:spPr>
          <a:xfrm>
            <a:off x="9349511" y="367588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$118M in FY26</a:t>
            </a:r>
            <a:endParaRPr lang="en-US" sz="1300" dirty="0"/>
          </a:p>
        </p:txBody>
      </p:sp>
      <p:graphicFrame>
        <p:nvGraphicFramePr>
          <p:cNvPr id="31" name="chart_28" descr=""/>
          <p:cNvGraphicFramePr/>
          <p:nvPr/>
        </p:nvGraphicFramePr>
        <p:xfrm>
          <a:off x="9212351" y="4087368"/>
          <a:ext cx="2293544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Graphic spid="10" grpId="0">
        <p:bldAsOne/>
      </p:bldGraphic>
      <p:bldP spid="11" grpId="0" animBg="1"/>
      <p:bldP spid="12" grpId="0" animBg="1"/>
      <p:bldP spid="14" grpId="0" animBg="1"/>
      <p:bldP spid="15" grpId="0" animBg="1"/>
      <p:bldP spid="16" grpId="0" animBg="1"/>
      <p:bldGraphic spid="17" grpId="0">
        <p:bldAsOne/>
      </p:bldGraphic>
      <p:bldP spid="18" grpId="0" animBg="1"/>
      <p:bldP spid="19" grpId="0" animBg="1"/>
      <p:bldP spid="21" grpId="0" animBg="1"/>
      <p:bldP spid="22" grpId="0" animBg="1"/>
      <p:bldP spid="23" grpId="0" animBg="1"/>
      <p:bldGraphic spid="24" grpId="0">
        <p:bldAsOne/>
      </p:bldGraphic>
      <p:bldP spid="25" grpId="0" animBg="1"/>
      <p:bldP spid="26" grpId="0" animBg="1"/>
      <p:bldP spid="28" grpId="0" animBg="1"/>
      <p:bldP spid="29" grpId="0" animBg="1"/>
      <p:bldP spid="30" grpId="0" animBg="1"/>
      <p:bldGraphic spid="31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4" type="body" hasCustomPrompt="1"/>
          </p:nvPr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A79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0"/>
          <p:cNvSpPr/>
          <p:nvPr>
            <p:ph idx="105" type="title" hasCustomPrompt="1"/>
          </p:nvPr>
        </p:nvSpPr>
        <p:spPr>
          <a:xfrm>
            <a:off x="548640" y="27432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6" type="body" hasCustomPrompt="1"/>
          </p:nvPr>
        </p:nvSpPr>
        <p:spPr>
          <a:xfrm>
            <a:off x="548640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strategy into owned, sequenced and measured action.</a:t>
            </a:r>
            <a:endParaRPr lang="en-US" sz="1600" dirty="0"/>
          </a:p>
        </p:txBody>
      </p:sp>
      <p:sp>
        <p:nvSpPr>
          <p:cNvPr id="5" name="txt_1"/>
          <p:cNvSpPr txBox="1"/>
          <p:nvPr/>
        </p:nvSpPr>
        <p:spPr>
          <a:xfrm>
            <a:off x="5486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and recommendations</a:t>
            </a:r>
            <a:endParaRPr lang="en-US" sz="1300" dirty="0"/>
          </a:p>
        </p:txBody>
      </p:sp>
      <p:sp>
        <p:nvSpPr>
          <p:cNvPr id="6" name="txt_2"/>
          <p:cNvSpPr txBox="1"/>
          <p:nvPr/>
        </p:nvSpPr>
        <p:spPr>
          <a:xfrm>
            <a:off x="32918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milestones and governance</a:t>
            </a:r>
            <a:endParaRPr lang="en-US" sz="1300" dirty="0"/>
          </a:p>
        </p:txBody>
      </p:sp>
      <p:sp>
        <p:nvSpPr>
          <p:cNvPr id="7" name="txt_3"/>
          <p:cNvSpPr txBox="1"/>
          <p:nvPr/>
        </p:nvSpPr>
        <p:spPr>
          <a:xfrm>
            <a:off x="603504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KPIs and next steps</a:t>
            </a:r>
            <a:endParaRPr lang="en-US" sz="1300" dirty="0"/>
          </a:p>
        </p:txBody>
      </p:sp>
      <p:sp>
        <p:nvSpPr>
          <p:cNvPr id="8" name="icbg_4"/>
          <p:cNvSpPr/>
          <p:nvPr/>
        </p:nvSpPr>
        <p:spPr>
          <a:xfrm>
            <a:off x="9921240" y="2194560"/>
            <a:ext cx="1463040" cy="1463040"/>
          </a:xfrm>
          <a:prstGeom prst="ellipse">
            <a:avLst/>
          </a:prstGeom>
          <a:solidFill>
            <a:srgbClr val="5B3DF5"/>
          </a:solidFill>
          <a:ln/>
        </p:spPr>
      </p:sp>
      <p:pic>
        <p:nvPicPr>
          <p:cNvPr id="9" name="ic_5" descr="Fla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560320"/>
            <a:ext cx="731520" cy="731520"/>
          </a:xfrm>
          <a:prstGeom prst="rect">
            <a:avLst/>
          </a:prstGeom>
        </p:spPr>
      </p:pic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E8A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8" grpId="0" animBg="1"/>
      <p:bldP spid="5" grpId="0" animBg="1"/>
      <p:bldP spid="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strategic priorities for FY2027–FY2029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22960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99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icbg_3"/>
          <p:cNvSpPr/>
          <p:nvPr/>
        </p:nvSpPr>
        <p:spPr>
          <a:xfrm>
            <a:off x="2202104" y="1801368"/>
            <a:ext cx="640080" cy="640080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7" name="ic_4" descr="Sparkl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124" y="1961388"/>
            <a:ext cx="320040" cy="320040"/>
          </a:xfrm>
          <a:prstGeom prst="rect">
            <a:avLst/>
          </a:prstGeom>
        </p:spPr>
      </p:pic>
      <p:sp>
        <p:nvSpPr>
          <p:cNvPr id="8" name="txt_5"/>
          <p:cNvSpPr txBox="1"/>
          <p:nvPr/>
        </p:nvSpPr>
        <p:spPr>
          <a:xfrm>
            <a:off x="822960" y="26243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AI</a:t>
            </a:r>
            <a:endParaRPr lang="en-US" sz="2000" dirty="0"/>
          </a:p>
        </p:txBody>
      </p:sp>
      <p:sp>
        <p:nvSpPr>
          <p:cNvPr id="9" name="txt_6"/>
          <p:cNvSpPr txBox="1"/>
          <p:nvPr/>
        </p:nvSpPr>
        <p:spPr>
          <a:xfrm>
            <a:off x="822960" y="3447288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Insight Copilot standard in every Platform tier.</a:t>
            </a:r>
            <a:endParaRPr lang="en-US" sz="1400" dirty="0"/>
          </a:p>
        </p:txBody>
      </p:sp>
      <p:sp>
        <p:nvSpPr>
          <p:cNvPr id="10" name="rect_7"/>
          <p:cNvSpPr/>
          <p:nvPr/>
        </p:nvSpPr>
        <p:spPr>
          <a:xfrm>
            <a:off x="822960" y="4727448"/>
            <a:ext cx="2019224" cy="1143000"/>
          </a:xfrm>
          <a:prstGeom prst="roundRect">
            <a:avLst>
              <a:gd name="adj" fmla="val 6400"/>
            </a:avLst>
          </a:prstGeom>
          <a:solidFill>
            <a:srgbClr val="ECE8FE"/>
          </a:solidFill>
          <a:ln/>
        </p:spPr>
      </p:sp>
      <p:sp>
        <p:nvSpPr>
          <p:cNvPr id="11" name="txt_8"/>
          <p:cNvSpPr txBox="1"/>
          <p:nvPr/>
        </p:nvSpPr>
        <p:spPr>
          <a:xfrm>
            <a:off x="1005840" y="4818888"/>
            <a:ext cx="165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$120M</a:t>
            </a:r>
            <a:endParaRPr lang="en-US" sz="2800" dirty="0"/>
          </a:p>
        </p:txBody>
      </p:sp>
      <p:sp>
        <p:nvSpPr>
          <p:cNvPr id="12" name="txt_9"/>
          <p:cNvSpPr txBox="1"/>
          <p:nvPr/>
        </p:nvSpPr>
        <p:spPr>
          <a:xfrm>
            <a:off x="1005840" y="536752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revenue</a:t>
            </a:r>
            <a:endParaRPr lang="en-US" sz="1300" dirty="0"/>
          </a:p>
        </p:txBody>
      </p:sp>
      <p:sp>
        <p:nvSpPr>
          <p:cNvPr id="13" name="card_10"/>
          <p:cNvSpPr/>
          <p:nvPr/>
        </p:nvSpPr>
        <p:spPr>
          <a:xfrm>
            <a:off x="3390824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txt_11"/>
          <p:cNvSpPr txBox="1"/>
          <p:nvPr/>
        </p:nvSpPr>
        <p:spPr>
          <a:xfrm>
            <a:off x="3665144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99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icbg_12"/>
          <p:cNvSpPr/>
          <p:nvPr/>
        </p:nvSpPr>
        <p:spPr>
          <a:xfrm>
            <a:off x="5044288" y="1801368"/>
            <a:ext cx="640080" cy="640080"/>
          </a:xfrm>
          <a:prstGeom prst="ellipse">
            <a:avLst/>
          </a:prstGeom>
          <a:solidFill>
            <a:srgbClr val="DCF5F2"/>
          </a:solidFill>
          <a:ln/>
        </p:spPr>
      </p:sp>
      <p:pic>
        <p:nvPicPr>
          <p:cNvPr id="16" name="ic_13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308" y="1961388"/>
            <a:ext cx="320040" cy="320040"/>
          </a:xfrm>
          <a:prstGeom prst="rect">
            <a:avLst/>
          </a:prstGeom>
        </p:spPr>
      </p:pic>
      <p:sp>
        <p:nvSpPr>
          <p:cNvPr id="17" name="txt_14"/>
          <p:cNvSpPr txBox="1"/>
          <p:nvPr/>
        </p:nvSpPr>
        <p:spPr>
          <a:xfrm>
            <a:off x="3665144" y="26243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the mid-market</a:t>
            </a:r>
            <a:endParaRPr lang="en-US" sz="2000" dirty="0"/>
          </a:p>
        </p:txBody>
      </p:sp>
      <p:sp>
        <p:nvSpPr>
          <p:cNvPr id="18" name="txt_15"/>
          <p:cNvSpPr txBox="1"/>
          <p:nvPr/>
        </p:nvSpPr>
        <p:spPr>
          <a:xfrm>
            <a:off x="3665144" y="3447288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Bundle, price and sell to 600+ new mid-market accounts.</a:t>
            </a:r>
            <a:endParaRPr lang="en-US" sz="1400" dirty="0"/>
          </a:p>
        </p:txBody>
      </p:sp>
      <p:sp>
        <p:nvSpPr>
          <p:cNvPr id="19" name="rect_16"/>
          <p:cNvSpPr/>
          <p:nvPr/>
        </p:nvSpPr>
        <p:spPr>
          <a:xfrm>
            <a:off x="3665144" y="4727448"/>
            <a:ext cx="2019224" cy="1143000"/>
          </a:xfrm>
          <a:prstGeom prst="roundRect">
            <a:avLst>
              <a:gd name="adj" fmla="val 6400"/>
            </a:avLst>
          </a:prstGeom>
          <a:solidFill>
            <a:srgbClr val="DCF5F2"/>
          </a:solidFill>
          <a:ln/>
        </p:spPr>
      </p:sp>
      <p:sp>
        <p:nvSpPr>
          <p:cNvPr id="20" name="txt_17"/>
          <p:cNvSpPr txBox="1"/>
          <p:nvPr/>
        </p:nvSpPr>
        <p:spPr>
          <a:xfrm>
            <a:off x="3848024" y="4818888"/>
            <a:ext cx="165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+600</a:t>
            </a:r>
            <a:endParaRPr lang="en-US" sz="2800" dirty="0"/>
          </a:p>
        </p:txBody>
      </p:sp>
      <p:sp>
        <p:nvSpPr>
          <p:cNvPr id="21" name="txt_18"/>
          <p:cNvSpPr txBox="1"/>
          <p:nvPr/>
        </p:nvSpPr>
        <p:spPr>
          <a:xfrm>
            <a:off x="3848024" y="536752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</a:t>
            </a:r>
            <a:endParaRPr lang="en-US" sz="1300" dirty="0"/>
          </a:p>
        </p:txBody>
      </p:sp>
      <p:sp>
        <p:nvSpPr>
          <p:cNvPr id="22" name="card_19"/>
          <p:cNvSpPr/>
          <p:nvPr/>
        </p:nvSpPr>
        <p:spPr>
          <a:xfrm>
            <a:off x="6233008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3" name="txt_20"/>
          <p:cNvSpPr txBox="1"/>
          <p:nvPr/>
        </p:nvSpPr>
        <p:spPr>
          <a:xfrm>
            <a:off x="6507328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99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icbg_21"/>
          <p:cNvSpPr/>
          <p:nvPr/>
        </p:nvSpPr>
        <p:spPr>
          <a:xfrm>
            <a:off x="7886471" y="1801368"/>
            <a:ext cx="640080" cy="640080"/>
          </a:xfrm>
          <a:prstGeom prst="ellipse">
            <a:avLst/>
          </a:prstGeom>
          <a:solidFill>
            <a:srgbClr val="FFE7E4"/>
          </a:solidFill>
          <a:ln/>
        </p:spPr>
      </p:sp>
      <p:pic>
        <p:nvPicPr>
          <p:cNvPr id="25" name="ic_22" descr="Glo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1" y="1961388"/>
            <a:ext cx="320040" cy="320040"/>
          </a:xfrm>
          <a:prstGeom prst="rect">
            <a:avLst/>
          </a:prstGeom>
        </p:spPr>
      </p:pic>
      <p:sp>
        <p:nvSpPr>
          <p:cNvPr id="26" name="txt_23"/>
          <p:cNvSpPr txBox="1"/>
          <p:nvPr/>
        </p:nvSpPr>
        <p:spPr>
          <a:xfrm>
            <a:off x="6507328" y="26243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in Asia</a:t>
            </a:r>
            <a:endParaRPr lang="en-US" sz="2000" dirty="0"/>
          </a:p>
        </p:txBody>
      </p:sp>
      <p:sp>
        <p:nvSpPr>
          <p:cNvPr id="27" name="txt_24"/>
          <p:cNvSpPr txBox="1"/>
          <p:nvPr/>
        </p:nvSpPr>
        <p:spPr>
          <a:xfrm>
            <a:off x="6507328" y="3447288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Japan and India; prepare the Gulf joint venture.</a:t>
            </a:r>
            <a:endParaRPr lang="en-US" sz="1400" dirty="0"/>
          </a:p>
        </p:txBody>
      </p:sp>
      <p:sp>
        <p:nvSpPr>
          <p:cNvPr id="28" name="rect_25"/>
          <p:cNvSpPr/>
          <p:nvPr/>
        </p:nvSpPr>
        <p:spPr>
          <a:xfrm>
            <a:off x="6507328" y="4727448"/>
            <a:ext cx="2019224" cy="1143000"/>
          </a:xfrm>
          <a:prstGeom prst="roundRect">
            <a:avLst>
              <a:gd name="adj" fmla="val 6400"/>
            </a:avLst>
          </a:prstGeom>
          <a:solidFill>
            <a:srgbClr val="FFE7E4"/>
          </a:solidFill>
          <a:ln/>
        </p:spPr>
      </p:sp>
      <p:sp>
        <p:nvSpPr>
          <p:cNvPr id="29" name="txt_26"/>
          <p:cNvSpPr txBox="1"/>
          <p:nvPr/>
        </p:nvSpPr>
        <p:spPr>
          <a:xfrm>
            <a:off x="6690208" y="4818888"/>
            <a:ext cx="165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$95M</a:t>
            </a:r>
            <a:endParaRPr lang="en-US" sz="2800" dirty="0"/>
          </a:p>
        </p:txBody>
      </p:sp>
      <p:sp>
        <p:nvSpPr>
          <p:cNvPr id="30" name="txt_27"/>
          <p:cNvSpPr txBox="1"/>
          <p:nvPr/>
        </p:nvSpPr>
        <p:spPr>
          <a:xfrm>
            <a:off x="6690208" y="536752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 revenue</a:t>
            </a:r>
            <a:endParaRPr lang="en-US" sz="1300" dirty="0"/>
          </a:p>
        </p:txBody>
      </p:sp>
      <p:sp>
        <p:nvSpPr>
          <p:cNvPr id="31" name="card_28"/>
          <p:cNvSpPr/>
          <p:nvPr/>
        </p:nvSpPr>
        <p:spPr>
          <a:xfrm>
            <a:off x="9075191" y="1572768"/>
            <a:ext cx="2567864" cy="457200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32" name="txt_29"/>
          <p:cNvSpPr txBox="1"/>
          <p:nvPr/>
        </p:nvSpPr>
        <p:spPr>
          <a:xfrm>
            <a:off x="9349511" y="1847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C99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icbg_30"/>
          <p:cNvSpPr/>
          <p:nvPr/>
        </p:nvSpPr>
        <p:spPr>
          <a:xfrm>
            <a:off x="10728655" y="1801368"/>
            <a:ext cx="640080" cy="640080"/>
          </a:xfrm>
          <a:prstGeom prst="ellipse">
            <a:avLst/>
          </a:prstGeom>
          <a:solidFill>
            <a:srgbClr val="FFF1D6"/>
          </a:solidFill>
          <a:ln/>
        </p:spPr>
      </p:sp>
      <p:pic>
        <p:nvPicPr>
          <p:cNvPr id="34" name="ic_31" descr="Gaug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675" y="1961388"/>
            <a:ext cx="320040" cy="320040"/>
          </a:xfrm>
          <a:prstGeom prst="rect">
            <a:avLst/>
          </a:prstGeom>
        </p:spPr>
      </p:pic>
      <p:sp>
        <p:nvSpPr>
          <p:cNvPr id="35" name="txt_32"/>
          <p:cNvSpPr txBox="1"/>
          <p:nvPr/>
        </p:nvSpPr>
        <p:spPr>
          <a:xfrm>
            <a:off x="9349511" y="26243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lean at scale</a:t>
            </a:r>
            <a:endParaRPr lang="en-US" sz="2000" dirty="0"/>
          </a:p>
        </p:txBody>
      </p:sp>
      <p:sp>
        <p:nvSpPr>
          <p:cNvPr id="36" name="txt_33"/>
          <p:cNvSpPr txBox="1"/>
          <p:nvPr/>
        </p:nvSpPr>
        <p:spPr>
          <a:xfrm>
            <a:off x="9349511" y="3447288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order-to-cash and lift EBITDA margin to 27%.</a:t>
            </a:r>
            <a:endParaRPr lang="en-US" sz="1400" dirty="0"/>
          </a:p>
        </p:txBody>
      </p:sp>
      <p:sp>
        <p:nvSpPr>
          <p:cNvPr id="37" name="rect_34"/>
          <p:cNvSpPr/>
          <p:nvPr/>
        </p:nvSpPr>
        <p:spPr>
          <a:xfrm>
            <a:off x="9349511" y="4727448"/>
            <a:ext cx="2019224" cy="1143000"/>
          </a:xfrm>
          <a:prstGeom prst="roundRect">
            <a:avLst>
              <a:gd name="adj" fmla="val 6400"/>
            </a:avLst>
          </a:prstGeom>
          <a:solidFill>
            <a:srgbClr val="FFF1D6"/>
          </a:solidFill>
          <a:ln/>
        </p:spPr>
      </p:sp>
      <p:sp>
        <p:nvSpPr>
          <p:cNvPr id="38" name="txt_35"/>
          <p:cNvSpPr txBox="1"/>
          <p:nvPr/>
        </p:nvSpPr>
        <p:spPr>
          <a:xfrm>
            <a:off x="9532391" y="4818888"/>
            <a:ext cx="165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6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+3.6 pts</a:t>
            </a:r>
            <a:endParaRPr lang="en-US" sz="2800" dirty="0"/>
          </a:p>
        </p:txBody>
      </p:sp>
      <p:sp>
        <p:nvSpPr>
          <p:cNvPr id="39" name="txt_36"/>
          <p:cNvSpPr txBox="1"/>
          <p:nvPr/>
        </p:nvSpPr>
        <p:spPr>
          <a:xfrm>
            <a:off x="9532391" y="5367528"/>
            <a:ext cx="1653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3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 the board to approve three decisions today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11094415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dot_2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5B3DF5"/>
          </a:solidFill>
          <a:ln/>
        </p:spPr>
      </p:sp>
      <p:sp>
        <p:nvSpPr>
          <p:cNvPr id="6" name="txt_3"/>
          <p:cNvSpPr txBox="1"/>
          <p:nvPr/>
        </p:nvSpPr>
        <p:spPr>
          <a:xfrm>
            <a:off x="822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xt_4"/>
          <p:cNvSpPr txBox="1"/>
          <p:nvPr/>
        </p:nvSpPr>
        <p:spPr>
          <a:xfrm>
            <a:off x="1828800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$120M FY27 growth investment</a:t>
            </a:r>
            <a:endParaRPr lang="en-US" sz="1900" dirty="0"/>
          </a:p>
        </p:txBody>
      </p:sp>
      <p:sp>
        <p:nvSpPr>
          <p:cNvPr id="8" name="txt_5"/>
          <p:cNvSpPr txBox="1"/>
          <p:nvPr/>
        </p:nvSpPr>
        <p:spPr>
          <a:xfrm>
            <a:off x="1828800" y="23042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release tied to quarterly milestones; 40% committed in H1.</a:t>
            </a:r>
            <a:endParaRPr lang="en-US" sz="1400" dirty="0"/>
          </a:p>
        </p:txBody>
      </p:sp>
      <p:sp>
        <p:nvSpPr>
          <p:cNvPr id="9" name="rect_6"/>
          <p:cNvSpPr/>
          <p:nvPr/>
        </p:nvSpPr>
        <p:spPr>
          <a:xfrm>
            <a:off x="8503920" y="1801368"/>
            <a:ext cx="2907792" cy="969264"/>
          </a:xfrm>
          <a:prstGeom prst="roundRect">
            <a:avLst>
              <a:gd name="adj" fmla="val 7547"/>
            </a:avLst>
          </a:prstGeom>
          <a:solidFill>
            <a:srgbClr val="ECE8FE"/>
          </a:solidFill>
          <a:ln/>
        </p:spPr>
      </p:sp>
      <p:sp>
        <p:nvSpPr>
          <p:cNvPr id="10" name="txt_7"/>
          <p:cNvSpPr txBox="1"/>
          <p:nvPr/>
        </p:nvSpPr>
        <p:spPr>
          <a:xfrm>
            <a:off x="8686800" y="18470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$445M</a:t>
            </a:r>
            <a:endParaRPr lang="en-US" sz="2400" dirty="0"/>
          </a:p>
        </p:txBody>
      </p:sp>
      <p:sp>
        <p:nvSpPr>
          <p:cNvPr id="11" name="txt_8"/>
          <p:cNvSpPr txBox="1"/>
          <p:nvPr/>
        </p:nvSpPr>
        <p:spPr>
          <a:xfrm>
            <a:off x="868680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 by FY29</a:t>
            </a:r>
            <a:endParaRPr lang="en-US" sz="1200" dirty="0"/>
          </a:p>
        </p:txBody>
      </p:sp>
      <p:sp>
        <p:nvSpPr>
          <p:cNvPr id="12" name="card_9"/>
          <p:cNvSpPr/>
          <p:nvPr/>
        </p:nvSpPr>
        <p:spPr>
          <a:xfrm>
            <a:off x="548640" y="3145536"/>
            <a:ext cx="11094415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3" name="dot_10"/>
          <p:cNvSpPr/>
          <p:nvPr/>
        </p:nvSpPr>
        <p:spPr>
          <a:xfrm>
            <a:off x="822960" y="3493008"/>
            <a:ext cx="731520" cy="731520"/>
          </a:xfrm>
          <a:prstGeom prst="ellipse">
            <a:avLst/>
          </a:prstGeom>
          <a:solidFill>
            <a:srgbClr val="5B3DF5"/>
          </a:solidFill>
          <a:ln/>
        </p:spPr>
      </p:sp>
      <p:sp>
        <p:nvSpPr>
          <p:cNvPr id="14" name="txt_11"/>
          <p:cNvSpPr txBox="1"/>
          <p:nvPr/>
        </p:nvSpPr>
        <p:spPr>
          <a:xfrm>
            <a:off x="822960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xt_12"/>
          <p:cNvSpPr txBox="1"/>
          <p:nvPr/>
        </p:nvSpPr>
        <p:spPr>
          <a:xfrm>
            <a:off x="1828800" y="341985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Japan and India in FY27</a:t>
            </a:r>
            <a:endParaRPr lang="en-US" sz="1900" dirty="0"/>
          </a:p>
        </p:txBody>
      </p:sp>
      <p:sp>
        <p:nvSpPr>
          <p:cNvPr id="16" name="txt_13"/>
          <p:cNvSpPr txBox="1"/>
          <p:nvPr/>
        </p:nvSpPr>
        <p:spPr>
          <a:xfrm>
            <a:off x="1828800" y="38770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Partner-led entry in Japan, direct and partner model in India.</a:t>
            </a:r>
            <a:endParaRPr lang="en-US" sz="1400" dirty="0"/>
          </a:p>
        </p:txBody>
      </p:sp>
      <p:sp>
        <p:nvSpPr>
          <p:cNvPr id="17" name="rect_14"/>
          <p:cNvSpPr/>
          <p:nvPr/>
        </p:nvSpPr>
        <p:spPr>
          <a:xfrm>
            <a:off x="8503920" y="3374136"/>
            <a:ext cx="2907792" cy="969264"/>
          </a:xfrm>
          <a:prstGeom prst="roundRect">
            <a:avLst>
              <a:gd name="adj" fmla="val 7547"/>
            </a:avLst>
          </a:prstGeom>
          <a:solidFill>
            <a:srgbClr val="ECE8FE"/>
          </a:solidFill>
          <a:ln/>
        </p:spPr>
      </p:sp>
      <p:sp>
        <p:nvSpPr>
          <p:cNvPr id="18" name="txt_15"/>
          <p:cNvSpPr txBox="1"/>
          <p:nvPr/>
        </p:nvSpPr>
        <p:spPr>
          <a:xfrm>
            <a:off x="8686800" y="34198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$70M</a:t>
            </a:r>
            <a:endParaRPr lang="en-US" sz="2400" dirty="0"/>
          </a:p>
        </p:txBody>
      </p:sp>
      <p:sp>
        <p:nvSpPr>
          <p:cNvPr id="19" name="txt_16"/>
          <p:cNvSpPr txBox="1"/>
          <p:nvPr/>
        </p:nvSpPr>
        <p:spPr>
          <a:xfrm>
            <a:off x="8686800" y="38770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FY29</a:t>
            </a:r>
            <a:endParaRPr lang="en-US" sz="1200" dirty="0"/>
          </a:p>
        </p:txBody>
      </p:sp>
      <p:sp>
        <p:nvSpPr>
          <p:cNvPr id="20" name="card_17"/>
          <p:cNvSpPr/>
          <p:nvPr/>
        </p:nvSpPr>
        <p:spPr>
          <a:xfrm>
            <a:off x="548640" y="4718304"/>
            <a:ext cx="11094415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1" name="dot_18"/>
          <p:cNvSpPr/>
          <p:nvPr/>
        </p:nvSpPr>
        <p:spPr>
          <a:xfrm>
            <a:off x="822960" y="5065776"/>
            <a:ext cx="731520" cy="731520"/>
          </a:xfrm>
          <a:prstGeom prst="ellipse">
            <a:avLst/>
          </a:prstGeom>
          <a:solidFill>
            <a:srgbClr val="5B3DF5"/>
          </a:solidFill>
          <a:ln/>
        </p:spPr>
      </p:sp>
      <p:sp>
        <p:nvSpPr>
          <p:cNvPr id="22" name="txt_19"/>
          <p:cNvSpPr txBox="1"/>
          <p:nvPr/>
        </p:nvSpPr>
        <p:spPr>
          <a:xfrm>
            <a:off x="822960" y="506577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xt_20"/>
          <p:cNvSpPr txBox="1"/>
          <p:nvPr/>
        </p:nvSpPr>
        <p:spPr>
          <a:xfrm>
            <a:off x="1828800" y="49926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26 engineering hires in H1</a:t>
            </a:r>
            <a:endParaRPr lang="en-US" sz="1900" dirty="0"/>
          </a:p>
        </p:txBody>
      </p:sp>
      <p:sp>
        <p:nvSpPr>
          <p:cNvPr id="24" name="txt_21"/>
          <p:cNvSpPr txBox="1"/>
          <p:nvPr/>
        </p:nvSpPr>
        <p:spPr>
          <a:xfrm>
            <a:off x="1828800" y="544982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Relieves Data Engineering and Cloud Operations capacity above 90%.</a:t>
            </a:r>
            <a:endParaRPr lang="en-US" sz="1400" dirty="0"/>
          </a:p>
        </p:txBody>
      </p:sp>
      <p:sp>
        <p:nvSpPr>
          <p:cNvPr id="25" name="rect_22"/>
          <p:cNvSpPr/>
          <p:nvPr/>
        </p:nvSpPr>
        <p:spPr>
          <a:xfrm>
            <a:off x="8503920" y="4946904"/>
            <a:ext cx="2907792" cy="969264"/>
          </a:xfrm>
          <a:prstGeom prst="roundRect">
            <a:avLst>
              <a:gd name="adj" fmla="val 7547"/>
            </a:avLst>
          </a:prstGeom>
          <a:solidFill>
            <a:srgbClr val="ECE8FE"/>
          </a:solidFill>
          <a:ln/>
        </p:spPr>
      </p:sp>
      <p:sp>
        <p:nvSpPr>
          <p:cNvPr id="26" name="txt_23"/>
          <p:cNvSpPr txBox="1"/>
          <p:nvPr/>
        </p:nvSpPr>
        <p:spPr>
          <a:xfrm>
            <a:off x="8686800" y="49926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 pts</a:t>
            </a:r>
            <a:endParaRPr lang="en-US" sz="2400" dirty="0"/>
          </a:p>
        </p:txBody>
      </p:sp>
      <p:sp>
        <p:nvSpPr>
          <p:cNvPr id="27" name="txt_24"/>
          <p:cNvSpPr txBox="1"/>
          <p:nvPr/>
        </p:nvSpPr>
        <p:spPr>
          <a:xfrm>
            <a:off x="8686800" y="5449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utilisation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roadmap, FY2027–FY2028</a:t>
            </a:r>
            <a:endParaRPr lang="en-US" sz="3000" dirty="0"/>
          </a:p>
        </p:txBody>
      </p:sp>
      <p:sp>
        <p:nvSpPr>
          <p:cNvPr id="4" name="txt_1"/>
          <p:cNvSpPr txBox="1"/>
          <p:nvPr/>
        </p:nvSpPr>
        <p:spPr>
          <a:xfrm>
            <a:off x="3291840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1100" dirty="0"/>
          </a:p>
        </p:txBody>
      </p:sp>
      <p:sp>
        <p:nvSpPr>
          <p:cNvPr id="5" name="txt_2"/>
          <p:cNvSpPr txBox="1"/>
          <p:nvPr/>
        </p:nvSpPr>
        <p:spPr>
          <a:xfrm>
            <a:off x="4335742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1100" dirty="0"/>
          </a:p>
        </p:txBody>
      </p:sp>
      <p:sp>
        <p:nvSpPr>
          <p:cNvPr id="6" name="txt_3"/>
          <p:cNvSpPr txBox="1"/>
          <p:nvPr/>
        </p:nvSpPr>
        <p:spPr>
          <a:xfrm>
            <a:off x="5379644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FY27</a:t>
            </a:r>
            <a:endParaRPr lang="en-US" sz="1100" dirty="0"/>
          </a:p>
        </p:txBody>
      </p:sp>
      <p:sp>
        <p:nvSpPr>
          <p:cNvPr id="7" name="txt_4"/>
          <p:cNvSpPr txBox="1"/>
          <p:nvPr/>
        </p:nvSpPr>
        <p:spPr>
          <a:xfrm>
            <a:off x="6423546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1100" dirty="0"/>
          </a:p>
        </p:txBody>
      </p:sp>
      <p:sp>
        <p:nvSpPr>
          <p:cNvPr id="8" name="txt_5"/>
          <p:cNvSpPr txBox="1"/>
          <p:nvPr/>
        </p:nvSpPr>
        <p:spPr>
          <a:xfrm>
            <a:off x="7467448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FY28</a:t>
            </a:r>
            <a:endParaRPr lang="en-US" sz="1100" dirty="0"/>
          </a:p>
        </p:txBody>
      </p:sp>
      <p:sp>
        <p:nvSpPr>
          <p:cNvPr id="9" name="txt_6"/>
          <p:cNvSpPr txBox="1"/>
          <p:nvPr/>
        </p:nvSpPr>
        <p:spPr>
          <a:xfrm>
            <a:off x="8511350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FY28</a:t>
            </a:r>
            <a:endParaRPr lang="en-US" sz="1100" dirty="0"/>
          </a:p>
        </p:txBody>
      </p:sp>
      <p:sp>
        <p:nvSpPr>
          <p:cNvPr id="10" name="txt_7"/>
          <p:cNvSpPr txBox="1"/>
          <p:nvPr/>
        </p:nvSpPr>
        <p:spPr>
          <a:xfrm>
            <a:off x="9555251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FY28</a:t>
            </a:r>
            <a:endParaRPr lang="en-US" sz="1100" dirty="0"/>
          </a:p>
        </p:txBody>
      </p:sp>
      <p:sp>
        <p:nvSpPr>
          <p:cNvPr id="11" name="txt_8"/>
          <p:cNvSpPr txBox="1"/>
          <p:nvPr/>
        </p:nvSpPr>
        <p:spPr>
          <a:xfrm>
            <a:off x="10599153" y="1572768"/>
            <a:ext cx="10439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FY28</a:t>
            </a:r>
            <a:endParaRPr lang="en-US" sz="1100" dirty="0"/>
          </a:p>
        </p:txBody>
      </p:sp>
      <p:sp>
        <p:nvSpPr>
          <p:cNvPr id="12" name="line_9"/>
          <p:cNvSpPr/>
          <p:nvPr/>
        </p:nvSpPr>
        <p:spPr>
          <a:xfrm>
            <a:off x="3291840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13" name="line_10"/>
          <p:cNvSpPr/>
          <p:nvPr/>
        </p:nvSpPr>
        <p:spPr>
          <a:xfrm>
            <a:off x="4335742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14" name="line_11"/>
          <p:cNvSpPr/>
          <p:nvPr/>
        </p:nvSpPr>
        <p:spPr>
          <a:xfrm>
            <a:off x="5379644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15" name="line_12"/>
          <p:cNvSpPr/>
          <p:nvPr/>
        </p:nvSpPr>
        <p:spPr>
          <a:xfrm>
            <a:off x="6423546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16" name="line_13"/>
          <p:cNvSpPr/>
          <p:nvPr/>
        </p:nvSpPr>
        <p:spPr>
          <a:xfrm>
            <a:off x="7467448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17" name="line_14"/>
          <p:cNvSpPr/>
          <p:nvPr/>
        </p:nvSpPr>
        <p:spPr>
          <a:xfrm>
            <a:off x="8511350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18" name="line_15"/>
          <p:cNvSpPr/>
          <p:nvPr/>
        </p:nvSpPr>
        <p:spPr>
          <a:xfrm>
            <a:off x="9555251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19" name="line_16"/>
          <p:cNvSpPr/>
          <p:nvPr/>
        </p:nvSpPr>
        <p:spPr>
          <a:xfrm>
            <a:off x="10599153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20" name="line_17"/>
          <p:cNvSpPr/>
          <p:nvPr/>
        </p:nvSpPr>
        <p:spPr>
          <a:xfrm>
            <a:off x="11643055" y="1938528"/>
            <a:ext cx="0" cy="3977640"/>
          </a:xfrm>
          <a:prstGeom prst="line">
            <a:avLst/>
          </a:prstGeom>
          <a:noFill/>
          <a:ln w="9525">
            <a:solidFill>
              <a:srgbClr val="E4E2F1"/>
            </a:solidFill>
            <a:prstDash val="solid"/>
          </a:ln>
        </p:spPr>
      </p:sp>
      <p:sp>
        <p:nvSpPr>
          <p:cNvPr id="21" name="txt_18"/>
          <p:cNvSpPr txBox="1"/>
          <p:nvPr/>
        </p:nvSpPr>
        <p:spPr>
          <a:xfrm>
            <a:off x="548640" y="202996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Insight Copilot</a:t>
            </a:r>
            <a:endParaRPr lang="en-US" sz="1300" dirty="0"/>
          </a:p>
        </p:txBody>
      </p:sp>
      <p:sp>
        <p:nvSpPr>
          <p:cNvPr id="22" name="rect_19"/>
          <p:cNvSpPr/>
          <p:nvPr/>
        </p:nvSpPr>
        <p:spPr>
          <a:xfrm>
            <a:off x="3337560" y="2066544"/>
            <a:ext cx="1996364" cy="301752"/>
          </a:xfrm>
          <a:prstGeom prst="roundRect">
            <a:avLst>
              <a:gd name="adj" fmla="val 36364"/>
            </a:avLst>
          </a:prstGeom>
          <a:solidFill>
            <a:srgbClr val="5B3DF5"/>
          </a:solidFill>
          <a:ln/>
        </p:spPr>
      </p:sp>
      <p:sp>
        <p:nvSpPr>
          <p:cNvPr id="23" name="txt_20"/>
          <p:cNvSpPr txBox="1"/>
          <p:nvPr/>
        </p:nvSpPr>
        <p:spPr>
          <a:xfrm>
            <a:off x="3429000" y="2066544"/>
            <a:ext cx="18134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pilot</a:t>
            </a:r>
            <a:endParaRPr lang="en-US" sz="1100" dirty="0"/>
          </a:p>
        </p:txBody>
      </p:sp>
      <p:sp>
        <p:nvSpPr>
          <p:cNvPr id="24" name="txt_21"/>
          <p:cNvSpPr txBox="1"/>
          <p:nvPr/>
        </p:nvSpPr>
        <p:spPr>
          <a:xfrm>
            <a:off x="548640" y="2514600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Copilot GA &amp; upsell</a:t>
            </a:r>
            <a:endParaRPr lang="en-US" sz="1300" dirty="0"/>
          </a:p>
        </p:txBody>
      </p:sp>
      <p:sp>
        <p:nvSpPr>
          <p:cNvPr id="25" name="rect_22"/>
          <p:cNvSpPr/>
          <p:nvPr/>
        </p:nvSpPr>
        <p:spPr>
          <a:xfrm>
            <a:off x="5425364" y="2551176"/>
            <a:ext cx="4084168" cy="301752"/>
          </a:xfrm>
          <a:prstGeom prst="roundRect">
            <a:avLst>
              <a:gd name="adj" fmla="val 36364"/>
            </a:avLst>
          </a:prstGeom>
          <a:solidFill>
            <a:srgbClr val="5B3DF5"/>
          </a:solidFill>
          <a:ln/>
        </p:spPr>
      </p:sp>
      <p:sp>
        <p:nvSpPr>
          <p:cNvPr id="26" name="txt_23"/>
          <p:cNvSpPr txBox="1"/>
          <p:nvPr/>
        </p:nvSpPr>
        <p:spPr>
          <a:xfrm>
            <a:off x="5516804" y="2551176"/>
            <a:ext cx="3901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7" name="txt_24"/>
          <p:cNvSpPr txBox="1"/>
          <p:nvPr/>
        </p:nvSpPr>
        <p:spPr>
          <a:xfrm>
            <a:off x="548640" y="2999232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bundle</a:t>
            </a:r>
            <a:endParaRPr lang="en-US" sz="1300" dirty="0"/>
          </a:p>
        </p:txBody>
      </p:sp>
      <p:sp>
        <p:nvSpPr>
          <p:cNvPr id="28" name="rect_25"/>
          <p:cNvSpPr/>
          <p:nvPr/>
        </p:nvSpPr>
        <p:spPr>
          <a:xfrm>
            <a:off x="4381462" y="3035808"/>
            <a:ext cx="3040266" cy="301752"/>
          </a:xfrm>
          <a:prstGeom prst="roundRect">
            <a:avLst>
              <a:gd name="adj" fmla="val 36364"/>
            </a:avLst>
          </a:prstGeom>
          <a:solidFill>
            <a:srgbClr val="0FB5A5"/>
          </a:solidFill>
          <a:ln/>
        </p:spPr>
      </p:sp>
      <p:sp>
        <p:nvSpPr>
          <p:cNvPr id="29" name="txt_26"/>
          <p:cNvSpPr txBox="1"/>
          <p:nvPr/>
        </p:nvSpPr>
        <p:spPr>
          <a:xfrm>
            <a:off x="4472902" y="3035808"/>
            <a:ext cx="285738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GA</a:t>
            </a:r>
            <a:endParaRPr lang="en-US" sz="1100" dirty="0"/>
          </a:p>
        </p:txBody>
      </p:sp>
      <p:sp>
        <p:nvSpPr>
          <p:cNvPr id="30" name="txt_27"/>
          <p:cNvSpPr txBox="1"/>
          <p:nvPr/>
        </p:nvSpPr>
        <p:spPr>
          <a:xfrm>
            <a:off x="548640" y="3483864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sales pod</a:t>
            </a:r>
            <a:endParaRPr lang="en-US" sz="1300" dirty="0"/>
          </a:p>
        </p:txBody>
      </p:sp>
      <p:sp>
        <p:nvSpPr>
          <p:cNvPr id="31" name="rect_28"/>
          <p:cNvSpPr/>
          <p:nvPr/>
        </p:nvSpPr>
        <p:spPr>
          <a:xfrm>
            <a:off x="5425364" y="3520440"/>
            <a:ext cx="6171971" cy="301752"/>
          </a:xfrm>
          <a:prstGeom prst="roundRect">
            <a:avLst>
              <a:gd name="adj" fmla="val 36364"/>
            </a:avLst>
          </a:prstGeom>
          <a:solidFill>
            <a:srgbClr val="0FB5A5"/>
          </a:solidFill>
          <a:ln/>
        </p:spPr>
      </p:sp>
      <p:sp>
        <p:nvSpPr>
          <p:cNvPr id="32" name="txt_29"/>
          <p:cNvSpPr txBox="1"/>
          <p:nvPr/>
        </p:nvSpPr>
        <p:spPr>
          <a:xfrm>
            <a:off x="5516804" y="3520440"/>
            <a:ext cx="598909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&amp; ramp 40 reps</a:t>
            </a:r>
            <a:endParaRPr lang="en-US" sz="1100" dirty="0"/>
          </a:p>
        </p:txBody>
      </p:sp>
      <p:sp>
        <p:nvSpPr>
          <p:cNvPr id="33" name="txt_30"/>
          <p:cNvSpPr txBox="1"/>
          <p:nvPr/>
        </p:nvSpPr>
        <p:spPr>
          <a:xfrm>
            <a:off x="548640" y="3968496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entry</a:t>
            </a:r>
            <a:endParaRPr lang="en-US" sz="1300" dirty="0"/>
          </a:p>
        </p:txBody>
      </p:sp>
      <p:sp>
        <p:nvSpPr>
          <p:cNvPr id="34" name="rect_31"/>
          <p:cNvSpPr/>
          <p:nvPr/>
        </p:nvSpPr>
        <p:spPr>
          <a:xfrm>
            <a:off x="3337560" y="4005072"/>
            <a:ext cx="3040266" cy="301752"/>
          </a:xfrm>
          <a:prstGeom prst="roundRect">
            <a:avLst>
              <a:gd name="adj" fmla="val 36364"/>
            </a:avLst>
          </a:prstGeom>
          <a:solidFill>
            <a:srgbClr val="FF5A4E"/>
          </a:solidFill>
          <a:ln/>
        </p:spPr>
      </p:sp>
      <p:sp>
        <p:nvSpPr>
          <p:cNvPr id="35" name="txt_32"/>
          <p:cNvSpPr txBox="1"/>
          <p:nvPr/>
        </p:nvSpPr>
        <p:spPr>
          <a:xfrm>
            <a:off x="3429000" y="4005072"/>
            <a:ext cx="285738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launch</a:t>
            </a:r>
            <a:endParaRPr lang="en-US" sz="1100" dirty="0"/>
          </a:p>
        </p:txBody>
      </p:sp>
      <p:sp>
        <p:nvSpPr>
          <p:cNvPr id="36" name="txt_33"/>
          <p:cNvSpPr txBox="1"/>
          <p:nvPr/>
        </p:nvSpPr>
        <p:spPr>
          <a:xfrm>
            <a:off x="548640" y="4453128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entry</a:t>
            </a:r>
            <a:endParaRPr lang="en-US" sz="1300" dirty="0"/>
          </a:p>
        </p:txBody>
      </p:sp>
      <p:sp>
        <p:nvSpPr>
          <p:cNvPr id="37" name="rect_34"/>
          <p:cNvSpPr/>
          <p:nvPr/>
        </p:nvSpPr>
        <p:spPr>
          <a:xfrm>
            <a:off x="4381462" y="4489704"/>
            <a:ext cx="4084168" cy="301752"/>
          </a:xfrm>
          <a:prstGeom prst="roundRect">
            <a:avLst>
              <a:gd name="adj" fmla="val 36364"/>
            </a:avLst>
          </a:prstGeom>
          <a:solidFill>
            <a:srgbClr val="FF5A4E"/>
          </a:solidFill>
          <a:ln/>
        </p:spPr>
      </p:sp>
      <p:sp>
        <p:nvSpPr>
          <p:cNvPr id="38" name="txt_35"/>
          <p:cNvSpPr txBox="1"/>
          <p:nvPr/>
        </p:nvSpPr>
        <p:spPr>
          <a:xfrm>
            <a:off x="4472902" y="4489704"/>
            <a:ext cx="3901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+ partner</a:t>
            </a:r>
            <a:endParaRPr lang="en-US" sz="1100" dirty="0"/>
          </a:p>
        </p:txBody>
      </p:sp>
      <p:sp>
        <p:nvSpPr>
          <p:cNvPr id="39" name="txt_36"/>
          <p:cNvSpPr txBox="1"/>
          <p:nvPr/>
        </p:nvSpPr>
        <p:spPr>
          <a:xfrm>
            <a:off x="548640" y="4937760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joint venture</a:t>
            </a:r>
            <a:endParaRPr lang="en-US" sz="1300" dirty="0"/>
          </a:p>
        </p:txBody>
      </p:sp>
      <p:sp>
        <p:nvSpPr>
          <p:cNvPr id="40" name="rect_37"/>
          <p:cNvSpPr/>
          <p:nvPr/>
        </p:nvSpPr>
        <p:spPr>
          <a:xfrm>
            <a:off x="7513168" y="4974336"/>
            <a:ext cx="4084168" cy="301752"/>
          </a:xfrm>
          <a:prstGeom prst="roundRect">
            <a:avLst>
              <a:gd name="adj" fmla="val 36364"/>
            </a:avLst>
          </a:prstGeom>
          <a:solidFill>
            <a:srgbClr val="FF5A4E"/>
          </a:solidFill>
          <a:ln/>
        </p:spPr>
      </p:sp>
      <p:sp>
        <p:nvSpPr>
          <p:cNvPr id="41" name="txt_38"/>
          <p:cNvSpPr txBox="1"/>
          <p:nvPr/>
        </p:nvSpPr>
        <p:spPr>
          <a:xfrm>
            <a:off x="7604608" y="4974336"/>
            <a:ext cx="3901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Set-up &amp; launch</a:t>
            </a:r>
            <a:endParaRPr lang="en-US" sz="1100" dirty="0"/>
          </a:p>
        </p:txBody>
      </p:sp>
      <p:sp>
        <p:nvSpPr>
          <p:cNvPr id="42" name="txt_39"/>
          <p:cNvSpPr txBox="1"/>
          <p:nvPr/>
        </p:nvSpPr>
        <p:spPr>
          <a:xfrm>
            <a:off x="548640" y="5422392"/>
            <a:ext cx="2651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automation</a:t>
            </a:r>
            <a:endParaRPr lang="en-US" sz="1300" dirty="0"/>
          </a:p>
        </p:txBody>
      </p:sp>
      <p:sp>
        <p:nvSpPr>
          <p:cNvPr id="43" name="rect_40"/>
          <p:cNvSpPr/>
          <p:nvPr/>
        </p:nvSpPr>
        <p:spPr>
          <a:xfrm>
            <a:off x="3337560" y="5458968"/>
            <a:ext cx="5128070" cy="301752"/>
          </a:xfrm>
          <a:prstGeom prst="roundRect">
            <a:avLst>
              <a:gd name="adj" fmla="val 36364"/>
            </a:avLst>
          </a:prstGeom>
          <a:solidFill>
            <a:srgbClr val="FFB224"/>
          </a:solidFill>
          <a:ln/>
        </p:spPr>
      </p:sp>
      <p:sp>
        <p:nvSpPr>
          <p:cNvPr id="44" name="txt_41"/>
          <p:cNvSpPr txBox="1"/>
          <p:nvPr/>
        </p:nvSpPr>
        <p:spPr>
          <a:xfrm>
            <a:off x="3429000" y="5458968"/>
            <a:ext cx="49451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1–3</a:t>
            </a:r>
            <a:endParaRPr lang="en-US" sz="1100" dirty="0"/>
          </a:p>
        </p:txBody>
      </p:sp>
      <p:sp>
        <p:nvSpPr>
          <p:cNvPr id="45" name="line_42"/>
          <p:cNvSpPr/>
          <p:nvPr/>
        </p:nvSpPr>
        <p:spPr>
          <a:xfrm>
            <a:off x="3310128" y="1892808"/>
            <a:ext cx="0" cy="4023360"/>
          </a:xfrm>
          <a:prstGeom prst="line">
            <a:avLst/>
          </a:prstGeom>
          <a:noFill/>
          <a:ln w="25400">
            <a:solidFill>
              <a:srgbClr val="FF5A4E"/>
            </a:solidFill>
            <a:prstDash val="dash"/>
          </a:ln>
        </p:spPr>
      </p:sp>
      <p:sp>
        <p:nvSpPr>
          <p:cNvPr id="46" name="txt_43"/>
          <p:cNvSpPr txBox="1"/>
          <p:nvPr/>
        </p:nvSpPr>
        <p:spPr>
          <a:xfrm>
            <a:off x="3383280" y="5961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start · 1 Feb FY27</a:t>
            </a:r>
            <a:endParaRPr lang="en-US" sz="1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3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the board will see each quarter</a:t>
            </a:r>
            <a:endParaRPr lang="en-US" sz="3000" dirty="0"/>
          </a:p>
        </p:txBody>
      </p:sp>
      <p:sp>
        <p:nvSpPr>
          <p:cNvPr id="4" name="line_1"/>
          <p:cNvSpPr/>
          <p:nvPr/>
        </p:nvSpPr>
        <p:spPr>
          <a:xfrm>
            <a:off x="548640" y="3447288"/>
            <a:ext cx="11094415" cy="0"/>
          </a:xfrm>
          <a:prstGeom prst="line">
            <a:avLst/>
          </a:prstGeom>
          <a:noFill/>
          <a:ln w="38100">
            <a:solidFill>
              <a:srgbClr val="5B3DF5"/>
            </a:solidFill>
            <a:prstDash val="solid"/>
          </a:ln>
        </p:spPr>
      </p:sp>
      <p:sp>
        <p:nvSpPr>
          <p:cNvPr id="5" name="dot_2"/>
          <p:cNvSpPr/>
          <p:nvPr/>
        </p:nvSpPr>
        <p:spPr>
          <a:xfrm>
            <a:off x="1880137" y="3291840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3DF5"/>
            </a:solidFill>
            <a:prstDash val="solid"/>
          </a:ln>
        </p:spPr>
      </p:sp>
      <p:sp>
        <p:nvSpPr>
          <p:cNvPr id="6" name="line_3"/>
          <p:cNvSpPr/>
          <p:nvPr/>
        </p:nvSpPr>
        <p:spPr>
          <a:xfrm>
            <a:off x="2035585" y="2761488"/>
            <a:ext cx="0" cy="530352"/>
          </a:xfrm>
          <a:prstGeom prst="line">
            <a:avLst/>
          </a:prstGeom>
          <a:noFill/>
          <a:ln w="12700">
            <a:solidFill>
              <a:srgbClr val="9C99BC"/>
            </a:solidFill>
            <a:prstDash val="dash"/>
          </a:ln>
        </p:spPr>
      </p:sp>
      <p:sp>
        <p:nvSpPr>
          <p:cNvPr id="7" name="card_4"/>
          <p:cNvSpPr/>
          <p:nvPr/>
        </p:nvSpPr>
        <p:spPr>
          <a:xfrm>
            <a:off x="548640" y="1572768"/>
            <a:ext cx="297389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8" name="txt_5"/>
          <p:cNvSpPr txBox="1"/>
          <p:nvPr/>
        </p:nvSpPr>
        <p:spPr>
          <a:xfrm>
            <a:off x="777240" y="1728216"/>
            <a:ext cx="2516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1100" dirty="0"/>
          </a:p>
        </p:txBody>
      </p:sp>
      <p:sp>
        <p:nvSpPr>
          <p:cNvPr id="9" name="txt_6"/>
          <p:cNvSpPr txBox="1"/>
          <p:nvPr/>
        </p:nvSpPr>
        <p:spPr>
          <a:xfrm>
            <a:off x="777240" y="1984248"/>
            <a:ext cx="25166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Japan partner launch</a:t>
            </a:r>
            <a:endParaRPr lang="en-US" sz="1600" dirty="0"/>
          </a:p>
        </p:txBody>
      </p:sp>
      <p:sp>
        <p:nvSpPr>
          <p:cNvPr id="10" name="txt_7"/>
          <p:cNvSpPr txBox="1"/>
          <p:nvPr/>
        </p:nvSpPr>
        <p:spPr>
          <a:xfrm>
            <a:off x="777240" y="2350008"/>
            <a:ext cx="2516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Japanese customers live</a:t>
            </a:r>
            <a:endParaRPr lang="en-US" sz="1200" dirty="0"/>
          </a:p>
        </p:txBody>
      </p:sp>
      <p:sp>
        <p:nvSpPr>
          <p:cNvPr id="11" name="dot_8"/>
          <p:cNvSpPr/>
          <p:nvPr/>
        </p:nvSpPr>
        <p:spPr>
          <a:xfrm>
            <a:off x="3504242" y="3291840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3DF5"/>
            </a:solidFill>
            <a:prstDash val="solid"/>
          </a:ln>
        </p:spPr>
      </p:sp>
      <p:sp>
        <p:nvSpPr>
          <p:cNvPr id="12" name="line_9"/>
          <p:cNvSpPr/>
          <p:nvPr/>
        </p:nvSpPr>
        <p:spPr>
          <a:xfrm>
            <a:off x="3659690" y="3602736"/>
            <a:ext cx="0" cy="484632"/>
          </a:xfrm>
          <a:prstGeom prst="line">
            <a:avLst/>
          </a:prstGeom>
          <a:noFill/>
          <a:ln w="12700">
            <a:solidFill>
              <a:srgbClr val="9C99BC"/>
            </a:solidFill>
            <a:prstDash val="dash"/>
          </a:ln>
        </p:spPr>
      </p:sp>
      <p:sp>
        <p:nvSpPr>
          <p:cNvPr id="13" name="card_10"/>
          <p:cNvSpPr/>
          <p:nvPr/>
        </p:nvSpPr>
        <p:spPr>
          <a:xfrm>
            <a:off x="2172745" y="4087368"/>
            <a:ext cx="297389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4" name="txt_11"/>
          <p:cNvSpPr txBox="1"/>
          <p:nvPr/>
        </p:nvSpPr>
        <p:spPr>
          <a:xfrm>
            <a:off x="2401345" y="4242816"/>
            <a:ext cx="2516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FY27</a:t>
            </a:r>
            <a:endParaRPr lang="en-US" sz="1100" dirty="0"/>
          </a:p>
        </p:txBody>
      </p:sp>
      <p:sp>
        <p:nvSpPr>
          <p:cNvPr id="15" name="txt_12"/>
          <p:cNvSpPr txBox="1"/>
          <p:nvPr/>
        </p:nvSpPr>
        <p:spPr>
          <a:xfrm>
            <a:off x="2401345" y="4498848"/>
            <a:ext cx="25166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Copilot GA</a:t>
            </a:r>
            <a:endParaRPr lang="en-US" sz="1600" dirty="0"/>
          </a:p>
        </p:txBody>
      </p:sp>
      <p:sp>
        <p:nvSpPr>
          <p:cNvPr id="16" name="txt_13"/>
          <p:cNvSpPr txBox="1"/>
          <p:nvPr/>
        </p:nvSpPr>
        <p:spPr>
          <a:xfrm>
            <a:off x="2401345" y="4864608"/>
            <a:ext cx="2516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all Platform tiers</a:t>
            </a:r>
            <a:endParaRPr lang="en-US" sz="1200" dirty="0"/>
          </a:p>
        </p:txBody>
      </p:sp>
      <p:sp>
        <p:nvSpPr>
          <p:cNvPr id="17" name="dot_14"/>
          <p:cNvSpPr/>
          <p:nvPr/>
        </p:nvSpPr>
        <p:spPr>
          <a:xfrm>
            <a:off x="5128347" y="3291840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3DF5"/>
            </a:solidFill>
            <a:prstDash val="solid"/>
          </a:ln>
        </p:spPr>
      </p:sp>
      <p:sp>
        <p:nvSpPr>
          <p:cNvPr id="18" name="line_15"/>
          <p:cNvSpPr/>
          <p:nvPr/>
        </p:nvSpPr>
        <p:spPr>
          <a:xfrm>
            <a:off x="5283795" y="2761488"/>
            <a:ext cx="0" cy="530352"/>
          </a:xfrm>
          <a:prstGeom prst="line">
            <a:avLst/>
          </a:prstGeom>
          <a:noFill/>
          <a:ln w="12700">
            <a:solidFill>
              <a:srgbClr val="9C99BC"/>
            </a:solidFill>
            <a:prstDash val="dash"/>
          </a:ln>
        </p:spPr>
      </p:sp>
      <p:sp>
        <p:nvSpPr>
          <p:cNvPr id="19" name="card_16"/>
          <p:cNvSpPr/>
          <p:nvPr/>
        </p:nvSpPr>
        <p:spPr>
          <a:xfrm>
            <a:off x="3796850" y="1572768"/>
            <a:ext cx="297389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0" name="txt_17"/>
          <p:cNvSpPr txBox="1"/>
          <p:nvPr/>
        </p:nvSpPr>
        <p:spPr>
          <a:xfrm>
            <a:off x="4025450" y="1728216"/>
            <a:ext cx="2516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FY27</a:t>
            </a:r>
            <a:endParaRPr lang="en-US" sz="1100" dirty="0"/>
          </a:p>
        </p:txBody>
      </p:sp>
      <p:sp>
        <p:nvSpPr>
          <p:cNvPr id="21" name="txt_18"/>
          <p:cNvSpPr txBox="1"/>
          <p:nvPr/>
        </p:nvSpPr>
        <p:spPr>
          <a:xfrm>
            <a:off x="4025450" y="1984248"/>
            <a:ext cx="25166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Mid-market bundle GA</a:t>
            </a:r>
            <a:endParaRPr lang="en-US" sz="1600" dirty="0"/>
          </a:p>
        </p:txBody>
      </p:sp>
      <p:sp>
        <p:nvSpPr>
          <p:cNvPr id="22" name="txt_19"/>
          <p:cNvSpPr txBox="1"/>
          <p:nvPr/>
        </p:nvSpPr>
        <p:spPr>
          <a:xfrm>
            <a:off x="4025450" y="2350008"/>
            <a:ext cx="2516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150 new mid-market logos</a:t>
            </a:r>
            <a:endParaRPr lang="en-US" sz="1200" dirty="0"/>
          </a:p>
        </p:txBody>
      </p:sp>
      <p:sp>
        <p:nvSpPr>
          <p:cNvPr id="23" name="dot_20"/>
          <p:cNvSpPr/>
          <p:nvPr/>
        </p:nvSpPr>
        <p:spPr>
          <a:xfrm>
            <a:off x="6752452" y="3291840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3DF5"/>
            </a:solidFill>
            <a:prstDash val="solid"/>
          </a:ln>
        </p:spPr>
      </p:sp>
      <p:sp>
        <p:nvSpPr>
          <p:cNvPr id="24" name="line_21"/>
          <p:cNvSpPr/>
          <p:nvPr/>
        </p:nvSpPr>
        <p:spPr>
          <a:xfrm>
            <a:off x="6907900" y="3602736"/>
            <a:ext cx="0" cy="484632"/>
          </a:xfrm>
          <a:prstGeom prst="line">
            <a:avLst/>
          </a:prstGeom>
          <a:noFill/>
          <a:ln w="12700">
            <a:solidFill>
              <a:srgbClr val="9C99BC"/>
            </a:solidFill>
            <a:prstDash val="dash"/>
          </a:ln>
        </p:spPr>
      </p:sp>
      <p:sp>
        <p:nvSpPr>
          <p:cNvPr id="25" name="card_22"/>
          <p:cNvSpPr/>
          <p:nvPr/>
        </p:nvSpPr>
        <p:spPr>
          <a:xfrm>
            <a:off x="5420955" y="4087368"/>
            <a:ext cx="297389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6" name="txt_23"/>
          <p:cNvSpPr txBox="1"/>
          <p:nvPr/>
        </p:nvSpPr>
        <p:spPr>
          <a:xfrm>
            <a:off x="5649555" y="4242816"/>
            <a:ext cx="2516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FY27</a:t>
            </a:r>
            <a:endParaRPr lang="en-US" sz="1100" dirty="0"/>
          </a:p>
        </p:txBody>
      </p:sp>
      <p:sp>
        <p:nvSpPr>
          <p:cNvPr id="27" name="txt_24"/>
          <p:cNvSpPr txBox="1"/>
          <p:nvPr/>
        </p:nvSpPr>
        <p:spPr>
          <a:xfrm>
            <a:off x="5649555" y="4498848"/>
            <a:ext cx="25166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$892M revenue</a:t>
            </a:r>
            <a:endParaRPr lang="en-US" sz="1600" dirty="0"/>
          </a:p>
        </p:txBody>
      </p:sp>
      <p:sp>
        <p:nvSpPr>
          <p:cNvPr id="28" name="txt_25"/>
          <p:cNvSpPr txBox="1"/>
          <p:nvPr/>
        </p:nvSpPr>
        <p:spPr>
          <a:xfrm>
            <a:off x="5649555" y="4864608"/>
            <a:ext cx="2516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24.5%</a:t>
            </a:r>
            <a:endParaRPr lang="en-US" sz="1200" dirty="0"/>
          </a:p>
        </p:txBody>
      </p:sp>
      <p:sp>
        <p:nvSpPr>
          <p:cNvPr id="29" name="dot_26"/>
          <p:cNvSpPr/>
          <p:nvPr/>
        </p:nvSpPr>
        <p:spPr>
          <a:xfrm>
            <a:off x="8376557" y="3291840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3DF5"/>
            </a:solidFill>
            <a:prstDash val="solid"/>
          </a:ln>
        </p:spPr>
      </p:sp>
      <p:sp>
        <p:nvSpPr>
          <p:cNvPr id="30" name="line_27"/>
          <p:cNvSpPr/>
          <p:nvPr/>
        </p:nvSpPr>
        <p:spPr>
          <a:xfrm>
            <a:off x="8532005" y="2761488"/>
            <a:ext cx="0" cy="530352"/>
          </a:xfrm>
          <a:prstGeom prst="line">
            <a:avLst/>
          </a:prstGeom>
          <a:noFill/>
          <a:ln w="12700">
            <a:solidFill>
              <a:srgbClr val="9C99BC"/>
            </a:solidFill>
            <a:prstDash val="dash"/>
          </a:ln>
        </p:spPr>
      </p:sp>
      <p:sp>
        <p:nvSpPr>
          <p:cNvPr id="31" name="card_28"/>
          <p:cNvSpPr/>
          <p:nvPr/>
        </p:nvSpPr>
        <p:spPr>
          <a:xfrm>
            <a:off x="7045060" y="1572768"/>
            <a:ext cx="297389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32" name="txt_29"/>
          <p:cNvSpPr txBox="1"/>
          <p:nvPr/>
        </p:nvSpPr>
        <p:spPr>
          <a:xfrm>
            <a:off x="7273660" y="1728216"/>
            <a:ext cx="2516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FY28</a:t>
            </a:r>
            <a:endParaRPr lang="en-US" sz="1100" dirty="0"/>
          </a:p>
        </p:txBody>
      </p:sp>
      <p:sp>
        <p:nvSpPr>
          <p:cNvPr id="33" name="txt_30"/>
          <p:cNvSpPr txBox="1"/>
          <p:nvPr/>
        </p:nvSpPr>
        <p:spPr>
          <a:xfrm>
            <a:off x="7273660" y="1984248"/>
            <a:ext cx="25166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JV signed</a:t>
            </a:r>
            <a:endParaRPr lang="en-US" sz="1600" dirty="0"/>
          </a:p>
        </p:txBody>
      </p:sp>
      <p:sp>
        <p:nvSpPr>
          <p:cNvPr id="34" name="txt_31"/>
          <p:cNvSpPr txBox="1"/>
          <p:nvPr/>
        </p:nvSpPr>
        <p:spPr>
          <a:xfrm>
            <a:off x="7273660" y="2350008"/>
            <a:ext cx="2516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approvals secured</a:t>
            </a:r>
            <a:endParaRPr lang="en-US" sz="1200" dirty="0"/>
          </a:p>
        </p:txBody>
      </p:sp>
      <p:sp>
        <p:nvSpPr>
          <p:cNvPr id="35" name="dot_32"/>
          <p:cNvSpPr/>
          <p:nvPr/>
        </p:nvSpPr>
        <p:spPr>
          <a:xfrm>
            <a:off x="10000662" y="3291840"/>
            <a:ext cx="310896" cy="310896"/>
          </a:xfrm>
          <a:prstGeom prst="ellipse">
            <a:avLst/>
          </a:prstGeom>
          <a:solidFill>
            <a:srgbClr val="FF5A4E"/>
          </a:solidFill>
          <a:ln/>
        </p:spPr>
      </p:sp>
      <p:sp>
        <p:nvSpPr>
          <p:cNvPr id="36" name="line_33"/>
          <p:cNvSpPr/>
          <p:nvPr/>
        </p:nvSpPr>
        <p:spPr>
          <a:xfrm>
            <a:off x="10156110" y="3602736"/>
            <a:ext cx="0" cy="484632"/>
          </a:xfrm>
          <a:prstGeom prst="line">
            <a:avLst/>
          </a:prstGeom>
          <a:noFill/>
          <a:ln w="12700">
            <a:solidFill>
              <a:srgbClr val="9C99BC"/>
            </a:solidFill>
            <a:prstDash val="dash"/>
          </a:ln>
        </p:spPr>
      </p:sp>
      <p:sp>
        <p:nvSpPr>
          <p:cNvPr id="37" name="card_34"/>
          <p:cNvSpPr/>
          <p:nvPr/>
        </p:nvSpPr>
        <p:spPr>
          <a:xfrm>
            <a:off x="8669165" y="4087368"/>
            <a:ext cx="297389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38" name="txt_35"/>
          <p:cNvSpPr txBox="1"/>
          <p:nvPr/>
        </p:nvSpPr>
        <p:spPr>
          <a:xfrm>
            <a:off x="8897765" y="4242816"/>
            <a:ext cx="2516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FY28</a:t>
            </a:r>
            <a:endParaRPr lang="en-US" sz="1100" dirty="0"/>
          </a:p>
        </p:txBody>
      </p:sp>
      <p:sp>
        <p:nvSpPr>
          <p:cNvPr id="39" name="txt_36"/>
          <p:cNvSpPr txBox="1"/>
          <p:nvPr/>
        </p:nvSpPr>
        <p:spPr>
          <a:xfrm>
            <a:off x="8897765" y="4498848"/>
            <a:ext cx="25166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$1.03B revenue</a:t>
            </a:r>
            <a:endParaRPr lang="en-US" sz="1600" dirty="0"/>
          </a:p>
        </p:txBody>
      </p:sp>
      <p:sp>
        <p:nvSpPr>
          <p:cNvPr id="40" name="txt_37"/>
          <p:cNvSpPr txBox="1"/>
          <p:nvPr/>
        </p:nvSpPr>
        <p:spPr>
          <a:xfrm>
            <a:off x="8897765" y="4864608"/>
            <a:ext cx="25166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Billion-dollar milestone</a:t>
            </a:r>
            <a:endParaRPr lang="en-US" sz="1200" dirty="0"/>
          </a:p>
        </p:txBody>
      </p:sp>
      <p:sp>
        <p:nvSpPr>
          <p:cNvPr id="41" name="card_38"/>
          <p:cNvSpPr/>
          <p:nvPr/>
        </p:nvSpPr>
        <p:spPr>
          <a:xfrm>
            <a:off x="548640" y="5504688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ECE8FE"/>
          </a:solidFill>
          <a:ln/>
        </p:spPr>
      </p:sp>
      <p:sp>
        <p:nvSpPr>
          <p:cNvPr id="42" name="txt_39"/>
          <p:cNvSpPr txBox="1"/>
          <p:nvPr/>
        </p:nvSpPr>
        <p:spPr>
          <a:xfrm>
            <a:off x="822960" y="550468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rhythm:  </a:t>
            </a:r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status in every quarterly board pack, with red/amber/green ratings and owner commentary.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4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8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15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ownership for every workstream</a:t>
            </a:r>
            <a:endParaRPr lang="en-US" sz="3000" dirty="0"/>
          </a:p>
        </p:txBody>
      </p:sp>
      <p:graphicFrame>
        <p:nvGraphicFramePr>
          <p:cNvPr id="4" name="tabl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768096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960120"/>
                <a:gridCol w="960120"/>
                <a:gridCol w="960120"/>
                <a:gridCol w="960120"/>
                <a:gridCol w="960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· Insight Copilot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 expansion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Order-to-cash automation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&amp; hiring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governance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9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5F4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6"/>
                    </a:solidFill>
                  </a:tcPr>
                </a:tc>
              </a:tr>
            </a:tbl>
          </a:graphicData>
        </a:graphic>
      </p:graphicFrame>
      <p:sp>
        <p:nvSpPr>
          <p:cNvPr id="5" name="card_2"/>
          <p:cNvSpPr/>
          <p:nvPr/>
        </p:nvSpPr>
        <p:spPr>
          <a:xfrm>
            <a:off x="8503920" y="1572768"/>
            <a:ext cx="3136392" cy="4572000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6" name="txt_3"/>
          <p:cNvSpPr txBox="1"/>
          <p:nvPr/>
        </p:nvSpPr>
        <p:spPr>
          <a:xfrm>
            <a:off x="8732520" y="1773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500" dirty="0"/>
          </a:p>
        </p:txBody>
      </p:sp>
      <p:sp>
        <p:nvSpPr>
          <p:cNvPr id="7" name="rect_4"/>
          <p:cNvSpPr/>
          <p:nvPr/>
        </p:nvSpPr>
        <p:spPr>
          <a:xfrm>
            <a:off x="8732520" y="225856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5B3DF5"/>
          </a:solidFill>
          <a:ln/>
        </p:spPr>
      </p:sp>
      <p:sp>
        <p:nvSpPr>
          <p:cNvPr id="8" name="txt_5"/>
          <p:cNvSpPr txBox="1"/>
          <p:nvPr/>
        </p:nvSpPr>
        <p:spPr>
          <a:xfrm>
            <a:off x="873252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9" name="txt_6"/>
          <p:cNvSpPr txBox="1"/>
          <p:nvPr/>
        </p:nvSpPr>
        <p:spPr>
          <a:xfrm>
            <a:off x="9281160" y="227685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— delivers the work</a:t>
            </a:r>
            <a:endParaRPr lang="en-US" sz="1200" dirty="0"/>
          </a:p>
        </p:txBody>
      </p:sp>
      <p:sp>
        <p:nvSpPr>
          <p:cNvPr id="10" name="rect_7"/>
          <p:cNvSpPr/>
          <p:nvPr/>
        </p:nvSpPr>
        <p:spPr>
          <a:xfrm>
            <a:off x="8732520" y="28803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5A4E"/>
          </a:solidFill>
          <a:ln/>
        </p:spPr>
      </p:sp>
      <p:sp>
        <p:nvSpPr>
          <p:cNvPr id="11" name="txt_8"/>
          <p:cNvSpPr txBox="1"/>
          <p:nvPr/>
        </p:nvSpPr>
        <p:spPr>
          <a:xfrm>
            <a:off x="87325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xt_9"/>
          <p:cNvSpPr txBox="1"/>
          <p:nvPr/>
        </p:nvSpPr>
        <p:spPr>
          <a:xfrm>
            <a:off x="9281160" y="28986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— owns the outcome</a:t>
            </a:r>
            <a:endParaRPr lang="en-US" sz="1200" dirty="0"/>
          </a:p>
        </p:txBody>
      </p:sp>
      <p:sp>
        <p:nvSpPr>
          <p:cNvPr id="13" name="rect_10"/>
          <p:cNvSpPr/>
          <p:nvPr/>
        </p:nvSpPr>
        <p:spPr>
          <a:xfrm>
            <a:off x="8732520" y="35021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FB5A5"/>
          </a:solidFill>
          <a:ln/>
        </p:spPr>
      </p:sp>
      <p:sp>
        <p:nvSpPr>
          <p:cNvPr id="14" name="txt_11"/>
          <p:cNvSpPr txBox="1"/>
          <p:nvPr/>
        </p:nvSpPr>
        <p:spPr>
          <a:xfrm>
            <a:off x="873252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xt_12"/>
          <p:cNvSpPr txBox="1"/>
          <p:nvPr/>
        </p:nvSpPr>
        <p:spPr>
          <a:xfrm>
            <a:off x="9281160" y="3520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 — gives input</a:t>
            </a:r>
            <a:endParaRPr lang="en-US" sz="1200" dirty="0"/>
          </a:p>
        </p:txBody>
      </p:sp>
      <p:sp>
        <p:nvSpPr>
          <p:cNvPr id="16" name="rect_13"/>
          <p:cNvSpPr/>
          <p:nvPr/>
        </p:nvSpPr>
        <p:spPr>
          <a:xfrm>
            <a:off x="8732520" y="4123944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9C99BC"/>
          </a:solidFill>
          <a:ln/>
        </p:spPr>
      </p:sp>
      <p:sp>
        <p:nvSpPr>
          <p:cNvPr id="17" name="txt_14"/>
          <p:cNvSpPr txBox="1"/>
          <p:nvPr/>
        </p:nvSpPr>
        <p:spPr>
          <a:xfrm>
            <a:off x="8732520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18" name="txt_15"/>
          <p:cNvSpPr txBox="1"/>
          <p:nvPr/>
        </p:nvSpPr>
        <p:spPr>
          <a:xfrm>
            <a:off x="9281160" y="4142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— kept up to date</a:t>
            </a:r>
            <a:endParaRPr lang="en-US" sz="1200" dirty="0"/>
          </a:p>
        </p:txBody>
      </p:sp>
      <p:sp>
        <p:nvSpPr>
          <p:cNvPr id="19" name="txt_16"/>
          <p:cNvSpPr txBox="1"/>
          <p:nvPr/>
        </p:nvSpPr>
        <p:spPr>
          <a:xfrm>
            <a:off x="8732520" y="491032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meets monthly; CFO chairs investment reviews each quarter.</a:t>
            </a:r>
            <a:endParaRPr lang="en-US" sz="12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3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 and how we will manage them</a:t>
            </a:r>
            <a:endParaRPr lang="en-US" sz="3000" dirty="0"/>
          </a:p>
        </p:txBody>
      </p:sp>
      <p:sp>
        <p:nvSpPr>
          <p:cNvPr id="4" name="rect_1"/>
          <p:cNvSpPr/>
          <p:nvPr/>
        </p:nvSpPr>
        <p:spPr>
          <a:xfrm>
            <a:off x="1005840" y="16642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6CEFD"/>
          </a:solidFill>
          <a:ln/>
        </p:spPr>
      </p:sp>
      <p:sp>
        <p:nvSpPr>
          <p:cNvPr id="5" name="rect_2"/>
          <p:cNvSpPr/>
          <p:nvPr/>
        </p:nvSpPr>
        <p:spPr>
          <a:xfrm>
            <a:off x="1737360" y="16642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D48A"/>
          </a:solidFill>
          <a:ln/>
        </p:spPr>
      </p:sp>
      <p:sp>
        <p:nvSpPr>
          <p:cNvPr id="6" name="rect_3"/>
          <p:cNvSpPr/>
          <p:nvPr/>
        </p:nvSpPr>
        <p:spPr>
          <a:xfrm>
            <a:off x="2468880" y="16642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8A80"/>
          </a:solidFill>
          <a:ln/>
        </p:spPr>
      </p:sp>
      <p:sp>
        <p:nvSpPr>
          <p:cNvPr id="7" name="rect_4"/>
          <p:cNvSpPr/>
          <p:nvPr/>
        </p:nvSpPr>
        <p:spPr>
          <a:xfrm>
            <a:off x="3200400" y="16642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8A80"/>
          </a:solidFill>
          <a:ln/>
        </p:spPr>
      </p:sp>
      <p:sp>
        <p:nvSpPr>
          <p:cNvPr id="8" name="rect_5"/>
          <p:cNvSpPr/>
          <p:nvPr/>
        </p:nvSpPr>
        <p:spPr>
          <a:xfrm>
            <a:off x="3931920" y="166420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8A80"/>
          </a:solidFill>
          <a:ln/>
        </p:spPr>
      </p:sp>
      <p:sp>
        <p:nvSpPr>
          <p:cNvPr id="9" name="rect_6"/>
          <p:cNvSpPr/>
          <p:nvPr/>
        </p:nvSpPr>
        <p:spPr>
          <a:xfrm>
            <a:off x="1005840" y="239572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6CEFD"/>
          </a:solidFill>
          <a:ln/>
        </p:spPr>
      </p:sp>
      <p:sp>
        <p:nvSpPr>
          <p:cNvPr id="10" name="rect_7"/>
          <p:cNvSpPr/>
          <p:nvPr/>
        </p:nvSpPr>
        <p:spPr>
          <a:xfrm>
            <a:off x="1737360" y="239572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D48A"/>
          </a:solidFill>
          <a:ln/>
        </p:spPr>
      </p:sp>
      <p:sp>
        <p:nvSpPr>
          <p:cNvPr id="11" name="rect_8"/>
          <p:cNvSpPr/>
          <p:nvPr/>
        </p:nvSpPr>
        <p:spPr>
          <a:xfrm>
            <a:off x="2468880" y="239572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D48A"/>
          </a:solidFill>
          <a:ln/>
        </p:spPr>
      </p:sp>
      <p:sp>
        <p:nvSpPr>
          <p:cNvPr id="12" name="rect_9"/>
          <p:cNvSpPr/>
          <p:nvPr/>
        </p:nvSpPr>
        <p:spPr>
          <a:xfrm>
            <a:off x="3200400" y="239572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8A80"/>
          </a:solidFill>
          <a:ln/>
        </p:spPr>
      </p:sp>
      <p:sp>
        <p:nvSpPr>
          <p:cNvPr id="13" name="rect_10"/>
          <p:cNvSpPr/>
          <p:nvPr/>
        </p:nvSpPr>
        <p:spPr>
          <a:xfrm>
            <a:off x="3931920" y="239572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8A80"/>
          </a:solidFill>
          <a:ln/>
        </p:spPr>
      </p:sp>
      <p:sp>
        <p:nvSpPr>
          <p:cNvPr id="14" name="rect_11"/>
          <p:cNvSpPr/>
          <p:nvPr/>
        </p:nvSpPr>
        <p:spPr>
          <a:xfrm>
            <a:off x="1005840" y="31272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CE8FE"/>
          </a:solidFill>
          <a:ln/>
        </p:spPr>
      </p:sp>
      <p:sp>
        <p:nvSpPr>
          <p:cNvPr id="15" name="rect_12"/>
          <p:cNvSpPr/>
          <p:nvPr/>
        </p:nvSpPr>
        <p:spPr>
          <a:xfrm>
            <a:off x="1737360" y="31272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6CEFD"/>
          </a:solidFill>
          <a:ln/>
        </p:spPr>
      </p:sp>
      <p:sp>
        <p:nvSpPr>
          <p:cNvPr id="16" name="rect_13"/>
          <p:cNvSpPr/>
          <p:nvPr/>
        </p:nvSpPr>
        <p:spPr>
          <a:xfrm>
            <a:off x="2468880" y="31272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D48A"/>
          </a:solidFill>
          <a:ln/>
        </p:spPr>
      </p:sp>
      <p:sp>
        <p:nvSpPr>
          <p:cNvPr id="17" name="rect_14"/>
          <p:cNvSpPr/>
          <p:nvPr/>
        </p:nvSpPr>
        <p:spPr>
          <a:xfrm>
            <a:off x="3200400" y="31272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D48A"/>
          </a:solidFill>
          <a:ln/>
        </p:spPr>
      </p:sp>
      <p:sp>
        <p:nvSpPr>
          <p:cNvPr id="18" name="rect_15"/>
          <p:cNvSpPr/>
          <p:nvPr/>
        </p:nvSpPr>
        <p:spPr>
          <a:xfrm>
            <a:off x="3931920" y="312724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8A80"/>
          </a:solidFill>
          <a:ln/>
        </p:spPr>
      </p:sp>
      <p:sp>
        <p:nvSpPr>
          <p:cNvPr id="19" name="rect_16"/>
          <p:cNvSpPr/>
          <p:nvPr/>
        </p:nvSpPr>
        <p:spPr>
          <a:xfrm>
            <a:off x="1005840" y="385876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CE8FE"/>
          </a:solidFill>
          <a:ln/>
        </p:spPr>
      </p:sp>
      <p:sp>
        <p:nvSpPr>
          <p:cNvPr id="20" name="rect_17"/>
          <p:cNvSpPr/>
          <p:nvPr/>
        </p:nvSpPr>
        <p:spPr>
          <a:xfrm>
            <a:off x="1737360" y="385876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6CEFD"/>
          </a:solidFill>
          <a:ln/>
        </p:spPr>
      </p:sp>
      <p:sp>
        <p:nvSpPr>
          <p:cNvPr id="21" name="rect_18"/>
          <p:cNvSpPr/>
          <p:nvPr/>
        </p:nvSpPr>
        <p:spPr>
          <a:xfrm>
            <a:off x="2468880" y="385876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6CEFD"/>
          </a:solidFill>
          <a:ln/>
        </p:spPr>
      </p:sp>
      <p:sp>
        <p:nvSpPr>
          <p:cNvPr id="22" name="rect_19"/>
          <p:cNvSpPr/>
          <p:nvPr/>
        </p:nvSpPr>
        <p:spPr>
          <a:xfrm>
            <a:off x="3200400" y="385876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D48A"/>
          </a:solidFill>
          <a:ln/>
        </p:spPr>
      </p:sp>
      <p:sp>
        <p:nvSpPr>
          <p:cNvPr id="23" name="rect_20"/>
          <p:cNvSpPr/>
          <p:nvPr/>
        </p:nvSpPr>
        <p:spPr>
          <a:xfrm>
            <a:off x="3931920" y="385876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FFD48A"/>
          </a:solidFill>
          <a:ln/>
        </p:spPr>
      </p:sp>
      <p:sp>
        <p:nvSpPr>
          <p:cNvPr id="24" name="rect_21"/>
          <p:cNvSpPr/>
          <p:nvPr/>
        </p:nvSpPr>
        <p:spPr>
          <a:xfrm>
            <a:off x="1005840" y="459028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CE8FE"/>
          </a:solidFill>
          <a:ln/>
        </p:spPr>
      </p:sp>
      <p:sp>
        <p:nvSpPr>
          <p:cNvPr id="25" name="rect_22"/>
          <p:cNvSpPr/>
          <p:nvPr/>
        </p:nvSpPr>
        <p:spPr>
          <a:xfrm>
            <a:off x="1737360" y="459028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CE8FE"/>
          </a:solidFill>
          <a:ln/>
        </p:spPr>
      </p:sp>
      <p:sp>
        <p:nvSpPr>
          <p:cNvPr id="26" name="rect_23"/>
          <p:cNvSpPr/>
          <p:nvPr/>
        </p:nvSpPr>
        <p:spPr>
          <a:xfrm>
            <a:off x="2468880" y="459028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ECE8FE"/>
          </a:solidFill>
          <a:ln/>
        </p:spPr>
      </p:sp>
      <p:sp>
        <p:nvSpPr>
          <p:cNvPr id="27" name="rect_24"/>
          <p:cNvSpPr/>
          <p:nvPr/>
        </p:nvSpPr>
        <p:spPr>
          <a:xfrm>
            <a:off x="3200400" y="459028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6CEFD"/>
          </a:solidFill>
          <a:ln/>
        </p:spPr>
      </p:sp>
      <p:sp>
        <p:nvSpPr>
          <p:cNvPr id="28" name="rect_25"/>
          <p:cNvSpPr/>
          <p:nvPr/>
        </p:nvSpPr>
        <p:spPr>
          <a:xfrm>
            <a:off x="3931920" y="4590288"/>
            <a:ext cx="685800" cy="685800"/>
          </a:xfrm>
          <a:prstGeom prst="roundRect">
            <a:avLst>
              <a:gd name="adj" fmla="val 8000"/>
            </a:avLst>
          </a:prstGeom>
          <a:solidFill>
            <a:srgbClr val="D6CEFD"/>
          </a:solidFill>
          <a:ln/>
        </p:spPr>
      </p:sp>
      <p:sp>
        <p:nvSpPr>
          <p:cNvPr id="29" name="txt_26"/>
          <p:cNvSpPr txBox="1"/>
          <p:nvPr/>
        </p:nvSpPr>
        <p:spPr>
          <a:xfrm>
            <a:off x="1005840" y="5367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200" dirty="0"/>
          </a:p>
        </p:txBody>
      </p:sp>
      <p:sp>
        <p:nvSpPr>
          <p:cNvPr id="30" name="ylab_27"/>
          <p:cNvSpPr txBox="1"/>
          <p:nvPr/>
        </p:nvSpPr>
        <p:spPr>
          <a:xfrm rot="16200000">
            <a:off x="-411480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200" dirty="0"/>
          </a:p>
        </p:txBody>
      </p:sp>
      <p:sp>
        <p:nvSpPr>
          <p:cNvPr id="31" name="dot_28"/>
          <p:cNvSpPr/>
          <p:nvPr/>
        </p:nvSpPr>
        <p:spPr>
          <a:xfrm>
            <a:off x="3383280" y="2578608"/>
            <a:ext cx="365760" cy="365760"/>
          </a:xfrm>
          <a:prstGeom prst="ellipse">
            <a:avLst/>
          </a:prstGeom>
          <a:solidFill>
            <a:srgbClr val="14112F"/>
          </a:solidFill>
          <a:ln/>
        </p:spPr>
      </p:sp>
      <p:sp>
        <p:nvSpPr>
          <p:cNvPr id="32" name="txt_29"/>
          <p:cNvSpPr txBox="1"/>
          <p:nvPr/>
        </p:nvSpPr>
        <p:spPr>
          <a:xfrm>
            <a:off x="338328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dot_30"/>
          <p:cNvSpPr/>
          <p:nvPr/>
        </p:nvSpPr>
        <p:spPr>
          <a:xfrm>
            <a:off x="2651760" y="2578608"/>
            <a:ext cx="365760" cy="365760"/>
          </a:xfrm>
          <a:prstGeom prst="ellipse">
            <a:avLst/>
          </a:prstGeom>
          <a:solidFill>
            <a:srgbClr val="14112F"/>
          </a:solidFill>
          <a:ln/>
        </p:spPr>
      </p:sp>
      <p:sp>
        <p:nvSpPr>
          <p:cNvPr id="34" name="txt_31"/>
          <p:cNvSpPr txBox="1"/>
          <p:nvPr/>
        </p:nvSpPr>
        <p:spPr>
          <a:xfrm>
            <a:off x="265176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dot_32"/>
          <p:cNvSpPr/>
          <p:nvPr/>
        </p:nvSpPr>
        <p:spPr>
          <a:xfrm>
            <a:off x="3383280" y="3310128"/>
            <a:ext cx="365760" cy="365760"/>
          </a:xfrm>
          <a:prstGeom prst="ellipse">
            <a:avLst/>
          </a:prstGeom>
          <a:solidFill>
            <a:srgbClr val="14112F"/>
          </a:solidFill>
          <a:ln/>
        </p:spPr>
      </p:sp>
      <p:sp>
        <p:nvSpPr>
          <p:cNvPr id="36" name="txt_33"/>
          <p:cNvSpPr txBox="1"/>
          <p:nvPr/>
        </p:nvSpPr>
        <p:spPr>
          <a:xfrm>
            <a:off x="338328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dot_34"/>
          <p:cNvSpPr/>
          <p:nvPr/>
        </p:nvSpPr>
        <p:spPr>
          <a:xfrm>
            <a:off x="1920240" y="1847088"/>
            <a:ext cx="365760" cy="365760"/>
          </a:xfrm>
          <a:prstGeom prst="ellipse">
            <a:avLst/>
          </a:prstGeom>
          <a:solidFill>
            <a:srgbClr val="14112F"/>
          </a:solidFill>
          <a:ln/>
        </p:spPr>
      </p:sp>
      <p:sp>
        <p:nvSpPr>
          <p:cNvPr id="38" name="txt_35"/>
          <p:cNvSpPr txBox="1"/>
          <p:nvPr/>
        </p:nvSpPr>
        <p:spPr>
          <a:xfrm>
            <a:off x="19202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dot_36"/>
          <p:cNvSpPr/>
          <p:nvPr/>
        </p:nvSpPr>
        <p:spPr>
          <a:xfrm>
            <a:off x="2651760" y="3310128"/>
            <a:ext cx="365760" cy="365760"/>
          </a:xfrm>
          <a:prstGeom prst="ellipse">
            <a:avLst/>
          </a:prstGeom>
          <a:solidFill>
            <a:srgbClr val="14112F"/>
          </a:solidFill>
          <a:ln/>
        </p:spPr>
      </p:sp>
      <p:sp>
        <p:nvSpPr>
          <p:cNvPr id="40" name="txt_37"/>
          <p:cNvSpPr txBox="1"/>
          <p:nvPr/>
        </p:nvSpPr>
        <p:spPr>
          <a:xfrm>
            <a:off x="265176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dot_38"/>
          <p:cNvSpPr/>
          <p:nvPr/>
        </p:nvSpPr>
        <p:spPr>
          <a:xfrm>
            <a:off x="3383280" y="4041648"/>
            <a:ext cx="365760" cy="365760"/>
          </a:xfrm>
          <a:prstGeom prst="ellipse">
            <a:avLst/>
          </a:prstGeom>
          <a:solidFill>
            <a:srgbClr val="14112F"/>
          </a:solidFill>
          <a:ln/>
        </p:spPr>
      </p:sp>
      <p:sp>
        <p:nvSpPr>
          <p:cNvPr id="42" name="txt_39"/>
          <p:cNvSpPr txBox="1"/>
          <p:nvPr/>
        </p:nvSpPr>
        <p:spPr>
          <a:xfrm>
            <a:off x="338328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graphicFrame>
        <p:nvGraphicFramePr>
          <p:cNvPr id="43" name="table_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64208"/>
          <a:ext cx="683971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593592"/>
                <a:gridCol w="73152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2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enterprise buying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mix to mid-market; tighten pipeline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product delay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Stage-gated releases with design partners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attrition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grants; relieve capacity hot spots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 incident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Zero-trust programme; quarterly red-team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partner under-delivers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Dual-partner model; 6-month exit clause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3D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Adverse FX movement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66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hedging plus 12-month forward cover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18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Graphic spid="43" grpId="0">
        <p:bldAsOne/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dashboard we will track every month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2567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777240" y="1737360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$M (QUARTERLY)</a:t>
            </a:r>
            <a:endParaRPr lang="en-US" sz="1000" dirty="0"/>
          </a:p>
        </p:txBody>
      </p:sp>
      <p:sp>
        <p:nvSpPr>
          <p:cNvPr id="6" name="txt_3"/>
          <p:cNvSpPr txBox="1"/>
          <p:nvPr/>
        </p:nvSpPr>
        <p:spPr>
          <a:xfrm>
            <a:off x="777240" y="19842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$213M</a:t>
            </a:r>
            <a:endParaRPr lang="en-US" sz="2600" dirty="0"/>
          </a:p>
        </p:txBody>
      </p:sp>
      <p:sp>
        <p:nvSpPr>
          <p:cNvPr id="7" name="txt_4"/>
          <p:cNvSpPr txBox="1"/>
          <p:nvPr/>
        </p:nvSpPr>
        <p:spPr>
          <a:xfrm>
            <a:off x="777240" y="2990088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 · +15.8% YoY</a:t>
            </a:r>
            <a:endParaRPr lang="en-US" sz="1100" dirty="0"/>
          </a:p>
        </p:txBody>
      </p:sp>
      <p:graphicFrame>
        <p:nvGraphicFramePr>
          <p:cNvPr id="8" name="chart_5" descr=""/>
          <p:cNvGraphicFramePr/>
          <p:nvPr/>
        </p:nvGraphicFramePr>
        <p:xfrm>
          <a:off x="2011680" y="1984248"/>
          <a:ext cx="967664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_6"/>
          <p:cNvSpPr/>
          <p:nvPr/>
        </p:nvSpPr>
        <p:spPr>
          <a:xfrm>
            <a:off x="3390824" y="1572768"/>
            <a:ext cx="2567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0" name="txt_7"/>
          <p:cNvSpPr txBox="1"/>
          <p:nvPr/>
        </p:nvSpPr>
        <p:spPr>
          <a:xfrm>
            <a:off x="3619424" y="1737360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MARGIN, %</a:t>
            </a:r>
            <a:endParaRPr lang="en-US" sz="1000" dirty="0"/>
          </a:p>
        </p:txBody>
      </p:sp>
      <p:sp>
        <p:nvSpPr>
          <p:cNvPr id="11" name="txt_8"/>
          <p:cNvSpPr txBox="1"/>
          <p:nvPr/>
        </p:nvSpPr>
        <p:spPr>
          <a:xfrm>
            <a:off x="3619424" y="19842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23.4%</a:t>
            </a:r>
            <a:endParaRPr lang="en-US" sz="2600" dirty="0"/>
          </a:p>
        </p:txBody>
      </p:sp>
      <p:sp>
        <p:nvSpPr>
          <p:cNvPr id="12" name="txt_9"/>
          <p:cNvSpPr txBox="1"/>
          <p:nvPr/>
        </p:nvSpPr>
        <p:spPr>
          <a:xfrm>
            <a:off x="3619424" y="2990088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· +1.5 pts</a:t>
            </a:r>
            <a:endParaRPr lang="en-US" sz="1100" dirty="0"/>
          </a:p>
        </p:txBody>
      </p:sp>
      <p:graphicFrame>
        <p:nvGraphicFramePr>
          <p:cNvPr id="13" name="chart_10" descr=""/>
          <p:cNvGraphicFramePr/>
          <p:nvPr/>
        </p:nvGraphicFramePr>
        <p:xfrm>
          <a:off x="4853864" y="1984248"/>
          <a:ext cx="967664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card_11"/>
          <p:cNvSpPr/>
          <p:nvPr/>
        </p:nvSpPr>
        <p:spPr>
          <a:xfrm>
            <a:off x="6233008" y="1572768"/>
            <a:ext cx="2567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5" name="txt_12"/>
          <p:cNvSpPr txBox="1"/>
          <p:nvPr/>
        </p:nvSpPr>
        <p:spPr>
          <a:xfrm>
            <a:off x="6461608" y="1737360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RETENTION, %</a:t>
            </a:r>
            <a:endParaRPr lang="en-US" sz="1000" dirty="0"/>
          </a:p>
        </p:txBody>
      </p:sp>
      <p:sp>
        <p:nvSpPr>
          <p:cNvPr id="16" name="txt_13"/>
          <p:cNvSpPr txBox="1"/>
          <p:nvPr/>
        </p:nvSpPr>
        <p:spPr>
          <a:xfrm>
            <a:off x="6461608" y="19842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119%</a:t>
            </a:r>
            <a:endParaRPr lang="en-US" sz="2600" dirty="0"/>
          </a:p>
        </p:txBody>
      </p:sp>
      <p:sp>
        <p:nvSpPr>
          <p:cNvPr id="17" name="txt_14"/>
          <p:cNvSpPr txBox="1"/>
          <p:nvPr/>
        </p:nvSpPr>
        <p:spPr>
          <a:xfrm>
            <a:off x="6461608" y="2990088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FY26 · +4 pts YoY</a:t>
            </a:r>
            <a:endParaRPr lang="en-US" sz="1100" dirty="0"/>
          </a:p>
        </p:txBody>
      </p:sp>
      <p:graphicFrame>
        <p:nvGraphicFramePr>
          <p:cNvPr id="18" name="chart_15" descr=""/>
          <p:cNvGraphicFramePr/>
          <p:nvPr/>
        </p:nvGraphicFramePr>
        <p:xfrm>
          <a:off x="7696048" y="1984248"/>
          <a:ext cx="967664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card_16"/>
          <p:cNvSpPr/>
          <p:nvPr/>
        </p:nvSpPr>
        <p:spPr>
          <a:xfrm>
            <a:off x="9075191" y="1572768"/>
            <a:ext cx="2567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0" name="txt_17"/>
          <p:cNvSpPr txBox="1"/>
          <p:nvPr/>
        </p:nvSpPr>
        <p:spPr>
          <a:xfrm>
            <a:off x="9303791" y="1737360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</a:t>
            </a:r>
            <a:endParaRPr lang="en-US" sz="1000" dirty="0"/>
          </a:p>
        </p:txBody>
      </p:sp>
      <p:sp>
        <p:nvSpPr>
          <p:cNvPr id="21" name="txt_18"/>
          <p:cNvSpPr txBox="1"/>
          <p:nvPr/>
        </p:nvSpPr>
        <p:spPr>
          <a:xfrm>
            <a:off x="9303791" y="198424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3.4×</a:t>
            </a:r>
            <a:endParaRPr lang="en-US" sz="2600" dirty="0"/>
          </a:p>
        </p:txBody>
      </p:sp>
      <p:sp>
        <p:nvSpPr>
          <p:cNvPr id="22" name="txt_19"/>
          <p:cNvSpPr txBox="1"/>
          <p:nvPr/>
        </p:nvSpPr>
        <p:spPr>
          <a:xfrm>
            <a:off x="9303791" y="2990088"/>
            <a:ext cx="2110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FY27 · target 3.0×</a:t>
            </a:r>
            <a:endParaRPr lang="en-US" sz="1100" dirty="0"/>
          </a:p>
        </p:txBody>
      </p:sp>
      <p:graphicFrame>
        <p:nvGraphicFramePr>
          <p:cNvPr id="23" name="chart_20" descr=""/>
          <p:cNvGraphicFramePr/>
          <p:nvPr/>
        </p:nvGraphicFramePr>
        <p:xfrm>
          <a:off x="10538231" y="1984248"/>
          <a:ext cx="967664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card_21"/>
          <p:cNvSpPr/>
          <p:nvPr/>
        </p:nvSpPr>
        <p:spPr>
          <a:xfrm>
            <a:off x="548640" y="3584448"/>
            <a:ext cx="45720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5" name="txt_22"/>
          <p:cNvSpPr txBox="1"/>
          <p:nvPr/>
        </p:nvSpPr>
        <p:spPr>
          <a:xfrm>
            <a:off x="822960" y="37856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segment, Q4 FY26, $M</a:t>
            </a:r>
            <a:endParaRPr lang="en-US" sz="1500" dirty="0"/>
          </a:p>
        </p:txBody>
      </p:sp>
      <p:graphicFrame>
        <p:nvGraphicFramePr>
          <p:cNvPr id="26" name="chart_23" descr=""/>
          <p:cNvGraphicFramePr/>
          <p:nvPr/>
        </p:nvGraphicFramePr>
        <p:xfrm>
          <a:off x="640080" y="3950208"/>
          <a:ext cx="43891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card_24"/>
          <p:cNvSpPr/>
          <p:nvPr/>
        </p:nvSpPr>
        <p:spPr>
          <a:xfrm>
            <a:off x="5394960" y="3584448"/>
            <a:ext cx="31089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8" name="txt_25"/>
          <p:cNvSpPr txBox="1"/>
          <p:nvPr/>
        </p:nvSpPr>
        <p:spPr>
          <a:xfrm>
            <a:off x="566928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channel, FY26</a:t>
            </a:r>
            <a:endParaRPr lang="en-US" sz="1500" dirty="0"/>
          </a:p>
        </p:txBody>
      </p:sp>
      <p:graphicFrame>
        <p:nvGraphicFramePr>
          <p:cNvPr id="29" name="chart_26" descr=""/>
          <p:cNvGraphicFramePr/>
          <p:nvPr/>
        </p:nvGraphicFramePr>
        <p:xfrm>
          <a:off x="5486400" y="3950208"/>
          <a:ext cx="29260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0" name="card_27"/>
          <p:cNvSpPr/>
          <p:nvPr/>
        </p:nvSpPr>
        <p:spPr>
          <a:xfrm>
            <a:off x="8778240" y="3584448"/>
            <a:ext cx="2864815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31" name="txt_28"/>
          <p:cNvSpPr txBox="1"/>
          <p:nvPr/>
        </p:nvSpPr>
        <p:spPr>
          <a:xfrm>
            <a:off x="9052560" y="3785616"/>
            <a:ext cx="2316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vs plan</a:t>
            </a:r>
            <a:endParaRPr lang="en-US" sz="1500" dirty="0"/>
          </a:p>
        </p:txBody>
      </p:sp>
      <p:sp>
        <p:nvSpPr>
          <p:cNvPr id="32" name="txt_29"/>
          <p:cNvSpPr txBox="1"/>
          <p:nvPr/>
        </p:nvSpPr>
        <p:spPr>
          <a:xfrm>
            <a:off x="9006840" y="41330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33" name="rect_30"/>
          <p:cNvSpPr/>
          <p:nvPr/>
        </p:nvSpPr>
        <p:spPr>
          <a:xfrm>
            <a:off x="10287000" y="4169664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DCF5F2"/>
          </a:solidFill>
          <a:ln/>
        </p:spPr>
      </p:sp>
      <p:sp>
        <p:nvSpPr>
          <p:cNvPr id="34" name="txt_31"/>
          <p:cNvSpPr txBox="1"/>
          <p:nvPr/>
        </p:nvSpPr>
        <p:spPr>
          <a:xfrm>
            <a:off x="10287000" y="416966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5" name="txt_32"/>
          <p:cNvSpPr txBox="1"/>
          <p:nvPr/>
        </p:nvSpPr>
        <p:spPr>
          <a:xfrm>
            <a:off x="9006840" y="46085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300" dirty="0"/>
          </a:p>
        </p:txBody>
      </p:sp>
      <p:sp>
        <p:nvSpPr>
          <p:cNvPr id="36" name="rect_33"/>
          <p:cNvSpPr/>
          <p:nvPr/>
        </p:nvSpPr>
        <p:spPr>
          <a:xfrm>
            <a:off x="10287000" y="464515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DCF5F2"/>
          </a:solidFill>
          <a:ln/>
        </p:spPr>
      </p:sp>
      <p:sp>
        <p:nvSpPr>
          <p:cNvPr id="37" name="txt_34"/>
          <p:cNvSpPr txBox="1"/>
          <p:nvPr/>
        </p:nvSpPr>
        <p:spPr>
          <a:xfrm>
            <a:off x="10287000" y="464515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8" name="txt_35"/>
          <p:cNvSpPr txBox="1"/>
          <p:nvPr/>
        </p:nvSpPr>
        <p:spPr>
          <a:xfrm>
            <a:off x="9006840" y="50840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39" name="rect_36"/>
          <p:cNvSpPr/>
          <p:nvPr/>
        </p:nvSpPr>
        <p:spPr>
          <a:xfrm>
            <a:off x="10287000" y="512064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CE8FE"/>
          </a:solidFill>
          <a:ln/>
        </p:spPr>
      </p:sp>
      <p:sp>
        <p:nvSpPr>
          <p:cNvPr id="40" name="txt_37"/>
          <p:cNvSpPr txBox="1"/>
          <p:nvPr/>
        </p:nvSpPr>
        <p:spPr>
          <a:xfrm>
            <a:off x="10287000" y="512064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1100" dirty="0"/>
          </a:p>
        </p:txBody>
      </p:sp>
      <p:sp>
        <p:nvSpPr>
          <p:cNvPr id="41" name="txt_38"/>
          <p:cNvSpPr txBox="1"/>
          <p:nvPr/>
        </p:nvSpPr>
        <p:spPr>
          <a:xfrm>
            <a:off x="9006840" y="55595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42" name="rect_39"/>
          <p:cNvSpPr/>
          <p:nvPr/>
        </p:nvSpPr>
        <p:spPr>
          <a:xfrm>
            <a:off x="10287000" y="559612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FFE7E4"/>
          </a:solidFill>
          <a:ln/>
        </p:spPr>
      </p:sp>
      <p:sp>
        <p:nvSpPr>
          <p:cNvPr id="43" name="txt_40"/>
          <p:cNvSpPr txBox="1"/>
          <p:nvPr/>
        </p:nvSpPr>
        <p:spPr>
          <a:xfrm>
            <a:off x="10287000" y="5596128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66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56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46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Graphic spid="8" grpId="0">
        <p:bldAsOne/>
      </p:bldGraphic>
      <p:bldP spid="9" grpId="0" animBg="1"/>
      <p:bldP spid="10" grpId="0" animBg="1"/>
      <p:bldP spid="11" grpId="0" animBg="1"/>
      <p:bldP spid="12" grpId="0" animBg="1"/>
      <p:bldGraphic spid="13" grpId="0">
        <p:bldAsOne/>
      </p:bldGraphic>
      <p:bldP spid="14" grpId="0" animBg="1"/>
      <p:bldP spid="15" grpId="0" animBg="1"/>
      <p:bldP spid="16" grpId="0" animBg="1"/>
      <p:bldP spid="17" grpId="0" animBg="1"/>
      <p:bldGraphic spid="18" grpId="0">
        <p:bldAsOne/>
      </p:bldGraphic>
      <p:bldP spid="19" grpId="0" animBg="1"/>
      <p:bldP spid="20" grpId="0" animBg="1"/>
      <p:bldP spid="21" grpId="0" animBg="1"/>
      <p:bldP spid="22" grpId="0" animBg="1"/>
      <p:bldGraphic spid="23" grpId="0">
        <p:bldAsOne/>
      </p:bldGraphic>
      <p:bldP spid="24" grpId="0" animBg="1"/>
      <p:bldP spid="25" grpId="0" animBg="1"/>
      <p:bldGraphic spid="26" grpId="0">
        <p:bldAsOne/>
      </p:bldGraphic>
      <p:bldP spid="27" grpId="0" animBg="1"/>
      <p:bldP spid="28" grpId="0" animBg="1"/>
      <p:bldGraphic spid="29" grpId="0">
        <p:bldAsOne/>
      </p:bldGraphic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3474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3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PLAN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8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the first 90 days</a:t>
            </a:r>
            <a:endParaRPr lang="en-US" sz="3000" dirty="0"/>
          </a:p>
        </p:txBody>
      </p:sp>
      <p:sp>
        <p:nvSpPr>
          <p:cNvPr id="4" name="card_1"/>
          <p:cNvSpPr/>
          <p:nvPr/>
        </p:nvSpPr>
        <p:spPr>
          <a:xfrm>
            <a:off x="548640" y="1572768"/>
            <a:ext cx="3515258" cy="457200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5" name="txt_2"/>
          <p:cNvSpPr txBox="1"/>
          <p:nvPr/>
        </p:nvSpPr>
        <p:spPr>
          <a:xfrm>
            <a:off x="868680" y="1801368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B3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pPr indent="0" marL="0">
              <a:buNone/>
            </a:pPr>
            <a:r>
              <a:rPr lang="en-US" sz="1400" b="1" spc="2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DAYS</a:t>
            </a:r>
            <a:endParaRPr lang="en-US" sz="1400" dirty="0"/>
          </a:p>
        </p:txBody>
      </p:sp>
      <p:sp>
        <p:nvSpPr>
          <p:cNvPr id="6" name="icbg_3"/>
          <p:cNvSpPr/>
          <p:nvPr/>
        </p:nvSpPr>
        <p:spPr>
          <a:xfrm>
            <a:off x="868680" y="2990088"/>
            <a:ext cx="457200" cy="457200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7" name="ic_4" descr="Calendar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104388"/>
            <a:ext cx="228600" cy="228600"/>
          </a:xfrm>
          <a:prstGeom prst="rect">
            <a:avLst/>
          </a:prstGeom>
        </p:spPr>
      </p:pic>
      <p:sp>
        <p:nvSpPr>
          <p:cNvPr id="8" name="txt_5"/>
          <p:cNvSpPr txBox="1"/>
          <p:nvPr/>
        </p:nvSpPr>
        <p:spPr>
          <a:xfrm>
            <a:off x="1508760" y="2971800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 of FY27 plan and budget</a:t>
            </a:r>
            <a:endParaRPr lang="en-US" sz="1400" dirty="0"/>
          </a:p>
        </p:txBody>
      </p:sp>
      <p:sp>
        <p:nvSpPr>
          <p:cNvPr id="9" name="icbg_6"/>
          <p:cNvSpPr/>
          <p:nvPr/>
        </p:nvSpPr>
        <p:spPr>
          <a:xfrm>
            <a:off x="868680" y="3977640"/>
            <a:ext cx="457200" cy="457200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0" name="ic_7" descr="Calendar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4091940"/>
            <a:ext cx="228600" cy="228600"/>
          </a:xfrm>
          <a:prstGeom prst="rect">
            <a:avLst/>
          </a:prstGeom>
        </p:spPr>
      </p:pic>
      <p:sp>
        <p:nvSpPr>
          <p:cNvPr id="11" name="txt_8"/>
          <p:cNvSpPr txBox="1"/>
          <p:nvPr/>
        </p:nvSpPr>
        <p:spPr>
          <a:xfrm>
            <a:off x="1508760" y="395935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workstream leads and PMO</a:t>
            </a:r>
            <a:endParaRPr lang="en-US" sz="1400" dirty="0"/>
          </a:p>
        </p:txBody>
      </p:sp>
      <p:sp>
        <p:nvSpPr>
          <p:cNvPr id="12" name="icbg_9"/>
          <p:cNvSpPr/>
          <p:nvPr/>
        </p:nvSpPr>
        <p:spPr>
          <a:xfrm>
            <a:off x="868680" y="4965192"/>
            <a:ext cx="457200" cy="457200"/>
          </a:xfrm>
          <a:prstGeom prst="ellipse">
            <a:avLst/>
          </a:prstGeom>
          <a:solidFill>
            <a:srgbClr val="ECE8FE"/>
          </a:solidFill>
          <a:ln/>
        </p:spPr>
      </p:sp>
      <p:pic>
        <p:nvPicPr>
          <p:cNvPr id="13" name="ic_10" descr="Calendar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079492"/>
            <a:ext cx="228600" cy="228600"/>
          </a:xfrm>
          <a:prstGeom prst="rect">
            <a:avLst/>
          </a:prstGeom>
        </p:spPr>
      </p:pic>
      <p:sp>
        <p:nvSpPr>
          <p:cNvPr id="14" name="txt_11"/>
          <p:cNvSpPr txBox="1"/>
          <p:nvPr/>
        </p:nvSpPr>
        <p:spPr>
          <a:xfrm>
            <a:off x="1508760" y="4946904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first $48M tranche</a:t>
            </a:r>
            <a:endParaRPr lang="en-US" sz="1400" dirty="0"/>
          </a:p>
        </p:txBody>
      </p:sp>
      <p:sp>
        <p:nvSpPr>
          <p:cNvPr id="15" name="card_12"/>
          <p:cNvSpPr/>
          <p:nvPr/>
        </p:nvSpPr>
        <p:spPr>
          <a:xfrm>
            <a:off x="4338218" y="1572768"/>
            <a:ext cx="3515258" cy="457200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16" name="txt_13"/>
          <p:cNvSpPr txBox="1"/>
          <p:nvPr/>
        </p:nvSpPr>
        <p:spPr>
          <a:xfrm>
            <a:off x="4658258" y="1801368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97A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pPr indent="0" marL="0">
              <a:buNone/>
            </a:pPr>
            <a:r>
              <a:rPr lang="en-US" sz="1400" b="1" spc="2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DAYS</a:t>
            </a:r>
            <a:endParaRPr lang="en-US" sz="1400" dirty="0"/>
          </a:p>
        </p:txBody>
      </p:sp>
      <p:sp>
        <p:nvSpPr>
          <p:cNvPr id="17" name="icbg_14"/>
          <p:cNvSpPr/>
          <p:nvPr/>
        </p:nvSpPr>
        <p:spPr>
          <a:xfrm>
            <a:off x="4658258" y="2990088"/>
            <a:ext cx="457200" cy="457200"/>
          </a:xfrm>
          <a:prstGeom prst="ellipse">
            <a:avLst/>
          </a:prstGeom>
          <a:solidFill>
            <a:srgbClr val="DCF5F2"/>
          </a:solidFill>
          <a:ln/>
        </p:spPr>
      </p:sp>
      <p:pic>
        <p:nvPicPr>
          <p:cNvPr id="18" name="ic_15" descr="Calenda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558" y="3104388"/>
            <a:ext cx="228600" cy="228600"/>
          </a:xfrm>
          <a:prstGeom prst="rect">
            <a:avLst/>
          </a:prstGeom>
        </p:spPr>
      </p:pic>
      <p:sp>
        <p:nvSpPr>
          <p:cNvPr id="19" name="txt_16"/>
          <p:cNvSpPr txBox="1"/>
          <p:nvPr/>
        </p:nvSpPr>
        <p:spPr>
          <a:xfrm>
            <a:off x="5298338" y="2971800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Japan distribution partner</a:t>
            </a:r>
            <a:endParaRPr lang="en-US" sz="1400" dirty="0"/>
          </a:p>
        </p:txBody>
      </p:sp>
      <p:sp>
        <p:nvSpPr>
          <p:cNvPr id="20" name="icbg_17"/>
          <p:cNvSpPr/>
          <p:nvPr/>
        </p:nvSpPr>
        <p:spPr>
          <a:xfrm>
            <a:off x="4658258" y="3977640"/>
            <a:ext cx="457200" cy="457200"/>
          </a:xfrm>
          <a:prstGeom prst="ellipse">
            <a:avLst/>
          </a:prstGeom>
          <a:solidFill>
            <a:srgbClr val="DCF5F2"/>
          </a:solidFill>
          <a:ln/>
        </p:spPr>
      </p:sp>
      <p:pic>
        <p:nvPicPr>
          <p:cNvPr id="21" name="ic_18" descr="Calendar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558" y="4091940"/>
            <a:ext cx="228600" cy="228600"/>
          </a:xfrm>
          <a:prstGeom prst="rect">
            <a:avLst/>
          </a:prstGeom>
        </p:spPr>
      </p:pic>
      <p:sp>
        <p:nvSpPr>
          <p:cNvPr id="22" name="txt_19"/>
          <p:cNvSpPr txBox="1"/>
          <p:nvPr/>
        </p:nvSpPr>
        <p:spPr>
          <a:xfrm>
            <a:off x="5298338" y="395935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26 engineering requisitions</a:t>
            </a:r>
            <a:endParaRPr lang="en-US" sz="1400" dirty="0"/>
          </a:p>
        </p:txBody>
      </p:sp>
      <p:sp>
        <p:nvSpPr>
          <p:cNvPr id="23" name="icbg_20"/>
          <p:cNvSpPr/>
          <p:nvPr/>
        </p:nvSpPr>
        <p:spPr>
          <a:xfrm>
            <a:off x="4658258" y="4965192"/>
            <a:ext cx="457200" cy="457200"/>
          </a:xfrm>
          <a:prstGeom prst="ellipse">
            <a:avLst/>
          </a:prstGeom>
          <a:solidFill>
            <a:srgbClr val="DCF5F2"/>
          </a:solidFill>
          <a:ln/>
        </p:spPr>
      </p:sp>
      <p:pic>
        <p:nvPicPr>
          <p:cNvPr id="24" name="ic_21" descr="Calendar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558" y="5079492"/>
            <a:ext cx="228600" cy="228600"/>
          </a:xfrm>
          <a:prstGeom prst="rect">
            <a:avLst/>
          </a:prstGeom>
        </p:spPr>
      </p:pic>
      <p:sp>
        <p:nvSpPr>
          <p:cNvPr id="25" name="txt_22"/>
          <p:cNvSpPr txBox="1"/>
          <p:nvPr/>
        </p:nvSpPr>
        <p:spPr>
          <a:xfrm>
            <a:off x="5298338" y="4946904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Copilot pilot with 12 customers</a:t>
            </a:r>
            <a:endParaRPr lang="en-US" sz="1400" dirty="0"/>
          </a:p>
        </p:txBody>
      </p:sp>
      <p:sp>
        <p:nvSpPr>
          <p:cNvPr id="26" name="card_23"/>
          <p:cNvSpPr/>
          <p:nvPr/>
        </p:nvSpPr>
        <p:spPr>
          <a:xfrm>
            <a:off x="8127797" y="1572768"/>
            <a:ext cx="3515258" cy="457200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2A2160">
                <a:alpha val="9000"/>
              </a:srgbClr>
            </a:outerShdw>
          </a:effectLst>
        </p:spPr>
      </p:sp>
      <p:sp>
        <p:nvSpPr>
          <p:cNvPr id="27" name="txt_24"/>
          <p:cNvSpPr txBox="1"/>
          <p:nvPr/>
        </p:nvSpPr>
        <p:spPr>
          <a:xfrm>
            <a:off x="8447837" y="1801368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pPr indent="0" marL="0">
              <a:buNone/>
            </a:pPr>
            <a:r>
              <a:rPr lang="en-US" sz="1400" b="1" spc="200" kern="0" dirty="0">
                <a:solidFill>
                  <a:srgbClr val="666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DAYS</a:t>
            </a:r>
            <a:endParaRPr lang="en-US" sz="1400" dirty="0"/>
          </a:p>
        </p:txBody>
      </p:sp>
      <p:sp>
        <p:nvSpPr>
          <p:cNvPr id="28" name="icbg_25"/>
          <p:cNvSpPr/>
          <p:nvPr/>
        </p:nvSpPr>
        <p:spPr>
          <a:xfrm>
            <a:off x="8447837" y="2990088"/>
            <a:ext cx="457200" cy="457200"/>
          </a:xfrm>
          <a:prstGeom prst="ellipse">
            <a:avLst/>
          </a:prstGeom>
          <a:solidFill>
            <a:srgbClr val="FFE7E4"/>
          </a:solidFill>
          <a:ln/>
        </p:spPr>
      </p:sp>
      <p:pic>
        <p:nvPicPr>
          <p:cNvPr id="29" name="ic_26" descr="Calendar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2137" y="3104388"/>
            <a:ext cx="228600" cy="228600"/>
          </a:xfrm>
          <a:prstGeom prst="rect">
            <a:avLst/>
          </a:prstGeom>
        </p:spPr>
      </p:pic>
      <p:sp>
        <p:nvSpPr>
          <p:cNvPr id="30" name="txt_27"/>
          <p:cNvSpPr txBox="1"/>
          <p:nvPr/>
        </p:nvSpPr>
        <p:spPr>
          <a:xfrm>
            <a:off x="9087917" y="2971800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pod fully staffed</a:t>
            </a:r>
            <a:endParaRPr lang="en-US" sz="1400" dirty="0"/>
          </a:p>
        </p:txBody>
      </p:sp>
      <p:sp>
        <p:nvSpPr>
          <p:cNvPr id="31" name="icbg_28"/>
          <p:cNvSpPr/>
          <p:nvPr/>
        </p:nvSpPr>
        <p:spPr>
          <a:xfrm>
            <a:off x="8447837" y="3977640"/>
            <a:ext cx="457200" cy="457200"/>
          </a:xfrm>
          <a:prstGeom prst="ellipse">
            <a:avLst/>
          </a:prstGeom>
          <a:solidFill>
            <a:srgbClr val="FFE7E4"/>
          </a:solidFill>
          <a:ln/>
        </p:spPr>
      </p:sp>
      <p:pic>
        <p:nvPicPr>
          <p:cNvPr id="32" name="ic_29" descr="Calendar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2137" y="4091940"/>
            <a:ext cx="228600" cy="228600"/>
          </a:xfrm>
          <a:prstGeom prst="rect">
            <a:avLst/>
          </a:prstGeom>
        </p:spPr>
      </p:pic>
      <p:sp>
        <p:nvSpPr>
          <p:cNvPr id="33" name="txt_30"/>
          <p:cNvSpPr txBox="1"/>
          <p:nvPr/>
        </p:nvSpPr>
        <p:spPr>
          <a:xfrm>
            <a:off x="9087917" y="3959352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phase 1 live</a:t>
            </a:r>
            <a:endParaRPr lang="en-US" sz="1400" dirty="0"/>
          </a:p>
        </p:txBody>
      </p:sp>
      <p:sp>
        <p:nvSpPr>
          <p:cNvPr id="34" name="icbg_31"/>
          <p:cNvSpPr/>
          <p:nvPr/>
        </p:nvSpPr>
        <p:spPr>
          <a:xfrm>
            <a:off x="8447837" y="4965192"/>
            <a:ext cx="457200" cy="457200"/>
          </a:xfrm>
          <a:prstGeom prst="ellipse">
            <a:avLst/>
          </a:prstGeom>
          <a:solidFill>
            <a:srgbClr val="FFE7E4"/>
          </a:solidFill>
          <a:ln/>
        </p:spPr>
      </p:sp>
      <p:pic>
        <p:nvPicPr>
          <p:cNvPr id="35" name="ic_32" descr="Calendar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2137" y="5079492"/>
            <a:ext cx="228600" cy="228600"/>
          </a:xfrm>
          <a:prstGeom prst="rect">
            <a:avLst/>
          </a:prstGeom>
        </p:spPr>
      </p:pic>
      <p:sp>
        <p:nvSpPr>
          <p:cNvPr id="36" name="txt_33"/>
          <p:cNvSpPr txBox="1"/>
          <p:nvPr/>
        </p:nvSpPr>
        <p:spPr>
          <a:xfrm>
            <a:off x="9087917" y="4946904"/>
            <a:ext cx="2235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quarterly milestone review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99B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6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62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9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09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_1"/>
          <p:cNvSpPr/>
          <p:nvPr/>
        </p:nvSpPr>
        <p:spPr>
          <a:xfrm>
            <a:off x="-2194560" y="1097280"/>
            <a:ext cx="7498080" cy="7498080"/>
          </a:xfrm>
          <a:prstGeom prst="ellipse">
            <a:avLst/>
          </a:prstGeom>
          <a:ln w="15875">
            <a:solidFill>
              <a:srgbClr val="5B3DF5">
                <a:alpha val="65000"/>
              </a:srgbClr>
            </a:solidFill>
            <a:prstDash val="solid"/>
          </a:ln>
        </p:spPr>
      </p:sp>
      <p:sp>
        <p:nvSpPr>
          <p:cNvPr id="3" name="ring_2"/>
          <p:cNvSpPr/>
          <p:nvPr/>
        </p:nvSpPr>
        <p:spPr>
          <a:xfrm>
            <a:off x="-1280160" y="2011680"/>
            <a:ext cx="5669280" cy="5669280"/>
          </a:xfrm>
          <a:prstGeom prst="ellipse">
            <a:avLst/>
          </a:prstGeom>
          <a:ln w="15875">
            <a:solidFill>
              <a:srgbClr val="5B3DF5">
                <a:alpha val="45000"/>
              </a:srgbClr>
            </a:solidFill>
            <a:prstDash val="solid"/>
          </a:ln>
        </p:spPr>
      </p:sp>
      <p:sp>
        <p:nvSpPr>
          <p:cNvPr id="4" name="ring_3"/>
          <p:cNvSpPr/>
          <p:nvPr/>
        </p:nvSpPr>
        <p:spPr>
          <a:xfrm>
            <a:off x="-365760" y="2926080"/>
            <a:ext cx="3840480" cy="3840480"/>
          </a:xfrm>
          <a:prstGeom prst="ellipse">
            <a:avLst/>
          </a:prstGeom>
          <a:ln w="15875">
            <a:solidFill>
              <a:srgbClr val="5B3DF5">
                <a:alpha val="30000"/>
              </a:srgbClr>
            </a:solidFill>
            <a:prstDash val="solid"/>
          </a:ln>
        </p:spPr>
      </p:sp>
      <p:sp>
        <p:nvSpPr>
          <p:cNvPr id="5" name="dot_4"/>
          <p:cNvSpPr/>
          <p:nvPr/>
        </p:nvSpPr>
        <p:spPr>
          <a:xfrm>
            <a:off x="3246120" y="2788920"/>
            <a:ext cx="310896" cy="310896"/>
          </a:xfrm>
          <a:prstGeom prst="ellipse">
            <a:avLst/>
          </a:prstGeom>
          <a:solidFill>
            <a:srgbClr val="FF5A4E"/>
          </a:solidFill>
          <a:ln/>
        </p:spPr>
      </p:sp>
      <p:sp>
        <p:nvSpPr>
          <p:cNvPr id="6" name="txt_5"/>
          <p:cNvSpPr txBox="1"/>
          <p:nvPr/>
        </p:nvSpPr>
        <p:spPr>
          <a:xfrm>
            <a:off x="5669280" y="822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</a:t>
            </a:r>
            <a:pPr indent="0" marL="0">
              <a:buNone/>
            </a:pPr>
            <a:r>
              <a:rPr lang="en-US" sz="2000" b="1" spc="400" kern="0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xt_6"/>
          <p:cNvSpPr txBox="1"/>
          <p:nvPr/>
        </p:nvSpPr>
        <p:spPr>
          <a:xfrm>
            <a:off x="5669280" y="17373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txt_7"/>
          <p:cNvSpPr txBox="1"/>
          <p:nvPr/>
        </p:nvSpPr>
        <p:spPr>
          <a:xfrm>
            <a:off x="5669280" y="2880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discussion and decisions on the FY2027 plan.</a:t>
            </a:r>
            <a:endParaRPr lang="en-US" sz="1800" dirty="0"/>
          </a:p>
        </p:txBody>
      </p:sp>
      <p:sp>
        <p:nvSpPr>
          <p:cNvPr id="9" name="icbg_8"/>
          <p:cNvSpPr/>
          <p:nvPr/>
        </p:nvSpPr>
        <p:spPr>
          <a:xfrm>
            <a:off x="5669280" y="3977640"/>
            <a:ext cx="402336" cy="402336"/>
          </a:xfrm>
          <a:prstGeom prst="ellipse">
            <a:avLst/>
          </a:prstGeom>
          <a:solidFill>
            <a:srgbClr val="221E4A"/>
          </a:solidFill>
          <a:ln/>
        </p:spPr>
      </p:sp>
      <p:pic>
        <p:nvPicPr>
          <p:cNvPr id="10" name="ic_9" descr="Mai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4078224"/>
            <a:ext cx="201168" cy="201168"/>
          </a:xfrm>
          <a:prstGeom prst="rect">
            <a:avLst/>
          </a:prstGeom>
        </p:spPr>
      </p:pic>
      <p:sp>
        <p:nvSpPr>
          <p:cNvPr id="11" name="txt_10"/>
          <p:cNvSpPr txBox="1"/>
          <p:nvPr/>
        </p:nvSpPr>
        <p:spPr>
          <a:xfrm>
            <a:off x="62179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strategy@yourcompany.com</a:t>
            </a:r>
            <a:endParaRPr lang="en-US" sz="1500" dirty="0"/>
          </a:p>
        </p:txBody>
      </p:sp>
      <p:sp>
        <p:nvSpPr>
          <p:cNvPr id="12" name="icbg_11"/>
          <p:cNvSpPr/>
          <p:nvPr/>
        </p:nvSpPr>
        <p:spPr>
          <a:xfrm>
            <a:off x="5669280" y="4544568"/>
            <a:ext cx="402336" cy="402336"/>
          </a:xfrm>
          <a:prstGeom prst="ellipse">
            <a:avLst/>
          </a:prstGeom>
          <a:solidFill>
            <a:srgbClr val="221E4A"/>
          </a:solidFill>
          <a:ln/>
        </p:spPr>
      </p:sp>
      <p:pic>
        <p:nvPicPr>
          <p:cNvPr id="13" name="ic_12" descr="Pho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4645152"/>
            <a:ext cx="201168" cy="201168"/>
          </a:xfrm>
          <a:prstGeom prst="rect">
            <a:avLst/>
          </a:prstGeom>
        </p:spPr>
      </p:pic>
      <p:sp>
        <p:nvSpPr>
          <p:cNvPr id="14" name="txt_13"/>
          <p:cNvSpPr txBox="1"/>
          <p:nvPr/>
        </p:nvSpPr>
        <p:spPr>
          <a:xfrm>
            <a:off x="621792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(555) 010-2026</a:t>
            </a:r>
            <a:endParaRPr lang="en-US" sz="1500" dirty="0"/>
          </a:p>
        </p:txBody>
      </p:sp>
      <p:sp>
        <p:nvSpPr>
          <p:cNvPr id="15" name="icbg_14"/>
          <p:cNvSpPr/>
          <p:nvPr/>
        </p:nvSpPr>
        <p:spPr>
          <a:xfrm>
            <a:off x="5669280" y="5111496"/>
            <a:ext cx="402336" cy="402336"/>
          </a:xfrm>
          <a:prstGeom prst="ellipse">
            <a:avLst/>
          </a:prstGeom>
          <a:solidFill>
            <a:srgbClr val="221E4A"/>
          </a:solidFill>
          <a:ln/>
        </p:spPr>
      </p:sp>
      <p:pic>
        <p:nvPicPr>
          <p:cNvPr id="16" name="ic_15" descr="MapP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64" y="5212080"/>
            <a:ext cx="201168" cy="201168"/>
          </a:xfrm>
          <a:prstGeom prst="rect">
            <a:avLst/>
          </a:prstGeom>
        </p:spPr>
      </p:pic>
      <p:sp>
        <p:nvSpPr>
          <p:cNvPr id="17" name="txt_16"/>
          <p:cNvSpPr txBox="1"/>
          <p:nvPr/>
        </p:nvSpPr>
        <p:spPr>
          <a:xfrm>
            <a:off x="6217920" y="51572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Office, Floor 12</a:t>
            </a:r>
            <a:endParaRPr lang="en-US" sz="1500" dirty="0"/>
          </a:p>
        </p:txBody>
      </p:sp>
      <p:sp>
        <p:nvSpPr>
          <p:cNvPr id="18" name="txt_17"/>
          <p:cNvSpPr txBox="1"/>
          <p:nvPr/>
        </p:nvSpPr>
        <p:spPr>
          <a:xfrm>
            <a:off x="56692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E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this template are illustrative.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3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95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VANTA3">
  <a:themeElements>
    <a:clrScheme name="VANTA3">
      <a:dk1>
        <a:srgbClr val="1B1838"/>
      </a:dk1>
      <a:lt1>
        <a:srgbClr val="FFFFFF"/>
      </a:lt1>
      <a:dk2>
        <a:srgbClr val="14112F"/>
      </a:dk2>
      <a:lt2>
        <a:srgbClr val="F5F4FB"/>
      </a:lt2>
      <a:accent1>
        <a:srgbClr val="5B3DF5"/>
      </a:accent1>
      <a:accent2>
        <a:srgbClr val="0FB5A5"/>
      </a:accent2>
      <a:accent3>
        <a:srgbClr val="FF5A4E"/>
      </a:accent3>
      <a:accent4>
        <a:srgbClr val="FFB224"/>
      </a:accent4>
      <a:accent5>
        <a:srgbClr val="A797FA"/>
      </a:accent5>
      <a:accent6>
        <a:srgbClr val="66638A"/>
      </a:accent6>
      <a:hlink>
        <a:srgbClr val="5B3DF5"/>
      </a:hlink>
      <a:folHlink>
        <a:srgbClr val="7A66F7"/>
      </a:folHlink>
    </a:clrScheme>
    <a:fontScheme name="VANTA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VANTA3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VANTA3 — Strategy &amp; Performance Review</dc:title>
  <dc:subject>Premium business presentation template</dc:subject>
  <dc:creator>VANTA3</dc:creator>
  <cp:lastModifiedBy>VANTA3</cp:lastModifiedBy>
  <cp:revision>1</cp:revision>
  <dcterms:created xsi:type="dcterms:W3CDTF">2026-10-11T19:40:34Z</dcterms:created>
  <dcterms:modified xsi:type="dcterms:W3CDTF">2026-10-11T19:40:34Z</dcterms:modified>
</cp:coreProperties>
</file>